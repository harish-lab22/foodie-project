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67" r:id="rId34"/>
    <p:sldId id="290" r:id="rId35"/>
    <p:sldId id="291" r:id="rId36"/>
    <p:sldId id="268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8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7862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?>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9.png"/><Relationship Id="rId9" Type="http://schemas.openxmlformats.org/officeDocument/2006/relationships/image" Target="../media/image17.png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?>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?>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?>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?>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?>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7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E53935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548640"/>
            <a:ext cx="2743200" cy="2743200"/>
          </a:xfrm>
          <a:prstGeom prst="ellipse">
            <a:avLst/>
          </a:prstGeom>
          <a:solidFill>
            <a:srgbClr val="FF8F0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474720"/>
            <a:ext cx="4572000" cy="4572000"/>
          </a:xfrm>
          <a:prstGeom prst="ellipse">
            <a:avLst/>
          </a:prstGeom>
          <a:solidFill>
            <a:srgbClr val="E53935">
              <a:alpha val="40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004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743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kern="0" spc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FOODIE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457200" y="150876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Food Delivery System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19933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Specification (SRS)  ·  Version 1.1  ·  2026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450592"/>
            <a:ext cx="8229600" cy="0"/>
          </a:xfrm>
          <a:prstGeom prst="line">
            <a:avLst/>
          </a:prstGeom>
          <a:noFill/>
          <a:ln w="12700">
            <a:solidFill>
              <a:srgbClr val="FFC107">
                <a:alpha val="5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5786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MEMBERS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2926080"/>
            <a:ext cx="4114800" cy="530352"/>
          </a:xfrm>
          <a:prstGeom prst="roundRect">
            <a:avLst>
              <a:gd name="adj" fmla="val 12069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12064" y="2999232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FF8F00"/>
          </a:solidFill>
          <a:ln/>
        </p:spPr>
      </p:sp>
      <p:sp>
        <p:nvSpPr>
          <p:cNvPr id="13" name="Text 10"/>
          <p:cNvSpPr/>
          <p:nvPr/>
        </p:nvSpPr>
        <p:spPr>
          <a:xfrm>
            <a:off x="512064" y="29992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2301480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508760" y="301752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BHAT HARK BAHADUR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926080"/>
            <a:ext cx="4114800" cy="530352"/>
          </a:xfrm>
          <a:prstGeom prst="roundRect">
            <a:avLst>
              <a:gd name="adj" fmla="val 12069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855464" y="2999232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FF8F00"/>
          </a:solidFill>
          <a:ln/>
        </p:spPr>
      </p:sp>
      <p:sp>
        <p:nvSpPr>
          <p:cNvPr id="17" name="Text 14"/>
          <p:cNvSpPr/>
          <p:nvPr/>
        </p:nvSpPr>
        <p:spPr>
          <a:xfrm>
            <a:off x="4855464" y="29992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2301497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52160" y="301752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YADAV SUNIL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566160"/>
            <a:ext cx="4114800" cy="530352"/>
          </a:xfrm>
          <a:prstGeom prst="roundRect">
            <a:avLst>
              <a:gd name="adj" fmla="val 12069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512064" y="3639312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FF8F00"/>
          </a:solidFill>
          <a:ln/>
        </p:spPr>
      </p:sp>
      <p:sp>
        <p:nvSpPr>
          <p:cNvPr id="21" name="Text 18"/>
          <p:cNvSpPr/>
          <p:nvPr/>
        </p:nvSpPr>
        <p:spPr>
          <a:xfrm>
            <a:off x="512064" y="36393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2301493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508760" y="365760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 KUSHWAHA GYANENDRA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800600" y="3566160"/>
            <a:ext cx="4114800" cy="530352"/>
          </a:xfrm>
          <a:prstGeom prst="roundRect">
            <a:avLst>
              <a:gd name="adj" fmla="val 12069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4855464" y="3639312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FF8F00"/>
          </a:solidFill>
          <a:ln/>
        </p:spPr>
      </p:sp>
      <p:sp>
        <p:nvSpPr>
          <p:cNvPr id="25" name="Text 22"/>
          <p:cNvSpPr/>
          <p:nvPr/>
        </p:nvSpPr>
        <p:spPr>
          <a:xfrm>
            <a:off x="4855464" y="36393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2301473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852160" y="365760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YADAV BIBEK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INSIDE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475488" cy="658368"/>
          </a:xfrm>
          <a:prstGeom prst="roundRect">
            <a:avLst>
              <a:gd name="adj" fmla="val 15385"/>
            </a:avLst>
          </a:prstGeom>
          <a:solidFill>
            <a:srgbClr val="B71C1C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33856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22529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Scope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865376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865376"/>
            <a:ext cx="475488" cy="658368"/>
          </a:xfrm>
          <a:prstGeom prst="roundRect">
            <a:avLst>
              <a:gd name="adj" fmla="val 15385"/>
            </a:avLst>
          </a:prstGeom>
          <a:solidFill>
            <a:srgbClr val="B71C1C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901952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19933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633472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633472"/>
            <a:ext cx="475488" cy="658368"/>
          </a:xfrm>
          <a:prstGeom prst="roundRect">
            <a:avLst>
              <a:gd name="adj" fmla="val 15385"/>
            </a:avLst>
          </a:prstGeom>
          <a:solidFill>
            <a:srgbClr val="B71C1C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670048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27614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401568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401568"/>
            <a:ext cx="475488" cy="658368"/>
          </a:xfrm>
          <a:prstGeom prst="roundRect">
            <a:avLst>
              <a:gd name="adj" fmla="val 15385"/>
            </a:avLst>
          </a:prstGeom>
          <a:solidFill>
            <a:srgbClr val="B71C1C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438144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352958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 Features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4169664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169664"/>
            <a:ext cx="475488" cy="658368"/>
          </a:xfrm>
          <a:prstGeom prst="roundRect">
            <a:avLst>
              <a:gd name="adj" fmla="val 15385"/>
            </a:avLst>
          </a:prstGeom>
          <a:solidFill>
            <a:srgbClr val="FF8F00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4206240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4297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1097280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097280"/>
            <a:ext cx="475488" cy="658368"/>
          </a:xfrm>
          <a:prstGeom prst="roundRect">
            <a:avLst>
              <a:gd name="adj" fmla="val 15385"/>
            </a:avLst>
          </a:prstGeom>
          <a:solidFill>
            <a:srgbClr val="FF8F00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133856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40680" y="122529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1865376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865376"/>
            <a:ext cx="475488" cy="658368"/>
          </a:xfrm>
          <a:prstGeom prst="roundRect">
            <a:avLst>
              <a:gd name="adj" fmla="val 15385"/>
            </a:avLst>
          </a:prstGeom>
          <a:solidFill>
            <a:srgbClr val="FF8F00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901952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440680" y="19933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Quality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46320" y="2633472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2633472"/>
            <a:ext cx="475488" cy="658368"/>
          </a:xfrm>
          <a:prstGeom prst="roundRect">
            <a:avLst>
              <a:gd name="adj" fmla="val 15385"/>
            </a:avLst>
          </a:prstGeom>
          <a:solidFill>
            <a:srgbClr val="FF8F00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670048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440680" y="27614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Gantt Chart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46320" y="3401568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3401568"/>
            <a:ext cx="475488" cy="658368"/>
          </a:xfrm>
          <a:prstGeom prst="roundRect">
            <a:avLst>
              <a:gd name="adj" fmla="val 15385"/>
            </a:avLst>
          </a:prstGeom>
          <a:solidFill>
            <a:srgbClr val="1565C0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438144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440680" y="352958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&amp; Descriptions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0"/>
            <a:ext cx="3200400" cy="3200400"/>
          </a:xfrm>
          <a:prstGeom prst="ellipse">
            <a:avLst/>
          </a:prstGeom>
          <a:solidFill>
            <a:srgbClr val="E53935">
              <a:alpha val="5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200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1371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28600" y="1874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SCOPE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749040" y="45720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931920" y="5212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931920" y="82296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customers, restaurants, delivery partners, and admins on one scalable platform.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749040" y="1527048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931920" y="15910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931920" y="18928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Customers, Restaurant Owners, Delivery Partners, and System Administrators.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749040" y="2596896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931920" y="26609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931920" y="2962656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ordering, real-time tracking, secure payments, and intelligent delivery assignment.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749040" y="3666744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931920" y="37307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Use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931920" y="4032504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for developers, testers, designers, project managers, and stakeholders.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2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E53935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FOODIE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554480" cy="3383280"/>
          </a:xfrm>
          <a:prstGeom prst="roundRect">
            <a:avLst>
              <a:gd name="adj" fmla="val 705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Web Clients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65760" y="2834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iOS · Browser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847088" y="2926080"/>
            <a:ext cx="146304" cy="0"/>
          </a:xfrm>
          <a:prstGeom prst="line">
            <a:avLst/>
          </a:prstGeom>
          <a:noFill/>
          <a:ln w="19050">
            <a:solidFill>
              <a:srgbClr val="FFC107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1993392" y="1417320"/>
            <a:ext cx="1554480" cy="3383280"/>
          </a:xfrm>
          <a:prstGeom prst="roundRect">
            <a:avLst>
              <a:gd name="adj" fmla="val 705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032" y="16459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84832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2084832" y="2834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· JWT · OAuth 2.0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3566160" y="2926080"/>
            <a:ext cx="146304" cy="0"/>
          </a:xfrm>
          <a:prstGeom prst="line">
            <a:avLst/>
          </a:prstGeom>
          <a:noFill/>
          <a:ln w="19050">
            <a:solidFill>
              <a:srgbClr val="FFC107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3712464" y="1417320"/>
            <a:ext cx="1554480" cy="3383280"/>
          </a:xfrm>
          <a:prstGeom prst="roundRect">
            <a:avLst>
              <a:gd name="adj" fmla="val 705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1104" y="16459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03904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3803904" y="2834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· Auth · Payment · Delivery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5285232" y="2926080"/>
            <a:ext cx="146304" cy="0"/>
          </a:xfrm>
          <a:prstGeom prst="line">
            <a:avLst/>
          </a:prstGeom>
          <a:noFill/>
          <a:ln w="19050">
            <a:solidFill>
              <a:srgbClr val="FFC107"/>
            </a:solidFill>
            <a:prstDash val="dash"/>
          </a:ln>
        </p:spPr>
      </p:sp>
      <p:sp>
        <p:nvSpPr>
          <p:cNvPr id="20" name="Shape 15"/>
          <p:cNvSpPr/>
          <p:nvPr/>
        </p:nvSpPr>
        <p:spPr>
          <a:xfrm>
            <a:off x="5431536" y="1417320"/>
            <a:ext cx="1554480" cy="3383280"/>
          </a:xfrm>
          <a:prstGeom prst="roundRect">
            <a:avLst>
              <a:gd name="adj" fmla="val 705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0176" y="164592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22976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5522976" y="2834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· Redis Cache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7004304" y="2926080"/>
            <a:ext cx="146304" cy="0"/>
          </a:xfrm>
          <a:prstGeom prst="line">
            <a:avLst/>
          </a:prstGeom>
          <a:noFill/>
          <a:ln w="19050">
            <a:solidFill>
              <a:srgbClr val="FFC107"/>
            </a:solidFill>
            <a:prstDash val="dash"/>
          </a:ln>
        </p:spPr>
      </p:sp>
      <p:sp>
        <p:nvSpPr>
          <p:cNvPr id="25" name="Shape 19"/>
          <p:cNvSpPr/>
          <p:nvPr/>
        </p:nvSpPr>
        <p:spPr>
          <a:xfrm>
            <a:off x="7150608" y="1417320"/>
            <a:ext cx="1554480" cy="3383280"/>
          </a:xfrm>
          <a:prstGeom prst="roundRect">
            <a:avLst>
              <a:gd name="adj" fmla="val 705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9248" y="164592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242048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DevOps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7242048" y="2834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GCP · Docker · Kubernetes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ROLES &amp; RESPONSIBILITIES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2057400" cy="3657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188720"/>
            <a:ext cx="2057400" cy="594360"/>
          </a:xfrm>
          <a:prstGeom prst="roundRect">
            <a:avLst>
              <a:gd name="adj" fmla="val 23077"/>
            </a:avLst>
          </a:prstGeom>
          <a:solidFill>
            <a:srgbClr val="B71C1C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554480"/>
            <a:ext cx="2057400" cy="274320"/>
          </a:xfrm>
          <a:prstGeom prst="rect">
            <a:avLst/>
          </a:prstGeom>
          <a:solidFill>
            <a:srgbClr val="B71C1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2344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18288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22128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restaurants &amp; menus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65760" y="27066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items to cart &amp; place orders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65760" y="32004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secure online payments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65760" y="369417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delivery in real-time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65760" y="41879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reviews &amp; ratings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441448" y="1188720"/>
            <a:ext cx="2057400" cy="3657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441448" y="1188720"/>
            <a:ext cx="2057400" cy="594360"/>
          </a:xfrm>
          <a:prstGeom prst="roundRect">
            <a:avLst>
              <a:gd name="adj" fmla="val 23077"/>
            </a:avLst>
          </a:prstGeom>
          <a:solidFill>
            <a:srgbClr val="FF8F00"/>
          </a:solidFill>
          <a:ln/>
        </p:spPr>
      </p:sp>
      <p:sp>
        <p:nvSpPr>
          <p:cNvPr id="16" name="Shape 13"/>
          <p:cNvSpPr/>
          <p:nvPr/>
        </p:nvSpPr>
        <p:spPr>
          <a:xfrm>
            <a:off x="2441448" y="1554480"/>
            <a:ext cx="2057400" cy="274320"/>
          </a:xfrm>
          <a:prstGeom prst="rect">
            <a:avLst/>
          </a:prstGeom>
          <a:solidFill>
            <a:srgbClr val="FF8F00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23444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532888" y="18288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Owner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578608" y="22128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manage restaurant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2578608" y="27066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update menu items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2578608" y="32004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reject orders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2578608" y="369417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incoming orders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2578608" y="41879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customer feedback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4654296" y="1188720"/>
            <a:ext cx="2057400" cy="3657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654296" y="1188720"/>
            <a:ext cx="2057400" cy="594360"/>
          </a:xfrm>
          <a:prstGeom prst="roundRect">
            <a:avLst>
              <a:gd name="adj" fmla="val 23077"/>
            </a:avLst>
          </a:prstGeom>
          <a:solidFill>
            <a:srgbClr val="2E7D32"/>
          </a:solidFill>
          <a:ln/>
        </p:spPr>
      </p:sp>
      <p:sp>
        <p:nvSpPr>
          <p:cNvPr id="26" name="Shape 22"/>
          <p:cNvSpPr/>
          <p:nvPr/>
        </p:nvSpPr>
        <p:spPr>
          <a:xfrm>
            <a:off x="4654296" y="1554480"/>
            <a:ext cx="2057400" cy="27432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968" y="1234440"/>
            <a:ext cx="457200" cy="4572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745736" y="18288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4791456" y="22128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delivery requests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4791456" y="27066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via map integration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4791456" y="32004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delivery status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4791456" y="369417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orders as delivered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4791456" y="41879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assigned deliveries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6867144" y="1188720"/>
            <a:ext cx="2057400" cy="3657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6867144" y="1188720"/>
            <a:ext cx="2057400" cy="594360"/>
          </a:xfrm>
          <a:prstGeom prst="roundRect">
            <a:avLst>
              <a:gd name="adj" fmla="val 23077"/>
            </a:avLst>
          </a:prstGeom>
          <a:solidFill>
            <a:srgbClr val="1565C0"/>
          </a:solidFill>
          <a:ln/>
        </p:spPr>
      </p:sp>
      <p:sp>
        <p:nvSpPr>
          <p:cNvPr id="36" name="Shape 31"/>
          <p:cNvSpPr/>
          <p:nvPr/>
        </p:nvSpPr>
        <p:spPr>
          <a:xfrm>
            <a:off x="6867144" y="1554480"/>
            <a:ext cx="2057400" cy="27432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1816" y="1234440"/>
            <a:ext cx="457200" cy="45720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958584" y="18288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7004304" y="22128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user accounts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7004304" y="27066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all transactions</a:t>
            </a:r>
            <a:endParaRPr lang="en-US" sz="950" dirty="0"/>
          </a:p>
        </p:txBody>
      </p:sp>
      <p:sp>
        <p:nvSpPr>
          <p:cNvPr id="41" name="Text 35"/>
          <p:cNvSpPr/>
          <p:nvPr/>
        </p:nvSpPr>
        <p:spPr>
          <a:xfrm>
            <a:off x="7004304" y="32004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system reports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7004304" y="369417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analytics dashboard</a:t>
            </a:r>
            <a:endParaRPr lang="en-US" sz="950" dirty="0"/>
          </a:p>
        </p:txBody>
      </p:sp>
      <p:sp>
        <p:nvSpPr>
          <p:cNvPr id="43" name="Text 37"/>
          <p:cNvSpPr/>
          <p:nvPr/>
        </p:nvSpPr>
        <p:spPr>
          <a:xfrm>
            <a:off x="7004304" y="41879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system operations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SYSTEM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115568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F5F5F5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29844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5528" y="12801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38328" y="17373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JWT-secured registration, login &amp; password reset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441448" y="1115568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F5F5F5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76" y="129844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008376" y="12801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Mgmt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2551176" y="17373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menu &amp; order management for owners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654296" y="1115568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F5F5F5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024" y="129844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21224" y="12801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&amp; Orders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4764024" y="17373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items, checkout, order IDs &amp; status tracking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867144" y="1115568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F5F5F5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6872" y="1298448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34072" y="12801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6976872" y="17373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gateway, cash on delivery &amp; receipts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228600" y="3017520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F5F5F5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" y="320040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95528" y="31821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Mgmt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338328" y="3639312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 riders, real-time GPS tracking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2441448" y="3017520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F5F5F5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1176" y="320040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008376" y="31821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2551176" y="3639312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Push, SMS &amp; email alerts at every order stage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4654296" y="3017520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F5F5F5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4024" y="3200400"/>
            <a:ext cx="365760" cy="36576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221224" y="31821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Ratings</a:t>
            </a:r>
            <a:endParaRPr lang="en-US" sz="1150" dirty="0"/>
          </a:p>
        </p:txBody>
      </p:sp>
      <p:sp>
        <p:nvSpPr>
          <p:cNvPr id="31" name="Text 22"/>
          <p:cNvSpPr/>
          <p:nvPr/>
        </p:nvSpPr>
        <p:spPr>
          <a:xfrm>
            <a:off x="4764024" y="3639312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ratings and restaurant feedback loop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6867144" y="3017520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F5F5F5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76872" y="3200400"/>
            <a:ext cx="365760" cy="36576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434072" y="31821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50" dirty="0"/>
          </a:p>
        </p:txBody>
      </p:sp>
      <p:sp>
        <p:nvSpPr>
          <p:cNvPr id="35" name="Text 25"/>
          <p:cNvSpPr/>
          <p:nvPr/>
        </p:nvSpPr>
        <p:spPr>
          <a:xfrm>
            <a:off x="6976872" y="3639312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user management &amp; full reporting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2743200"/>
            <a:ext cx="3657600" cy="3657600"/>
          </a:xfrm>
          <a:prstGeom prst="ellipse">
            <a:avLst/>
          </a:prstGeom>
          <a:solidFill>
            <a:srgbClr val="E53935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64008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endParaRPr lang="en-US" sz="2500" dirty="0"/>
          </a:p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</a:t>
            </a:r>
            <a:endParaRPr lang="en-US" sz="2500" dirty="0"/>
          </a:p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82880" y="2560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REQ-1 through REQ-35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108960" y="182880"/>
            <a:ext cx="5760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46120" y="2743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REQ-1–5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34840" y="2743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Registration, login, JWT auth &amp; password reset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777240"/>
            <a:ext cx="5760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8686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REQ-6–9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34840" y="8686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registration, menu updates &amp; order status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1371600"/>
            <a:ext cx="5760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46120" y="14630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REQ-10–13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34840" y="14630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add/edit, categories &amp; item availability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08960" y="1965960"/>
            <a:ext cx="5760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46120" y="20574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REQ-14–17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34840" y="205740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management, totals, order IDs &amp; status tracking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08960" y="2560320"/>
            <a:ext cx="5760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46120" y="2651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REQ-18–21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34840" y="265176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payments, COD, transaction records &amp; receipts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08960" y="3154680"/>
            <a:ext cx="5760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46120" y="32461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REQ-22–25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34840" y="32461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 assignment, GPS tracking &amp; notifications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08960" y="3749040"/>
            <a:ext cx="5760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46120" y="38404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REQ-26–28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34840" y="38404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Push, SMS &amp; email notifications at every order stage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08960" y="4343400"/>
            <a:ext cx="5760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46120" y="44348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REQ-29–35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34840" y="44348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Reviews, ratings, admin tools, analytics &amp; reports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B71C1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743200"/>
            <a:ext cx="3657600" cy="3657600"/>
          </a:xfrm>
          <a:prstGeom prst="ellipse">
            <a:avLst/>
          </a:prstGeom>
          <a:solidFill>
            <a:srgbClr val="FF8F00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Powering FOODIE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29B6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399032"/>
            <a:ext cx="256032" cy="256032"/>
          </a:xfrm>
          <a:prstGeom prst="ellipse">
            <a:avLst/>
          </a:prstGeom>
          <a:solidFill>
            <a:srgbClr val="29B6F6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1353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8013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iOS · Web Browser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66BB6A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4992" y="1399032"/>
            <a:ext cx="256032" cy="256032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2" name="Text 10"/>
          <p:cNvSpPr/>
          <p:nvPr/>
        </p:nvSpPr>
        <p:spPr>
          <a:xfrm>
            <a:off x="3730752" y="1353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8013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Express.js · REST APIs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AB47BC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9632" y="1399032"/>
            <a:ext cx="256032" cy="256032"/>
          </a:xfrm>
          <a:prstGeom prst="ellipse">
            <a:avLst/>
          </a:prstGeom>
          <a:solidFill>
            <a:srgbClr val="AB47BC"/>
          </a:solidFill>
          <a:ln/>
        </p:spPr>
      </p:sp>
      <p:sp>
        <p:nvSpPr>
          <p:cNvPr id="16" name="Text 14"/>
          <p:cNvSpPr/>
          <p:nvPr/>
        </p:nvSpPr>
        <p:spPr>
          <a:xfrm>
            <a:off x="6565392" y="1353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18013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· Redis Cache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0175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8F00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3182112"/>
            <a:ext cx="256032" cy="256032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" y="3136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58444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Google Cloud Platform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0" y="30175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F5350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64992" y="3182112"/>
            <a:ext cx="256032" cy="256032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4" name="Text 22"/>
          <p:cNvSpPr/>
          <p:nvPr/>
        </p:nvSpPr>
        <p:spPr>
          <a:xfrm>
            <a:off x="3730752" y="3136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83280" y="358444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Kubernetes · Firebase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35040" y="30175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26C6DA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99632" y="3182112"/>
            <a:ext cx="256032" cy="256032"/>
          </a:xfrm>
          <a:prstGeom prst="ellipse">
            <a:avLst/>
          </a:prstGeom>
          <a:solidFill>
            <a:srgbClr val="26C6DA"/>
          </a:solidFill>
          <a:ln/>
        </p:spPr>
      </p:sp>
      <p:sp>
        <p:nvSpPr>
          <p:cNvPr id="28" name="Text 26"/>
          <p:cNvSpPr/>
          <p:nvPr/>
        </p:nvSpPr>
        <p:spPr>
          <a:xfrm>
            <a:off x="6565392" y="3136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358444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· JWT · OAuth 2.0 · HTTPS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NON-FUNCTIONAL REQUIREMENTS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057400" cy="150876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20700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28600" y="19842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41448" y="1097280"/>
            <a:ext cx="2057400" cy="150876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41448" y="120700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441448" y="19842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Time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54296" y="1097280"/>
            <a:ext cx="2057400" cy="150876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54296" y="120700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54296" y="19842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Uptime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67144" y="1097280"/>
            <a:ext cx="2057400" cy="150876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67144" y="120700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5s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867144" y="19842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834640"/>
            <a:ext cx="2788920" cy="804672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3108960"/>
            <a:ext cx="237744" cy="237744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926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325526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uptime target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2834640"/>
            <a:ext cx="2788920" cy="804672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91840" y="3108960"/>
            <a:ext cx="237744" cy="237744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2926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11880" y="325526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access guaranteed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2834640"/>
            <a:ext cx="2788920" cy="804672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0" y="3108960"/>
            <a:ext cx="237744" cy="237744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2926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7960" y="325526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auto-scaling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3840480"/>
            <a:ext cx="2788920" cy="804672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" y="4114800"/>
            <a:ext cx="237744" cy="237744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931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" y="426110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54680" y="3840480"/>
            <a:ext cx="2788920" cy="804672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/>
        </p:spPr>
      </p:sp>
      <p:sp>
        <p:nvSpPr>
          <p:cNvPr id="33" name="Shape 31"/>
          <p:cNvSpPr/>
          <p:nvPr/>
        </p:nvSpPr>
        <p:spPr>
          <a:xfrm>
            <a:off x="3291840" y="4114800"/>
            <a:ext cx="237744" cy="237744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34" name="Text 32"/>
          <p:cNvSpPr/>
          <p:nvPr/>
        </p:nvSpPr>
        <p:spPr>
          <a:xfrm>
            <a:off x="3611880" y="3931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11880" y="426110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cross-platform UI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80760" y="3840480"/>
            <a:ext cx="2788920" cy="804672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/>
        </p:spPr>
      </p:sp>
      <p:sp>
        <p:nvSpPr>
          <p:cNvPr id="37" name="Shape 35"/>
          <p:cNvSpPr/>
          <p:nvPr/>
        </p:nvSpPr>
        <p:spPr>
          <a:xfrm>
            <a:off x="6217920" y="4114800"/>
            <a:ext cx="237744" cy="237744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38" name="Text 36"/>
          <p:cNvSpPr/>
          <p:nvPr/>
        </p:nvSpPr>
        <p:spPr>
          <a:xfrm>
            <a:off x="6537960" y="3931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37960" y="426110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&amp; RBAC-enforced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457200"/>
            <a:ext cx="3657600" cy="3657600"/>
          </a:xfrm>
          <a:prstGeom prst="ellipse">
            <a:avLst/>
          </a:prstGeom>
          <a:solidFill>
            <a:srgbClr val="B71C1C">
              <a:alpha val="15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572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74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COMPLIANCE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274320" y="265176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C107">
                <a:alpha val="30000"/>
              </a:srgbClr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2926080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32688" y="27432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Encryption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32688" y="314553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 for all stored passwords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3200400" y="265176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C107">
                <a:alpha val="30000"/>
              </a:srgbClr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2926080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858768" y="27432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SSL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3858768" y="314553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encrypted communication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6126480" y="265176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C107">
                <a:alpha val="30000"/>
              </a:srgbClr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2926080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84848" y="27432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784848" y="314553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token-based session management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274320" y="3822192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C107">
                <a:alpha val="30000"/>
              </a:srgbClr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4096512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32688" y="391363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932688" y="431596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enforces permission boundaries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3200400" y="3822192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C107">
                <a:alpha val="30000"/>
              </a:srgbClr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4992" y="4096512"/>
            <a:ext cx="384048" cy="38404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858768" y="391363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Payments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3858768" y="431596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PCI-compliant Stripe gateway integration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6126480" y="3822192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C107">
                <a:alpha val="30000"/>
              </a:srgbClr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1072" y="4096512"/>
            <a:ext cx="384048" cy="38404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784848" y="391363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Confidentiality</a:t>
            </a:r>
            <a:endParaRPr lang="en-US" sz="1100" dirty="0"/>
          </a:p>
        </p:txBody>
      </p:sp>
      <p:sp>
        <p:nvSpPr>
          <p:cNvPr id="28" name="Text 19"/>
          <p:cNvSpPr/>
          <p:nvPr/>
        </p:nvSpPr>
        <p:spPr>
          <a:xfrm>
            <a:off x="6784848" y="431596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 isolated per role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FUTURE SCOPE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B71C1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627632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737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Launch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221284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</a:t>
            </a: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 &amp; registration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280720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</a:t>
            </a: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&amp; menu management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340156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</a:t>
            </a: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Cart, orders &amp; payments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109728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FF8F00"/>
          </a:solidFill>
          <a:ln/>
        </p:spPr>
      </p:sp>
      <p:sp>
        <p:nvSpPr>
          <p:cNvPr id="12" name="Text 10"/>
          <p:cNvSpPr/>
          <p:nvPr/>
        </p:nvSpPr>
        <p:spPr>
          <a:xfrm>
            <a:off x="2450592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1627632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42032" y="1737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Tracking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221284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</a:t>
            </a: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 module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280720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</a:t>
            </a: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GPS tracking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340156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</a:t>
            </a: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Push/SMS notifications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26864" y="109728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4626864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26864" y="1627632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18304" y="1737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Ratings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36592" y="221284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</a:t>
            </a: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rating system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36592" y="280720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</a:t>
            </a: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analytics dashboard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36592" y="340156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</a:t>
            </a: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03136" y="109728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/>
        </p:spPr>
      </p:sp>
      <p:sp>
        <p:nvSpPr>
          <p:cNvPr id="26" name="Text 24"/>
          <p:cNvSpPr/>
          <p:nvPr/>
        </p:nvSpPr>
        <p:spPr>
          <a:xfrm>
            <a:off x="6803136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03136" y="1627632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94576" y="1737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Expansion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12864" y="221284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</a:t>
            </a: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recommendations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12864" y="280720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</a:t>
            </a: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rewards system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12864" y="340156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</a:t>
            </a: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&amp; voice ordering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B71C1C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FF8F00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60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5000" dirty="0"/>
          </a:p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Diagrams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 ·  Use Case  ·  Architecture  ·  Sequence  ·  Activity  ·  ER  ·  UI Mockup  ·  Implementation  ·  Landing Page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Diagram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28600" y="67665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between FOODIE and all external actors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728" y="932688"/>
            <a:ext cx="8924544" cy="41559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Diagram — Description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0" y="749808"/>
            <a:ext cx="3291840" cy="2084832"/>
          </a:xfrm>
          <a:prstGeom prst="roundRect">
            <a:avLst>
              <a:gd name="adj" fmla="val 3509"/>
            </a:avLst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28600" y="969264"/>
            <a:ext cx="201168" cy="201168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8" name="Text 4"/>
          <p:cNvSpPr/>
          <p:nvPr/>
        </p:nvSpPr>
        <p:spPr>
          <a:xfrm>
            <a:off x="530352" y="80467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system as a single process (FOODIE) surrounded by 5 external entities: Customer, Restaurant, Delivery Partner, Admin, and Payment Gateway.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28600" y="1536192"/>
            <a:ext cx="201168" cy="201168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10" name="Text 6"/>
          <p:cNvSpPr/>
          <p:nvPr/>
        </p:nvSpPr>
        <p:spPr>
          <a:xfrm>
            <a:off x="530352" y="13716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sends: Search, View Menu, Place Order, Make Payment. Receives: Order Confirmation, Tracking, Delivery Updates.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28600" y="2103120"/>
            <a:ext cx="201168" cy="201168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12" name="Text 8"/>
          <p:cNvSpPr/>
          <p:nvPr/>
        </p:nvSpPr>
        <p:spPr>
          <a:xfrm>
            <a:off x="530352" y="193852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sends: Menu, Availability, Order Acceptance/Rejection. Receives: New Orders, Customer Details, Payments.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28600" y="2670048"/>
            <a:ext cx="201168" cy="201168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14" name="Text 10"/>
          <p:cNvSpPr/>
          <p:nvPr/>
        </p:nvSpPr>
        <p:spPr>
          <a:xfrm>
            <a:off x="530352" y="250545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 sends: Order Acceptance, Pickup Confirmation, Delivery Status. Receives: Delivery Requests, Pickup/Drop Details.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28600" y="3236976"/>
            <a:ext cx="201168" cy="201168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16" name="Text 12"/>
          <p:cNvSpPr/>
          <p:nvPr/>
        </p:nvSpPr>
        <p:spPr>
          <a:xfrm>
            <a:off x="530352" y="307238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sends: Manage Users/Restaurants/Orders/Reports. Receives: Reports, Analytics, System Logs, Notifications.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28600" y="3803904"/>
            <a:ext cx="201168" cy="201168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18" name="Text 14"/>
          <p:cNvSpPr/>
          <p:nvPr/>
        </p:nvSpPr>
        <p:spPr>
          <a:xfrm>
            <a:off x="530352" y="363931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handles Payment Request and returns Payment Confirmation or Failure to the system.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Diagram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28600" y="67665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interactions and system use cases for Customer, Restaurant, Delivery Partner &amp; Admin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728" y="914400"/>
            <a:ext cx="8924544" cy="415594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Diagram — Description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0" y="749808"/>
            <a:ext cx="3291840" cy="2084832"/>
          </a:xfrm>
          <a:prstGeom prst="roundRect">
            <a:avLst>
              <a:gd name="adj" fmla="val 3509"/>
            </a:avLst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28600" y="969264"/>
            <a:ext cx="201168" cy="201168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8" name="Text 4"/>
          <p:cNvSpPr/>
          <p:nvPr/>
        </p:nvSpPr>
        <p:spPr>
          <a:xfrm>
            <a:off x="530352" y="80467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actors: Customer (green), Delivery Partner (purple), Restaurant (blue), Admin (yellow), plus external Payment Gateway.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28600" y="1536192"/>
            <a:ext cx="201168" cy="201168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10" name="Text 6"/>
          <p:cNvSpPr/>
          <p:nvPr/>
        </p:nvSpPr>
        <p:spPr>
          <a:xfrm>
            <a:off x="530352" y="13716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use cases include: Register/Login, Browse Restaurants, Search &amp; Filter, View Menu, Add to Cart, Place Order, Make Payment, Track Order, Rate &amp; Review, Manage Profile, View Offers.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28600" y="2103120"/>
            <a:ext cx="201168" cy="201168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12" name="Text 8"/>
          <p:cNvSpPr/>
          <p:nvPr/>
        </p:nvSpPr>
        <p:spPr>
          <a:xfrm>
            <a:off x="530352" y="193852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shared use cases use «include»: Place Order → Manage Cart → Select Address → Choose Payment Method → Update Order Status.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28600" y="2670048"/>
            <a:ext cx="201168" cy="201168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14" name="Text 10"/>
          <p:cNvSpPr/>
          <p:nvPr/>
        </p:nvSpPr>
        <p:spPr>
          <a:xfrm>
            <a:off x="530352" y="250545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Partner: Login/Register, View Assigned Orders, Accept/Reject Order, Navigate to Pickup, Pickup Order, Deliver Order, Update Delivery Status.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28600" y="3236976"/>
            <a:ext cx="201168" cy="201168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16" name="Text 12"/>
          <p:cNvSpPr/>
          <p:nvPr/>
        </p:nvSpPr>
        <p:spPr>
          <a:xfrm>
            <a:off x="530352" y="307238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Restaurant: Register/Login, Manage Profile, Manage Menu, Manage Availability, View/Manage Orders, Update Order Status, View Earnings.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28600" y="3803904"/>
            <a:ext cx="201168" cy="201168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18" name="Text 14"/>
          <p:cNvSpPr/>
          <p:nvPr/>
        </p:nvSpPr>
        <p:spPr>
          <a:xfrm>
            <a:off x="530352" y="363931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Login, Manage Users/Restaurants/Orders, Manage Offers &amp; Coupons, View Reports &amp; Analytics, System Settings.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 — Microservices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28600" y="67665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microservices architecture with 12 services, service discovery, message broker, and DevOps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728" y="914400"/>
            <a:ext cx="8924544" cy="415594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 — Microservices — Description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0" y="749808"/>
            <a:ext cx="3291840" cy="2084832"/>
          </a:xfrm>
          <a:prstGeom prst="roundRect">
            <a:avLst>
              <a:gd name="adj" fmla="val 3509"/>
            </a:avLst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28600" y="969264"/>
            <a:ext cx="201168" cy="201168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8" name="Text 4"/>
          <p:cNvSpPr/>
          <p:nvPr/>
        </p:nvSpPr>
        <p:spPr>
          <a:xfrm>
            <a:off x="530352" y="80467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Layer: Customer App (Mobile/Web), Restaurant App (Web), Delivery Partner App (Mobile), Admin Dashboard (Web).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28600" y="1536192"/>
            <a:ext cx="201168" cy="201168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10" name="Text 6"/>
          <p:cNvSpPr/>
          <p:nvPr/>
        </p:nvSpPr>
        <p:spPr>
          <a:xfrm>
            <a:off x="530352" y="13716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handles: Routing, Authentication, Rate Limiting, Request Validation, and Aggregation.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28600" y="2103120"/>
            <a:ext cx="201168" cy="201168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12" name="Text 8"/>
          <p:cNvSpPr/>
          <p:nvPr/>
        </p:nvSpPr>
        <p:spPr>
          <a:xfrm>
            <a:off x="530352" y="193852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Microservices: User, Restaurant, Menu, Order, Payment, Delivery, Notification, Review, Discount, Location, Chat, Admin Service.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28600" y="2670048"/>
            <a:ext cx="201168" cy="201168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14" name="Text 10"/>
          <p:cNvSpPr/>
          <p:nvPr/>
        </p:nvSpPr>
        <p:spPr>
          <a:xfrm>
            <a:off x="530352" y="250545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Layer: Separate DB per service (User DB, Restaurant DB, Menu DB, Order DB, Payment DB, Delivery DB, Review DB, Notification DB, Discount DB) + Redis Cache.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28600" y="3236976"/>
            <a:ext cx="201168" cy="201168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16" name="Text 12"/>
          <p:cNvSpPr/>
          <p:nvPr/>
        </p:nvSpPr>
        <p:spPr>
          <a:xfrm>
            <a:off x="530352" y="307238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Broker (Kafka/RabbitMQ) enables async communication. Service Discovery (Eureka/Consul) manages service registration.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28600" y="3803904"/>
            <a:ext cx="201168" cy="201168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18" name="Text 14"/>
          <p:cNvSpPr/>
          <p:nvPr/>
        </p:nvSpPr>
        <p:spPr>
          <a:xfrm>
            <a:off x="530352" y="363931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Services: Payment Gateway, SMS/Email Service, Maps/Location API, Push Notification, Cloud Storage.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28600" y="4370832"/>
            <a:ext cx="201168" cy="201168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20" name="Text 16"/>
          <p:cNvSpPr/>
          <p:nvPr/>
        </p:nvSpPr>
        <p:spPr>
          <a:xfrm>
            <a:off x="530352" y="420624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Infrastructure: Docker, Kubernetes, CI/CD Pipeline, Monitoring (Prometheus/Grafana), Logging (ELK), Security (JWT/OAuth2), Cloud (AWS/GCP/Azure).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 — Mixed Architecture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28600" y="67665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client, presentation, API gateway, microservices, data, and external services layers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728" y="914400"/>
            <a:ext cx="8924544" cy="415594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 — Mixed Architecture — Description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0" y="749808"/>
            <a:ext cx="3291840" cy="2084832"/>
          </a:xfrm>
          <a:prstGeom prst="roundRect">
            <a:avLst>
              <a:gd name="adj" fmla="val 3509"/>
            </a:avLst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28600" y="969264"/>
            <a:ext cx="201168" cy="201168"/>
          </a:xfrm>
          <a:prstGeom prst="ellipse">
            <a:avLst/>
          </a:prstGeom>
          <a:solidFill>
            <a:srgbClr val="4A148C"/>
          </a:solidFill>
          <a:ln/>
        </p:spPr>
      </p:sp>
      <p:sp>
        <p:nvSpPr>
          <p:cNvPr id="8" name="Text 4"/>
          <p:cNvSpPr/>
          <p:nvPr/>
        </p:nvSpPr>
        <p:spPr>
          <a:xfrm>
            <a:off x="530352" y="80467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Layer: Customer App (Mobile), Restaurant App (Mobile), Admin Dashboard (Web).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28600" y="1536192"/>
            <a:ext cx="201168" cy="201168"/>
          </a:xfrm>
          <a:prstGeom prst="ellipse">
            <a:avLst/>
          </a:prstGeom>
          <a:solidFill>
            <a:srgbClr val="4A148C"/>
          </a:solidFill>
          <a:ln/>
        </p:spPr>
      </p:sp>
      <p:sp>
        <p:nvSpPr>
          <p:cNvPr id="10" name="Text 6"/>
          <p:cNvSpPr/>
          <p:nvPr/>
        </p:nvSpPr>
        <p:spPr>
          <a:xfrm>
            <a:off x="530352" y="13716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 uses Flutter/Web with REST API Calls connecting to the API Gateway/BFF.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28600" y="2103120"/>
            <a:ext cx="201168" cy="201168"/>
          </a:xfrm>
          <a:prstGeom prst="ellipse">
            <a:avLst/>
          </a:prstGeom>
          <a:solidFill>
            <a:srgbClr val="4A148C"/>
          </a:solidFill>
          <a:ln/>
        </p:spPr>
      </p:sp>
      <p:sp>
        <p:nvSpPr>
          <p:cNvPr id="12" name="Text 8"/>
          <p:cNvSpPr/>
          <p:nvPr/>
        </p:nvSpPr>
        <p:spPr>
          <a:xfrm>
            <a:off x="530352" y="193852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Gateway/BFF handles Authentication, Rate Limiting, and Request Routing.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28600" y="2670048"/>
            <a:ext cx="201168" cy="201168"/>
          </a:xfrm>
          <a:prstGeom prst="ellipse">
            <a:avLst/>
          </a:prstGeom>
          <a:solidFill>
            <a:srgbClr val="4A148C"/>
          </a:solidFill>
          <a:ln/>
        </p:spPr>
      </p:sp>
      <p:sp>
        <p:nvSpPr>
          <p:cNvPr id="14" name="Text 10"/>
          <p:cNvSpPr/>
          <p:nvPr/>
        </p:nvSpPr>
        <p:spPr>
          <a:xfrm>
            <a:off x="530352" y="250545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Layer: User Service, Restaurant Service, Menu Service, Order Service, Payment Service, Delivery Service, Notification Service, Review Service.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28600" y="3236976"/>
            <a:ext cx="201168" cy="201168"/>
          </a:xfrm>
          <a:prstGeom prst="ellipse">
            <a:avLst/>
          </a:prstGeom>
          <a:solidFill>
            <a:srgbClr val="4A148C"/>
          </a:solidFill>
          <a:ln/>
        </p:spPr>
      </p:sp>
      <p:sp>
        <p:nvSpPr>
          <p:cNvPr id="16" name="Text 12"/>
          <p:cNvSpPr/>
          <p:nvPr/>
        </p:nvSpPr>
        <p:spPr>
          <a:xfrm>
            <a:off x="530352" y="307238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Layer: User DB, Restaurant DB, Order DB, Payment DB — all independently managed per service.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28600" y="3803904"/>
            <a:ext cx="201168" cy="201168"/>
          </a:xfrm>
          <a:prstGeom prst="ellipse">
            <a:avLst/>
          </a:prstGeom>
          <a:solidFill>
            <a:srgbClr val="4A148C"/>
          </a:solidFill>
          <a:ln/>
        </p:spPr>
      </p:sp>
      <p:sp>
        <p:nvSpPr>
          <p:cNvPr id="18" name="Text 14"/>
          <p:cNvSpPr/>
          <p:nvPr/>
        </p:nvSpPr>
        <p:spPr>
          <a:xfrm>
            <a:off x="530352" y="363931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Layer: Redis for fast data retrieval and session management.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28600" y="4370832"/>
            <a:ext cx="201168" cy="201168"/>
          </a:xfrm>
          <a:prstGeom prst="ellipse">
            <a:avLst/>
          </a:prstGeom>
          <a:solidFill>
            <a:srgbClr val="4A148C"/>
          </a:solidFill>
          <a:ln/>
        </p:spPr>
      </p:sp>
      <p:sp>
        <p:nvSpPr>
          <p:cNvPr id="20" name="Text 16"/>
          <p:cNvSpPr/>
          <p:nvPr/>
        </p:nvSpPr>
        <p:spPr>
          <a:xfrm>
            <a:off x="530352" y="420624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Services: Payment Gateway, Maps &amp; Location, SMS/Email Service, Push Notification.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Diagram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28600" y="67665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 flow — 34-step message sequence across Customer, App, API Gateway and 9 backend services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728" y="914400"/>
            <a:ext cx="8924544" cy="415594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Diagram — Description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0" y="749808"/>
            <a:ext cx="3291840" cy="2084832"/>
          </a:xfrm>
          <a:prstGeom prst="roundRect">
            <a:avLst>
              <a:gd name="adj" fmla="val 3509"/>
            </a:avLst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28600" y="969264"/>
            <a:ext cx="201168" cy="201168"/>
          </a:xfrm>
          <a:prstGeom prst="ellipse">
            <a:avLst/>
          </a:prstGeom>
          <a:solidFill>
            <a:srgbClr val="006064"/>
          </a:solidFill>
          <a:ln/>
        </p:spPr>
      </p:sp>
      <p:sp>
        <p:nvSpPr>
          <p:cNvPr id="8" name="Text 4"/>
          <p:cNvSpPr/>
          <p:nvPr/>
        </p:nvSpPr>
        <p:spPr>
          <a:xfrm>
            <a:off x="530352" y="80467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Actors/Systems: Customer → Customer App → API Gateway → User Service → Restaurant Service → Menu Service → Order Service → Payment Service → Delivery Service → Notification Service → Database.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28600" y="1536192"/>
            <a:ext cx="201168" cy="201168"/>
          </a:xfrm>
          <a:prstGeom prst="ellipse">
            <a:avLst/>
          </a:prstGeom>
          <a:solidFill>
            <a:srgbClr val="006064"/>
          </a:solidFill>
          <a:ln/>
        </p:spPr>
      </p:sp>
      <p:sp>
        <p:nvSpPr>
          <p:cNvPr id="10" name="Text 6"/>
          <p:cNvSpPr/>
          <p:nvPr/>
        </p:nvSpPr>
        <p:spPr>
          <a:xfrm>
            <a:off x="530352" y="13716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Steps 1–7: Customer browses restaurants. App requests data via API Gateway → User Service validates → Restaurant Service returns list.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28600" y="2103120"/>
            <a:ext cx="201168" cy="201168"/>
          </a:xfrm>
          <a:prstGeom prst="ellipse">
            <a:avLst/>
          </a:prstGeom>
          <a:solidFill>
            <a:srgbClr val="006064"/>
          </a:solidFill>
          <a:ln/>
        </p:spPr>
      </p:sp>
      <p:sp>
        <p:nvSpPr>
          <p:cNvPr id="12" name="Text 8"/>
          <p:cNvSpPr/>
          <p:nvPr/>
        </p:nvSpPr>
        <p:spPr>
          <a:xfrm>
            <a:off x="530352" y="193852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8–13: Customer selects restaurant; Menu Service fetches menu items from Database and returns list to App.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28600" y="2670048"/>
            <a:ext cx="201168" cy="201168"/>
          </a:xfrm>
          <a:prstGeom prst="ellipse">
            <a:avLst/>
          </a:prstGeom>
          <a:solidFill>
            <a:srgbClr val="006064"/>
          </a:solidFill>
          <a:ln/>
        </p:spPr>
      </p:sp>
      <p:sp>
        <p:nvSpPr>
          <p:cNvPr id="14" name="Text 10"/>
          <p:cNvSpPr/>
          <p:nvPr/>
        </p:nvSpPr>
        <p:spPr>
          <a:xfrm>
            <a:off x="530352" y="250545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14–21: Customer adds items and places order. Order Service validates item availability with Menu Service, saves order to Database.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28600" y="3236976"/>
            <a:ext cx="201168" cy="201168"/>
          </a:xfrm>
          <a:prstGeom prst="ellipse">
            <a:avLst/>
          </a:prstGeom>
          <a:solidFill>
            <a:srgbClr val="006064"/>
          </a:solidFill>
          <a:ln/>
        </p:spPr>
      </p:sp>
      <p:sp>
        <p:nvSpPr>
          <p:cNvPr id="16" name="Text 12"/>
          <p:cNvSpPr/>
          <p:nvPr/>
        </p:nvSpPr>
        <p:spPr>
          <a:xfrm>
            <a:off x="530352" y="307238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22–28: Order Confirmation sent to customer. Customer makes payment → Payment Service processes → Payment Gateway returns status → Payment success confirmed.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28600" y="3803904"/>
            <a:ext cx="201168" cy="201168"/>
          </a:xfrm>
          <a:prstGeom prst="ellipse">
            <a:avLst/>
          </a:prstGeom>
          <a:solidFill>
            <a:srgbClr val="006064"/>
          </a:solidFill>
          <a:ln/>
        </p:spPr>
      </p:sp>
      <p:sp>
        <p:nvSpPr>
          <p:cNvPr id="18" name="Text 14"/>
          <p:cNvSpPr/>
          <p:nvPr/>
        </p:nvSpPr>
        <p:spPr>
          <a:xfrm>
            <a:off x="530352" y="363931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29–31: Order Service assigns Delivery Partner via Delivery Service → Order status updated.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28600" y="4370832"/>
            <a:ext cx="201168" cy="201168"/>
          </a:xfrm>
          <a:prstGeom prst="ellipse">
            <a:avLst/>
          </a:prstGeom>
          <a:solidFill>
            <a:srgbClr val="006064"/>
          </a:solidFill>
          <a:ln/>
        </p:spPr>
      </p:sp>
      <p:sp>
        <p:nvSpPr>
          <p:cNvPr id="20" name="Text 16"/>
          <p:cNvSpPr/>
          <p:nvPr/>
        </p:nvSpPr>
        <p:spPr>
          <a:xfrm>
            <a:off x="530352" y="420624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32–34: Notification Service sends Order Confirmed notification to customer. Customer receives Order Tracking Updates.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Diagram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28600" y="67665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order flow across 5 swim lanes: Customer, System, Restaurant, Delivery Partner, Payment Gateway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728" y="914400"/>
            <a:ext cx="8924544" cy="415594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Diagram — Description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0" y="749808"/>
            <a:ext cx="3291840" cy="2084832"/>
          </a:xfrm>
          <a:prstGeom prst="roundRect">
            <a:avLst>
              <a:gd name="adj" fmla="val 3509"/>
            </a:avLst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28600" y="969264"/>
            <a:ext cx="201168" cy="201168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8" name="Text 4"/>
          <p:cNvSpPr/>
          <p:nvPr/>
        </p:nvSpPr>
        <p:spPr>
          <a:xfrm>
            <a:off x="530352" y="80467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swim lanes: Customer, System, Restaurant, Delivery Partner, Payment Gateway — showing parallel activities across all actors.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28600" y="1536192"/>
            <a:ext cx="201168" cy="201168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10" name="Text 6"/>
          <p:cNvSpPr/>
          <p:nvPr/>
        </p:nvSpPr>
        <p:spPr>
          <a:xfrm>
            <a:off x="530352" y="13716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Lane: Open App → Register/Login → Browse Restaurants → View Menu → Add to Cart → View Cart → Proceed to Checkout (decision) → Select Address → Choose Payment → Place Order.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28600" y="2103120"/>
            <a:ext cx="201168" cy="201168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12" name="Text 8"/>
          <p:cNvSpPr/>
          <p:nvPr/>
        </p:nvSpPr>
        <p:spPr>
          <a:xfrm>
            <a:off x="530352" y="193852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Lane: Show Restaurants → Show Menu → Update Cart → Calculate Total → Validate Address &amp; Serviceability (decision: serviceable/error) → Create Order (Pending) → Send to Restaurant → Process Payment → Confirm Order → Update Status → Notify all parties.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28600" y="2670048"/>
            <a:ext cx="201168" cy="201168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14" name="Text 10"/>
          <p:cNvSpPr/>
          <p:nvPr/>
        </p:nvSpPr>
        <p:spPr>
          <a:xfrm>
            <a:off x="530352" y="250545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Lane: Receive Order → View Details → Accept Order? (Yes/No decision) → Accept/Reject → Prepare Order → Order Ready → Assign Delivery Partner. Cancel flow: Cancel Order → Notify Customer.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28600" y="3236976"/>
            <a:ext cx="201168" cy="201168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16" name="Text 12"/>
          <p:cNvSpPr/>
          <p:nvPr/>
        </p:nvSpPr>
        <p:spPr>
          <a:xfrm>
            <a:off x="530352" y="307238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 Lane: Receive Assignment → Go to Restaurant → Arrive → Pickup Order → Go to Customer → Arrive → Deliver Order → Order Delivered? → Update Status as Delivered.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28600" y="3803904"/>
            <a:ext cx="201168" cy="201168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18" name="Text 14"/>
          <p:cNvSpPr/>
          <p:nvPr/>
        </p:nvSpPr>
        <p:spPr>
          <a:xfrm>
            <a:off x="530352" y="363931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Lane: Process Payment → Payment Successful? (Yes/No) → confirm success or return Payment Failed.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Diagram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28600" y="67665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model — 14 entities with primary keys, foreign keys, and cardinality relationships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728" y="914400"/>
            <a:ext cx="8924544" cy="415594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Diagram — Description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0" y="749808"/>
            <a:ext cx="3291840" cy="2084832"/>
          </a:xfrm>
          <a:prstGeom prst="roundRect">
            <a:avLst>
              <a:gd name="adj" fmla="val 3509"/>
            </a:avLst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28600" y="969264"/>
            <a:ext cx="201168" cy="201168"/>
          </a:xfrm>
          <a:prstGeom prst="ellipse">
            <a:avLst/>
          </a:prstGeom>
          <a:solidFill>
            <a:srgbClr val="880E4F"/>
          </a:solidFill>
          <a:ln/>
        </p:spPr>
      </p:sp>
      <p:sp>
        <p:nvSpPr>
          <p:cNvPr id="8" name="Text 4"/>
          <p:cNvSpPr/>
          <p:nvPr/>
        </p:nvSpPr>
        <p:spPr>
          <a:xfrm>
            <a:off x="530352" y="80467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Entities: USER, ADDRESS, RESTAURANT, CATEGORY, MENU, MENU_ITEM, ORDER, ORDER_ITEM, DELIVERY_PARTNER, DELIVERY_ADDRESS, PAYMENT, INVOICE, REVIEW, NOTIFICATION.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28600" y="1536192"/>
            <a:ext cx="201168" cy="201168"/>
          </a:xfrm>
          <a:prstGeom prst="ellipse">
            <a:avLst/>
          </a:prstGeom>
          <a:solidFill>
            <a:srgbClr val="880E4F"/>
          </a:solidFill>
          <a:ln/>
        </p:spPr>
      </p:sp>
      <p:sp>
        <p:nvSpPr>
          <p:cNvPr id="10" name="Text 6"/>
          <p:cNvSpPr/>
          <p:nvPr/>
        </p:nvSpPr>
        <p:spPr>
          <a:xfrm>
            <a:off x="530352" y="13716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has 1-to-N ADDRESS (HAS). RESTAURANT is LOCATED_AT ADDRESS (N-to-1). RESTAURANT HAS CATEGORY (1-to-N). CATEGORY HAS MENU (1-to-N).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28600" y="2103120"/>
            <a:ext cx="201168" cy="201168"/>
          </a:xfrm>
          <a:prstGeom prst="ellipse">
            <a:avLst/>
          </a:prstGeom>
          <a:solidFill>
            <a:srgbClr val="880E4F"/>
          </a:solidFill>
          <a:ln/>
        </p:spPr>
      </p:sp>
      <p:sp>
        <p:nvSpPr>
          <p:cNvPr id="12" name="Text 8"/>
          <p:cNvSpPr/>
          <p:nvPr/>
        </p:nvSpPr>
        <p:spPr>
          <a:xfrm>
            <a:off x="530352" y="193852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CONTAINS MENU_ITEM (1-to-N). ORDER_ITEM INCLUDES MENU_ITEM (N-to-1). USER PLACES ORDER (1-to-N).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28600" y="2670048"/>
            <a:ext cx="201168" cy="201168"/>
          </a:xfrm>
          <a:prstGeom prst="ellipse">
            <a:avLst/>
          </a:prstGeom>
          <a:solidFill>
            <a:srgbClr val="880E4F"/>
          </a:solidFill>
          <a:ln/>
        </p:spPr>
      </p:sp>
      <p:sp>
        <p:nvSpPr>
          <p:cNvPr id="14" name="Text 10"/>
          <p:cNvSpPr/>
          <p:nvPr/>
        </p:nvSpPr>
        <p:spPr>
          <a:xfrm>
            <a:off x="530352" y="250545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is ASSIGNED_TO DELIVERY_PARTNER (N-to-0..1). ORDER DELIVERS_TO DELIVERY_ADDRESS (N-to-1). ORDER HAS ORDER_ITEM (1-to-N).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28600" y="3236976"/>
            <a:ext cx="201168" cy="201168"/>
          </a:xfrm>
          <a:prstGeom prst="ellipse">
            <a:avLst/>
          </a:prstGeom>
          <a:solidFill>
            <a:srgbClr val="880E4F"/>
          </a:solidFill>
          <a:ln/>
        </p:spPr>
      </p:sp>
      <p:sp>
        <p:nvSpPr>
          <p:cNvPr id="16" name="Text 12"/>
          <p:cNvSpPr/>
          <p:nvPr/>
        </p:nvSpPr>
        <p:spPr>
          <a:xfrm>
            <a:off x="530352" y="307238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is PAID_BY ORDER (N-to-1). PAYMENT GENERATES INVOICE (1-to-1). ORDER_ITEM REVIEWS MENU_ITEM — REVIEW FOR ORDER_ITEM.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28600" y="3803904"/>
            <a:ext cx="201168" cy="201168"/>
          </a:xfrm>
          <a:prstGeom prst="ellipse">
            <a:avLst/>
          </a:prstGeom>
          <a:solidFill>
            <a:srgbClr val="880E4F"/>
          </a:solidFill>
          <a:ln/>
        </p:spPr>
      </p:sp>
      <p:sp>
        <p:nvSpPr>
          <p:cNvPr id="18" name="Text 14"/>
          <p:cNvSpPr/>
          <p:nvPr/>
        </p:nvSpPr>
        <p:spPr>
          <a:xfrm>
            <a:off x="530352" y="363931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RECEIVES USER (N-to-1). Key fields include UUIDs as PKs/FKs, status enums, timestamps, and role-based user types.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Mockup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28600" y="67665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11-screen mobile UI design + Restaurant Owner Web Dashboard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728" y="914400"/>
            <a:ext cx="8924544" cy="415594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Mockup — Description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0" y="749808"/>
            <a:ext cx="3291840" cy="2084832"/>
          </a:xfrm>
          <a:prstGeom prst="roundRect">
            <a:avLst>
              <a:gd name="adj" fmla="val 3509"/>
            </a:avLst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28600" y="969264"/>
            <a:ext cx="201168" cy="201168"/>
          </a:xfrm>
          <a:prstGeom prst="ellipse">
            <a:avLst/>
          </a:prstGeom>
          <a:solidFill>
            <a:srgbClr val="37474F"/>
          </a:solidFill>
          <a:ln/>
        </p:spPr>
      </p:sp>
      <p:sp>
        <p:nvSpPr>
          <p:cNvPr id="8" name="Text 4"/>
          <p:cNvSpPr/>
          <p:nvPr/>
        </p:nvSpPr>
        <p:spPr>
          <a:xfrm>
            <a:off x="530352" y="80467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 — Splash Screen: FOODIE logo with tagline 'Delicious Food, Delivered Fast' and Get Started / Login buttons.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28600" y="1536192"/>
            <a:ext cx="201168" cy="201168"/>
          </a:xfrm>
          <a:prstGeom prst="ellipse">
            <a:avLst/>
          </a:prstGeom>
          <a:solidFill>
            <a:srgbClr val="37474F"/>
          </a:solidFill>
          <a:ln/>
        </p:spPr>
      </p:sp>
      <p:sp>
        <p:nvSpPr>
          <p:cNvPr id="10" name="Text 6"/>
          <p:cNvSpPr/>
          <p:nvPr/>
        </p:nvSpPr>
        <p:spPr>
          <a:xfrm>
            <a:off x="530352" y="13716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 — Onboarding: 'Your favorite food, delivered to your door' with carousel slides and Skip option.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28600" y="2103120"/>
            <a:ext cx="201168" cy="201168"/>
          </a:xfrm>
          <a:prstGeom prst="ellipse">
            <a:avLst/>
          </a:prstGeom>
          <a:solidFill>
            <a:srgbClr val="37474F"/>
          </a:solidFill>
          <a:ln/>
        </p:spPr>
      </p:sp>
      <p:sp>
        <p:nvSpPr>
          <p:cNvPr id="12" name="Text 8"/>
          <p:cNvSpPr/>
          <p:nvPr/>
        </p:nvSpPr>
        <p:spPr>
          <a:xfrm>
            <a:off x="530352" y="193852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3 — Login/Sign Up: Email/phone, password, Forgot Password, Login button, Google/Apple sign-in, Sign Up link.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28600" y="2670048"/>
            <a:ext cx="201168" cy="201168"/>
          </a:xfrm>
          <a:prstGeom prst="ellipse">
            <a:avLst/>
          </a:prstGeom>
          <a:solidFill>
            <a:srgbClr val="37474F"/>
          </a:solidFill>
          <a:ln/>
        </p:spPr>
      </p:sp>
      <p:sp>
        <p:nvSpPr>
          <p:cNvPr id="14" name="Text 10"/>
          <p:cNvSpPr/>
          <p:nvPr/>
        </p:nvSpPr>
        <p:spPr>
          <a:xfrm>
            <a:off x="530352" y="250545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4–5 — Home &amp; Restaurant: Location-based home with 50% OFF banner, categories (Pizza, Burger, Biryani...), popular restaurants. Restaurant screen shows menu, reviews, add-to-cart.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28600" y="3236976"/>
            <a:ext cx="201168" cy="201168"/>
          </a:xfrm>
          <a:prstGeom prst="ellipse">
            <a:avLst/>
          </a:prstGeom>
          <a:solidFill>
            <a:srgbClr val="37474F"/>
          </a:solidFill>
          <a:ln/>
        </p:spPr>
      </p:sp>
      <p:sp>
        <p:nvSpPr>
          <p:cNvPr id="16" name="Text 12"/>
          <p:cNvSpPr/>
          <p:nvPr/>
        </p:nvSpPr>
        <p:spPr>
          <a:xfrm>
            <a:off x="530352" y="307238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6–8 — Cart, Checkout, Order Tracking: Cart with item quantities, subtotal/fees/total. Checkout with delivery address, time, payment method. Tracking screen with real-time order stages and delivery partner info.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28600" y="3803904"/>
            <a:ext cx="201168" cy="201168"/>
          </a:xfrm>
          <a:prstGeom prst="ellipse">
            <a:avLst/>
          </a:prstGeom>
          <a:solidFill>
            <a:srgbClr val="37474F"/>
          </a:solidFill>
          <a:ln/>
        </p:spPr>
      </p:sp>
      <p:sp>
        <p:nvSpPr>
          <p:cNvPr id="18" name="Text 14"/>
          <p:cNvSpPr/>
          <p:nvPr/>
        </p:nvSpPr>
        <p:spPr>
          <a:xfrm>
            <a:off x="530352" y="363931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9–10 — Orders &amp; Profile: Orders list with Ongoing/Completed/Cancelled tabs. Profile with addresses, payment methods, favourites, offers.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28600" y="4370832"/>
            <a:ext cx="201168" cy="201168"/>
          </a:xfrm>
          <a:prstGeom prst="ellipse">
            <a:avLst/>
          </a:prstGeom>
          <a:solidFill>
            <a:srgbClr val="37474F"/>
          </a:solidFill>
          <a:ln/>
        </p:spPr>
      </p:sp>
      <p:sp>
        <p:nvSpPr>
          <p:cNvPr id="20" name="Text 16"/>
          <p:cNvSpPr/>
          <p:nvPr/>
        </p:nvSpPr>
        <p:spPr>
          <a:xfrm>
            <a:off x="530352" y="420624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11 — Restaurant Owner Web Dashboard: KPIs (Total Orders, Revenue, Active Orders, Ratings), recent orders table, sales chart, top-selling items sidebar.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Diagram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28600" y="67665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module breakdown across Client Layer, Application Layer (Backend), API Gateway, Data Layer and External Services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728" y="914400"/>
            <a:ext cx="8924544" cy="415594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Diagram — Description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0" y="749808"/>
            <a:ext cx="3291840" cy="2084832"/>
          </a:xfrm>
          <a:prstGeom prst="roundRect">
            <a:avLst>
              <a:gd name="adj" fmla="val 3509"/>
            </a:avLst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28600" y="969264"/>
            <a:ext cx="201168" cy="201168"/>
          </a:xfrm>
          <a:prstGeom prst="ellipse">
            <a:avLst/>
          </a:prstGeom>
          <a:solidFill>
            <a:srgbClr val="BF360C"/>
          </a:solidFill>
          <a:ln/>
        </p:spPr>
      </p:sp>
      <p:sp>
        <p:nvSpPr>
          <p:cNvPr id="8" name="Text 4"/>
          <p:cNvSpPr/>
          <p:nvPr/>
        </p:nvSpPr>
        <p:spPr>
          <a:xfrm>
            <a:off x="530352" y="80467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Layer: Customer App (Register/Login, Browse, View Menu, Place Order, Track, Pay), Delivery Partner App (Login, View Assigned Orders, Accept/Reject, Pickup &amp; Deliver, Update Status), Restaurant Portal (Login, Manage Menu, Orders, Status, Earnings).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28600" y="1536192"/>
            <a:ext cx="201168" cy="201168"/>
          </a:xfrm>
          <a:prstGeom prst="ellipse">
            <a:avLst/>
          </a:prstGeom>
          <a:solidFill>
            <a:srgbClr val="BF360C"/>
          </a:solidFill>
          <a:ln/>
        </p:spPr>
      </p:sp>
      <p:sp>
        <p:nvSpPr>
          <p:cNvPr id="10" name="Text 6"/>
          <p:cNvSpPr/>
          <p:nvPr/>
        </p:nvSpPr>
        <p:spPr>
          <a:xfrm>
            <a:off x="530352" y="13716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 — 8 Modules: User Management (Registration, Profile, Role Management), Restaurant Management (Onboarding, Profile, Working Hours, Availability), Menu Management (Add/Update Menu, Categories, Prices, Item Availability), Order Management (Place Order, Assignment, Status, Tracking).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28600" y="2103120"/>
            <a:ext cx="201168" cy="201168"/>
          </a:xfrm>
          <a:prstGeom prst="ellipse">
            <a:avLst/>
          </a:prstGeom>
          <a:solidFill>
            <a:srgbClr val="BF360C"/>
          </a:solidFill>
          <a:ln/>
        </p:spPr>
      </p:sp>
      <p:sp>
        <p:nvSpPr>
          <p:cNvPr id="12" name="Text 8"/>
          <p:cNvSpPr/>
          <p:nvPr/>
        </p:nvSpPr>
        <p:spPr>
          <a:xfrm>
            <a:off x="530352" y="193852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Management Module: Assign Delivery Partner, Route Optimization, Pickup &amp; Drop Tracking, Delivery Updates.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28600" y="2670048"/>
            <a:ext cx="201168" cy="201168"/>
          </a:xfrm>
          <a:prstGeom prst="ellipse">
            <a:avLst/>
          </a:prstGeom>
          <a:solidFill>
            <a:srgbClr val="BF360C"/>
          </a:solidFill>
          <a:ln/>
        </p:spPr>
      </p:sp>
      <p:sp>
        <p:nvSpPr>
          <p:cNvPr id="14" name="Text 10"/>
          <p:cNvSpPr/>
          <p:nvPr/>
        </p:nvSpPr>
        <p:spPr>
          <a:xfrm>
            <a:off x="530352" y="250545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Management Module: Multiple Payment Options, Payment Processing, Refunds, Transaction History.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28600" y="3236976"/>
            <a:ext cx="201168" cy="201168"/>
          </a:xfrm>
          <a:prstGeom prst="ellipse">
            <a:avLst/>
          </a:prstGeom>
          <a:solidFill>
            <a:srgbClr val="BF360C"/>
          </a:solidFill>
          <a:ln/>
        </p:spPr>
      </p:sp>
      <p:sp>
        <p:nvSpPr>
          <p:cNvPr id="16" name="Text 12"/>
          <p:cNvSpPr/>
          <p:nvPr/>
        </p:nvSpPr>
        <p:spPr>
          <a:xfrm>
            <a:off x="530352" y="307238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Module: Push Notifications, Email/SMS Alerts, Order &amp; Delivery Updates, Offers &amp; Promotions.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28600" y="3803904"/>
            <a:ext cx="201168" cy="201168"/>
          </a:xfrm>
          <a:prstGeom prst="ellipse">
            <a:avLst/>
          </a:prstGeom>
          <a:solidFill>
            <a:srgbClr val="BF360C"/>
          </a:solidFill>
          <a:ln/>
        </p:spPr>
      </p:sp>
      <p:sp>
        <p:nvSpPr>
          <p:cNvPr id="18" name="Text 14"/>
          <p:cNvSpPr/>
          <p:nvPr/>
        </p:nvSpPr>
        <p:spPr>
          <a:xfrm>
            <a:off x="530352" y="363931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Rating Module: Restaurant Ratings, Delivery Partner Ratings, Feedback, Review Management.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28600" y="4370832"/>
            <a:ext cx="201168" cy="201168"/>
          </a:xfrm>
          <a:prstGeom prst="ellipse">
            <a:avLst/>
          </a:prstGeom>
          <a:solidFill>
            <a:srgbClr val="BF360C"/>
          </a:solidFill>
          <a:ln/>
        </p:spPr>
      </p:sp>
      <p:sp>
        <p:nvSpPr>
          <p:cNvPr id="20" name="Text 16"/>
          <p:cNvSpPr/>
          <p:nvPr/>
        </p:nvSpPr>
        <p:spPr>
          <a:xfrm>
            <a:off x="530352" y="420624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Gateway: RESTful APIs, Authentication &amp; Authorization, Rate Limiting, Request Routing. Data Layer: 8 separate databases (User, Restaurant, Menu, Order, Delivery, Payment, Notification, Review DB). Admin Panel: Dashboard, Manage Users/Restaurants/Orders/Offers, Reports &amp; Analytics, System Settings.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Design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28600" y="67665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web landing page — hero section, feature highlights, app store links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728" y="914400"/>
            <a:ext cx="8924544" cy="415594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Design — Description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0" y="749808"/>
            <a:ext cx="3291840" cy="2084832"/>
          </a:xfrm>
          <a:prstGeom prst="roundRect">
            <a:avLst>
              <a:gd name="adj" fmla="val 3509"/>
            </a:avLst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28600" y="969264"/>
            <a:ext cx="201168" cy="201168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8" name="Text 4"/>
          <p:cNvSpPr/>
          <p:nvPr/>
        </p:nvSpPr>
        <p:spPr>
          <a:xfrm>
            <a:off x="530352" y="80467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Bar: FOODIE logo (with dish icon), links — Home, Restaurants, How It Works, Offers, About Us, Contact Us — and a Sign In button.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28600" y="1536192"/>
            <a:ext cx="201168" cy="201168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10" name="Text 6"/>
          <p:cNvSpPr/>
          <p:nvPr/>
        </p:nvSpPr>
        <p:spPr>
          <a:xfrm>
            <a:off x="530352" y="13716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Section: Tag 'Delicious food, delivered fast'. Headline: 'Good Food, Great Mood.' Subtext: 'FOODIE brings your favorite meals from the best restaurants to your doorstep in no time.'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28600" y="2103120"/>
            <a:ext cx="201168" cy="201168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12" name="Text 8"/>
          <p:cNvSpPr/>
          <p:nvPr/>
        </p:nvSpPr>
        <p:spPr>
          <a:xfrm>
            <a:off x="530352" y="193852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Bar: 'Enter your delivery location' input with an orange 'Find Food' button for location-based restaurant discovery.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28600" y="2670048"/>
            <a:ext cx="201168" cy="201168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14" name="Text 10"/>
          <p:cNvSpPr/>
          <p:nvPr/>
        </p:nvSpPr>
        <p:spPr>
          <a:xfrm>
            <a:off x="530352" y="250545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Icons Row: Fast Delivery (On-time, every time), Top Restaurants (Best choices for you), Best Offers (Exciting deals daily), Safe &amp; Secure (Hygienic &amp; reliable).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28600" y="3236976"/>
            <a:ext cx="201168" cy="201168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16" name="Text 12"/>
          <p:cNvSpPr/>
          <p:nvPr/>
        </p:nvSpPr>
        <p:spPr>
          <a:xfrm>
            <a:off x="530352" y="307238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Download Section: 'Download the FOODIE App' with Google Play and Apple App Store download buttons.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28600" y="3803904"/>
            <a:ext cx="201168" cy="201168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18" name="Text 14"/>
          <p:cNvSpPr/>
          <p:nvPr/>
        </p:nvSpPr>
        <p:spPr>
          <a:xfrm>
            <a:off x="530352" y="363931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Side Visual: Mobile app mockup showing Home screen with 50% OFF banner, Popular Categories (Pizza, Burger, Biryani, Sushi, Desserts), and Popular Restaurants (The Pizza House, Burger Nation). Surrounded by food photography (salad, grilled chicken, pasta).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GANTT CHART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– Development Timeline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331720" y="841248"/>
            <a:ext cx="6492240" cy="347472"/>
          </a:xfrm>
          <a:prstGeom prst="rect">
            <a:avLst/>
          </a:prstGeom>
          <a:solidFill>
            <a:srgbClr val="2E2E2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2331720" y="841248"/>
            <a:ext cx="8115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Mar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43250" y="841248"/>
            <a:ext cx="8115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Mar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43250" y="841248"/>
            <a:ext cx="0" cy="347472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54780" y="841248"/>
            <a:ext cx="8115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54780" y="841248"/>
            <a:ext cx="0" cy="347472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66310" y="841248"/>
            <a:ext cx="8115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66310" y="841248"/>
            <a:ext cx="0" cy="347472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841248"/>
            <a:ext cx="8115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Apr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841248"/>
            <a:ext cx="0" cy="347472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9370" y="841248"/>
            <a:ext cx="8115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May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89370" y="841248"/>
            <a:ext cx="0" cy="347472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00900" y="841248"/>
            <a:ext cx="8115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00900" y="841248"/>
            <a:ext cx="0" cy="347472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12430" y="841248"/>
            <a:ext cx="8115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Jun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12430" y="841248"/>
            <a:ext cx="0" cy="347472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188720"/>
            <a:ext cx="9144000" cy="365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" y="1234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Analysis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377440" y="1252728"/>
            <a:ext cx="1125855" cy="237744"/>
          </a:xfrm>
          <a:prstGeom prst="roundRect">
            <a:avLst>
              <a:gd name="adj" fmla="val 19231"/>
            </a:avLst>
          </a:prstGeom>
          <a:solidFill>
            <a:srgbClr val="B71C1C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1554480"/>
            <a:ext cx="91440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Documentation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88970" y="1618488"/>
            <a:ext cx="1125855" cy="237744"/>
          </a:xfrm>
          <a:prstGeom prst="roundRect">
            <a:avLst>
              <a:gd name="adj" fmla="val 19231"/>
            </a:avLst>
          </a:prstGeom>
          <a:solidFill>
            <a:srgbClr val="B71C1C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1920240"/>
            <a:ext cx="9144000" cy="365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&amp; Mockups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000500" y="1984248"/>
            <a:ext cx="1125855" cy="237744"/>
          </a:xfrm>
          <a:prstGeom prst="roundRect">
            <a:avLst>
              <a:gd name="adj" fmla="val 19231"/>
            </a:avLst>
          </a:prstGeom>
          <a:solidFill>
            <a:srgbClr val="FF8F0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2286000"/>
            <a:ext cx="91440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(ER)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06265" y="2350008"/>
            <a:ext cx="1125855" cy="237744"/>
          </a:xfrm>
          <a:prstGeom prst="roundRect">
            <a:avLst>
              <a:gd name="adj" fmla="val 19231"/>
            </a:avLst>
          </a:prstGeom>
          <a:solidFill>
            <a:srgbClr val="FF8F00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2651760"/>
            <a:ext cx="9144000" cy="365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000500" y="2715768"/>
            <a:ext cx="720090" cy="237744"/>
          </a:xfrm>
          <a:prstGeom prst="roundRect">
            <a:avLst>
              <a:gd name="adj" fmla="val 19231"/>
            </a:avLst>
          </a:prstGeom>
          <a:solidFill>
            <a:srgbClr val="FF8F00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3017520"/>
            <a:ext cx="91440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217795" y="3081528"/>
            <a:ext cx="1937385" cy="237744"/>
          </a:xfrm>
          <a:prstGeom prst="roundRect">
            <a:avLst>
              <a:gd name="adj" fmla="val 19231"/>
            </a:avLst>
          </a:prstGeom>
          <a:solidFill>
            <a:srgbClr val="1565C0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3383280"/>
            <a:ext cx="9144000" cy="365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" y="3429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23560" y="3447288"/>
            <a:ext cx="1937385" cy="237744"/>
          </a:xfrm>
          <a:prstGeom prst="roundRect">
            <a:avLst>
              <a:gd name="adj" fmla="val 19231"/>
            </a:avLst>
          </a:prstGeom>
          <a:solidFill>
            <a:srgbClr val="1565C0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3749040"/>
            <a:ext cx="91440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9144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35090" y="3813048"/>
            <a:ext cx="1125855" cy="237744"/>
          </a:xfrm>
          <a:prstGeom prst="roundRect">
            <a:avLst>
              <a:gd name="adj" fmla="val 19231"/>
            </a:avLst>
          </a:prstGeom>
          <a:solidFill>
            <a:srgbClr val="006064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4114800"/>
            <a:ext cx="9144000" cy="365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6" name="Text 44"/>
          <p:cNvSpPr/>
          <p:nvPr/>
        </p:nvSpPr>
        <p:spPr>
          <a:xfrm>
            <a:off x="9144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246620" y="4178808"/>
            <a:ext cx="1125855" cy="237744"/>
          </a:xfrm>
          <a:prstGeom prst="roundRect">
            <a:avLst>
              <a:gd name="adj" fmla="val 19231"/>
            </a:avLst>
          </a:prstGeom>
          <a:solidFill>
            <a:srgbClr val="4A148C"/>
          </a:solidFill>
          <a:ln/>
        </p:spPr>
      </p:sp>
      <p:sp>
        <p:nvSpPr>
          <p:cNvPr id="48" name="Shape 46"/>
          <p:cNvSpPr/>
          <p:nvPr/>
        </p:nvSpPr>
        <p:spPr>
          <a:xfrm>
            <a:off x="0" y="4480560"/>
            <a:ext cx="91440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91440" y="4526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Launch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058150" y="4544568"/>
            <a:ext cx="720090" cy="237744"/>
          </a:xfrm>
          <a:prstGeom prst="roundRect">
            <a:avLst>
              <a:gd name="adj" fmla="val 19231"/>
            </a:avLst>
          </a:prstGeom>
          <a:solidFill>
            <a:srgbClr val="2E7D32"/>
          </a:solidFill>
          <a:ln/>
        </p:spPr>
      </p:sp>
      <p:sp>
        <p:nvSpPr>
          <p:cNvPr id="51" name="Shape 49"/>
          <p:cNvSpPr/>
          <p:nvPr/>
        </p:nvSpPr>
        <p:spPr>
          <a:xfrm>
            <a:off x="3143250" y="1188720"/>
            <a:ext cx="0" cy="365760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954780" y="1188720"/>
            <a:ext cx="0" cy="365760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66310" y="1188720"/>
            <a:ext cx="0" cy="365760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77840" y="1188720"/>
            <a:ext cx="0" cy="365760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89370" y="1188720"/>
            <a:ext cx="0" cy="365760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200900" y="1188720"/>
            <a:ext cx="0" cy="365760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012430" y="1188720"/>
            <a:ext cx="0" cy="365760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31720" y="841248"/>
            <a:ext cx="0" cy="4005072"/>
          </a:xfrm>
          <a:prstGeom prst="line">
            <a:avLst/>
          </a:prstGeom>
          <a:noFill/>
          <a:ln w="12700">
            <a:solidFill>
              <a:srgbClr val="2E2E2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7200" y="4937760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B71C1C"/>
          </a:solidFill>
          <a:ln/>
        </p:spPr>
      </p:sp>
      <p:sp>
        <p:nvSpPr>
          <p:cNvPr id="60" name="Text 58"/>
          <p:cNvSpPr/>
          <p:nvPr/>
        </p:nvSpPr>
        <p:spPr>
          <a:xfrm>
            <a:off x="758952" y="49377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148840" y="4937760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FF8F00"/>
          </a:solidFill>
          <a:ln/>
        </p:spPr>
      </p:sp>
      <p:sp>
        <p:nvSpPr>
          <p:cNvPr id="62" name="Text 60"/>
          <p:cNvSpPr/>
          <p:nvPr/>
        </p:nvSpPr>
        <p:spPr>
          <a:xfrm>
            <a:off x="2450592" y="49377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840480" y="4937760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1565C0"/>
          </a:solidFill>
          <a:ln/>
        </p:spPr>
      </p:sp>
      <p:sp>
        <p:nvSpPr>
          <p:cNvPr id="64" name="Text 62"/>
          <p:cNvSpPr/>
          <p:nvPr/>
        </p:nvSpPr>
        <p:spPr>
          <a:xfrm>
            <a:off x="4142232" y="49377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532120" y="4937760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4A148C"/>
          </a:solidFill>
          <a:ln/>
        </p:spPr>
      </p:sp>
      <p:sp>
        <p:nvSpPr>
          <p:cNvPr id="66" name="Text 64"/>
          <p:cNvSpPr/>
          <p:nvPr/>
        </p:nvSpPr>
        <p:spPr>
          <a:xfrm>
            <a:off x="5833872" y="49377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223760" y="4937760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2E7D32"/>
          </a:solidFill>
          <a:ln/>
        </p:spPr>
      </p:sp>
      <p:sp>
        <p:nvSpPr>
          <p:cNvPr id="68" name="Text 66"/>
          <p:cNvSpPr/>
          <p:nvPr/>
        </p:nvSpPr>
        <p:spPr>
          <a:xfrm>
            <a:off x="7525512" y="49377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p3"/>
          <p:cNvSpPr/>
          <p:nvPr/>
        </p:nvSpPr>
        <p:spPr>
          <a:xfrm>
            <a:off x="228600" y="0"/>
            <a:ext cx="6858000" cy="658368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</a:rPr>
              <a:t>REQUIREMENTS TRACEABILITY MATRIX (RTM)</a:t>
            </a:r>
          </a:p>
        </p:txBody>
      </p:sp>
      <p:sp>
        <p:nvSpPr>
          <p:cNvPr id="4" name="sp4"/>
          <p:cNvSpPr/>
          <p:nvPr/>
        </p:nvSpPr>
        <p:spPr>
          <a:xfrm>
            <a:off x="6858000" y="0"/>
            <a:ext cx="2194560" cy="658368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r">
              <a:buNone/>
            </a:pPr>
            <a:r>
              <a:rPr lang="en-US" sz="800" b="0" dirty="0">
                <a:solidFill>
                  <a:srgbClr val="FFC107"/>
                </a:solidFill>
                <a:latin typeface="Arial" pitchFamily="34" charset="0"/>
              </a:rPr>
              <a:t>FOODIE  ·  Part 1 of 2  —  FR-01 to FR-20</a:t>
            </a:r>
          </a:p>
        </p:txBody>
      </p:sp>
      <p:sp>
        <p:nvSpPr>
          <p:cNvPr id="5" name="rect5"/>
          <p:cNvSpPr/>
          <p:nvPr/>
        </p:nvSpPr>
        <p:spPr>
          <a:xfrm>
            <a:off x="0" y="667512"/>
            <a:ext cx="9144000" cy="274320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6" name="sp6"/>
          <p:cNvSpPr/>
          <p:nvPr/>
        </p:nvSpPr>
        <p:spPr>
          <a:xfrm>
            <a:off x="45720" y="667512"/>
            <a:ext cx="566928" cy="27432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</a:rPr>
              <a:t>Req ID</a:t>
            </a:r>
          </a:p>
        </p:txBody>
      </p:sp>
      <p:sp>
        <p:nvSpPr>
          <p:cNvPr id="7" name="sp7"/>
          <p:cNvSpPr/>
          <p:nvPr/>
        </p:nvSpPr>
        <p:spPr>
          <a:xfrm>
            <a:off x="640080" y="667512"/>
            <a:ext cx="1900000" cy="27432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</a:rPr>
              <a:t>Requirement</a:t>
            </a:r>
          </a:p>
        </p:txBody>
      </p:sp>
      <p:sp>
        <p:nvSpPr>
          <p:cNvPr id="8" name="sp8"/>
          <p:cNvSpPr/>
          <p:nvPr/>
        </p:nvSpPr>
        <p:spPr>
          <a:xfrm>
            <a:off x="2600000" y="667512"/>
            <a:ext cx="2500000" cy="27432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</a:rPr>
              <a:t>Description</a:t>
            </a:r>
          </a:p>
        </p:txBody>
      </p:sp>
      <p:sp>
        <p:nvSpPr>
          <p:cNvPr id="9" name="sp9"/>
          <p:cNvSpPr/>
          <p:nvPr/>
        </p:nvSpPr>
        <p:spPr>
          <a:xfrm>
            <a:off x="5200000" y="667512"/>
            <a:ext cx="1300000" cy="27432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</a:rPr>
              <a:t>Module/Page</a:t>
            </a:r>
          </a:p>
        </p:txBody>
      </p:sp>
      <p:sp>
        <p:nvSpPr>
          <p:cNvPr id="10" name="sp10"/>
          <p:cNvSpPr/>
          <p:nvPr/>
        </p:nvSpPr>
        <p:spPr>
          <a:xfrm>
            <a:off x="6600000" y="667512"/>
            <a:ext cx="2100000" cy="27432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</a:rPr>
              <a:t>Status</a:t>
            </a:r>
          </a:p>
        </p:txBody>
      </p:sp>
      <p:sp>
        <p:nvSpPr>
          <p:cNvPr id="11" name="rect11"/>
          <p:cNvSpPr/>
          <p:nvPr/>
        </p:nvSpPr>
        <p:spPr>
          <a:xfrm>
            <a:off x="0" y="941832"/>
            <a:ext cx="9144000" cy="12618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" name="rect12"/>
          <p:cNvSpPr/>
          <p:nvPr/>
        </p:nvSpPr>
        <p:spPr>
          <a:xfrm>
            <a:off x="36576" y="947832"/>
            <a:ext cx="585216" cy="114187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3" name="sp13"/>
          <p:cNvSpPr/>
          <p:nvPr/>
        </p:nvSpPr>
        <p:spPr>
          <a:xfrm>
            <a:off x="45720" y="941832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FR-01</a:t>
            </a:r>
          </a:p>
        </p:txBody>
      </p:sp>
      <p:sp>
        <p:nvSpPr>
          <p:cNvPr id="14" name="sp14"/>
          <p:cNvSpPr/>
          <p:nvPr/>
        </p:nvSpPr>
        <p:spPr>
          <a:xfrm>
            <a:off x="640080" y="941832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User Registration</a:t>
            </a:r>
          </a:p>
        </p:txBody>
      </p:sp>
      <p:sp>
        <p:nvSpPr>
          <p:cNvPr id="15" name="sp15"/>
          <p:cNvSpPr/>
          <p:nvPr/>
        </p:nvSpPr>
        <p:spPr>
          <a:xfrm>
            <a:off x="2600000" y="941832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create a new account</a:t>
            </a:r>
          </a:p>
        </p:txBody>
      </p:sp>
      <p:sp>
        <p:nvSpPr>
          <p:cNvPr id="16" name="sp16"/>
          <p:cNvSpPr/>
          <p:nvPr/>
        </p:nvSpPr>
        <p:spPr>
          <a:xfrm>
            <a:off x="5200000" y="941832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Register</a:t>
            </a:r>
          </a:p>
        </p:txBody>
      </p:sp>
      <p:sp>
        <p:nvSpPr>
          <p:cNvPr id="17" name="rect17"/>
          <p:cNvSpPr/>
          <p:nvPr/>
        </p:nvSpPr>
        <p:spPr>
          <a:xfrm>
            <a:off x="6590856" y="947832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sp18"/>
          <p:cNvSpPr/>
          <p:nvPr/>
        </p:nvSpPr>
        <p:spPr>
          <a:xfrm>
            <a:off x="6600000" y="941832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9" name="rect19"/>
          <p:cNvSpPr/>
          <p:nvPr/>
        </p:nvSpPr>
        <p:spPr>
          <a:xfrm>
            <a:off x="0" y="1068019"/>
            <a:ext cx="9144000" cy="126187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rect20"/>
          <p:cNvSpPr/>
          <p:nvPr/>
        </p:nvSpPr>
        <p:spPr>
          <a:xfrm>
            <a:off x="36576" y="1074019"/>
            <a:ext cx="585216" cy="114187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sp21"/>
          <p:cNvSpPr/>
          <p:nvPr/>
        </p:nvSpPr>
        <p:spPr>
          <a:xfrm>
            <a:off x="45720" y="1068019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FR-02</a:t>
            </a:r>
          </a:p>
        </p:txBody>
      </p:sp>
      <p:sp>
        <p:nvSpPr>
          <p:cNvPr id="22" name="sp22"/>
          <p:cNvSpPr/>
          <p:nvPr/>
        </p:nvSpPr>
        <p:spPr>
          <a:xfrm>
            <a:off x="640080" y="1068019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User Login</a:t>
            </a:r>
          </a:p>
        </p:txBody>
      </p:sp>
      <p:sp>
        <p:nvSpPr>
          <p:cNvPr id="23" name="sp23"/>
          <p:cNvSpPr/>
          <p:nvPr/>
        </p:nvSpPr>
        <p:spPr>
          <a:xfrm>
            <a:off x="2600000" y="1068019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log in using registered credentials</a:t>
            </a:r>
          </a:p>
        </p:txBody>
      </p:sp>
      <p:sp>
        <p:nvSpPr>
          <p:cNvPr id="24" name="sp24"/>
          <p:cNvSpPr/>
          <p:nvPr/>
        </p:nvSpPr>
        <p:spPr>
          <a:xfrm>
            <a:off x="5200000" y="1068019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Login</a:t>
            </a:r>
          </a:p>
        </p:txBody>
      </p:sp>
      <p:sp>
        <p:nvSpPr>
          <p:cNvPr id="25" name="rect25"/>
          <p:cNvSpPr/>
          <p:nvPr/>
        </p:nvSpPr>
        <p:spPr>
          <a:xfrm>
            <a:off x="6590856" y="1074019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6" name="sp26"/>
          <p:cNvSpPr/>
          <p:nvPr/>
        </p:nvSpPr>
        <p:spPr>
          <a:xfrm>
            <a:off x="6600000" y="1068019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27" name="rect27"/>
          <p:cNvSpPr/>
          <p:nvPr/>
        </p:nvSpPr>
        <p:spPr>
          <a:xfrm>
            <a:off x="0" y="1194206"/>
            <a:ext cx="9144000" cy="12618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8" name="rect28"/>
          <p:cNvSpPr/>
          <p:nvPr/>
        </p:nvSpPr>
        <p:spPr>
          <a:xfrm>
            <a:off x="36576" y="1200206"/>
            <a:ext cx="585216" cy="114187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9" name="sp29"/>
          <p:cNvSpPr/>
          <p:nvPr/>
        </p:nvSpPr>
        <p:spPr>
          <a:xfrm>
            <a:off x="45720" y="1194206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FR-03</a:t>
            </a:r>
          </a:p>
        </p:txBody>
      </p:sp>
      <p:sp>
        <p:nvSpPr>
          <p:cNvPr id="30" name="sp30"/>
          <p:cNvSpPr/>
          <p:nvPr/>
        </p:nvSpPr>
        <p:spPr>
          <a:xfrm>
            <a:off x="640080" y="1194206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User Logout</a:t>
            </a:r>
          </a:p>
        </p:txBody>
      </p:sp>
      <p:sp>
        <p:nvSpPr>
          <p:cNvPr id="31" name="sp31"/>
          <p:cNvSpPr/>
          <p:nvPr/>
        </p:nvSpPr>
        <p:spPr>
          <a:xfrm>
            <a:off x="2600000" y="1194206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log out from the system</a:t>
            </a:r>
          </a:p>
        </p:txBody>
      </p:sp>
      <p:sp>
        <p:nvSpPr>
          <p:cNvPr id="32" name="sp32"/>
          <p:cNvSpPr/>
          <p:nvPr/>
        </p:nvSpPr>
        <p:spPr>
          <a:xfrm>
            <a:off x="5200000" y="1194206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Navbar</a:t>
            </a:r>
          </a:p>
        </p:txBody>
      </p:sp>
      <p:sp>
        <p:nvSpPr>
          <p:cNvPr id="33" name="rect33"/>
          <p:cNvSpPr/>
          <p:nvPr/>
        </p:nvSpPr>
        <p:spPr>
          <a:xfrm>
            <a:off x="6590856" y="1200206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4" name="sp34"/>
          <p:cNvSpPr/>
          <p:nvPr/>
        </p:nvSpPr>
        <p:spPr>
          <a:xfrm>
            <a:off x="6600000" y="1194206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35" name="rect35"/>
          <p:cNvSpPr/>
          <p:nvPr/>
        </p:nvSpPr>
        <p:spPr>
          <a:xfrm>
            <a:off x="0" y="1320393"/>
            <a:ext cx="9144000" cy="126187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6" name="rect36"/>
          <p:cNvSpPr/>
          <p:nvPr/>
        </p:nvSpPr>
        <p:spPr>
          <a:xfrm>
            <a:off x="36576" y="1326393"/>
            <a:ext cx="585216" cy="114187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7" name="sp37"/>
          <p:cNvSpPr/>
          <p:nvPr/>
        </p:nvSpPr>
        <p:spPr>
          <a:xfrm>
            <a:off x="45720" y="1320393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FR-04</a:t>
            </a:r>
          </a:p>
        </p:txBody>
      </p:sp>
      <p:sp>
        <p:nvSpPr>
          <p:cNvPr id="38" name="sp38"/>
          <p:cNvSpPr/>
          <p:nvPr/>
        </p:nvSpPr>
        <p:spPr>
          <a:xfrm>
            <a:off x="640080" y="1320393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Session Management</a:t>
            </a:r>
          </a:p>
        </p:txBody>
      </p:sp>
      <p:sp>
        <p:nvSpPr>
          <p:cNvPr id="39" name="sp39"/>
          <p:cNvSpPr/>
          <p:nvPr/>
        </p:nvSpPr>
        <p:spPr>
          <a:xfrm>
            <a:off x="2600000" y="1320393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Logged-in user stored in Local Storage</a:t>
            </a:r>
          </a:p>
        </p:txBody>
      </p:sp>
      <p:sp>
        <p:nvSpPr>
          <p:cNvPr id="40" name="sp40"/>
          <p:cNvSpPr/>
          <p:nvPr/>
        </p:nvSpPr>
        <p:spPr>
          <a:xfrm>
            <a:off x="5200000" y="1320393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Login/Navbar</a:t>
            </a:r>
          </a:p>
        </p:txBody>
      </p:sp>
      <p:sp>
        <p:nvSpPr>
          <p:cNvPr id="41" name="rect41"/>
          <p:cNvSpPr/>
          <p:nvPr/>
        </p:nvSpPr>
        <p:spPr>
          <a:xfrm>
            <a:off x="6590856" y="1326393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2" name="sp42"/>
          <p:cNvSpPr/>
          <p:nvPr/>
        </p:nvSpPr>
        <p:spPr>
          <a:xfrm>
            <a:off x="6600000" y="1320393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43" name="rect43"/>
          <p:cNvSpPr/>
          <p:nvPr/>
        </p:nvSpPr>
        <p:spPr>
          <a:xfrm>
            <a:off x="0" y="1446580"/>
            <a:ext cx="9144000" cy="12618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4" name="rect44"/>
          <p:cNvSpPr/>
          <p:nvPr/>
        </p:nvSpPr>
        <p:spPr>
          <a:xfrm>
            <a:off x="36576" y="1452580"/>
            <a:ext cx="585216" cy="114187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45" name="sp45"/>
          <p:cNvSpPr/>
          <p:nvPr/>
        </p:nvSpPr>
        <p:spPr>
          <a:xfrm>
            <a:off x="45720" y="1446580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FR-05</a:t>
            </a:r>
          </a:p>
        </p:txBody>
      </p:sp>
      <p:sp>
        <p:nvSpPr>
          <p:cNvPr id="46" name="sp46"/>
          <p:cNvSpPr/>
          <p:nvPr/>
        </p:nvSpPr>
        <p:spPr>
          <a:xfrm>
            <a:off x="640080" y="1446580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Browse Foods</a:t>
            </a:r>
          </a:p>
        </p:txBody>
      </p:sp>
      <p:sp>
        <p:nvSpPr>
          <p:cNvPr id="47" name="sp47"/>
          <p:cNvSpPr/>
          <p:nvPr/>
        </p:nvSpPr>
        <p:spPr>
          <a:xfrm>
            <a:off x="2600000" y="1446580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view available foods</a:t>
            </a:r>
          </a:p>
        </p:txBody>
      </p:sp>
      <p:sp>
        <p:nvSpPr>
          <p:cNvPr id="48" name="sp48"/>
          <p:cNvSpPr/>
          <p:nvPr/>
        </p:nvSpPr>
        <p:spPr>
          <a:xfrm>
            <a:off x="5200000" y="1446580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Home</a:t>
            </a:r>
          </a:p>
        </p:txBody>
      </p:sp>
      <p:sp>
        <p:nvSpPr>
          <p:cNvPr id="49" name="rect49"/>
          <p:cNvSpPr/>
          <p:nvPr/>
        </p:nvSpPr>
        <p:spPr>
          <a:xfrm>
            <a:off x="6590856" y="1452580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0" name="sp50"/>
          <p:cNvSpPr/>
          <p:nvPr/>
        </p:nvSpPr>
        <p:spPr>
          <a:xfrm>
            <a:off x="6600000" y="1446580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51" name="rect51"/>
          <p:cNvSpPr/>
          <p:nvPr/>
        </p:nvSpPr>
        <p:spPr>
          <a:xfrm>
            <a:off x="0" y="1572767"/>
            <a:ext cx="9144000" cy="126187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2" name="rect52"/>
          <p:cNvSpPr/>
          <p:nvPr/>
        </p:nvSpPr>
        <p:spPr>
          <a:xfrm>
            <a:off x="36576" y="1578767"/>
            <a:ext cx="585216" cy="114187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53" name="sp53"/>
          <p:cNvSpPr/>
          <p:nvPr/>
        </p:nvSpPr>
        <p:spPr>
          <a:xfrm>
            <a:off x="45720" y="1572767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FR-06</a:t>
            </a:r>
          </a:p>
        </p:txBody>
      </p:sp>
      <p:sp>
        <p:nvSpPr>
          <p:cNvPr id="54" name="sp54"/>
          <p:cNvSpPr/>
          <p:nvPr/>
        </p:nvSpPr>
        <p:spPr>
          <a:xfrm>
            <a:off x="640080" y="1572767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Search Foods</a:t>
            </a:r>
          </a:p>
        </p:txBody>
      </p:sp>
      <p:sp>
        <p:nvSpPr>
          <p:cNvPr id="55" name="sp55"/>
          <p:cNvSpPr/>
          <p:nvPr/>
        </p:nvSpPr>
        <p:spPr>
          <a:xfrm>
            <a:off x="2600000" y="1572767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search foods by name</a:t>
            </a:r>
          </a:p>
        </p:txBody>
      </p:sp>
      <p:sp>
        <p:nvSpPr>
          <p:cNvPr id="56" name="sp56"/>
          <p:cNvSpPr/>
          <p:nvPr/>
        </p:nvSpPr>
        <p:spPr>
          <a:xfrm>
            <a:off x="5200000" y="1572767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Home</a:t>
            </a:r>
          </a:p>
        </p:txBody>
      </p:sp>
      <p:sp>
        <p:nvSpPr>
          <p:cNvPr id="57" name="rect57"/>
          <p:cNvSpPr/>
          <p:nvPr/>
        </p:nvSpPr>
        <p:spPr>
          <a:xfrm>
            <a:off x="6590856" y="1578767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8" name="sp58"/>
          <p:cNvSpPr/>
          <p:nvPr/>
        </p:nvSpPr>
        <p:spPr>
          <a:xfrm>
            <a:off x="6600000" y="1572767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59" name="rect59"/>
          <p:cNvSpPr/>
          <p:nvPr/>
        </p:nvSpPr>
        <p:spPr>
          <a:xfrm>
            <a:off x="0" y="1698954"/>
            <a:ext cx="9144000" cy="12618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0" name="rect60"/>
          <p:cNvSpPr/>
          <p:nvPr/>
        </p:nvSpPr>
        <p:spPr>
          <a:xfrm>
            <a:off x="36576" y="1704954"/>
            <a:ext cx="585216" cy="114187"/>
          </a:xfrm>
          <a:prstGeom prst="rect">
            <a:avLst/>
          </a:prstGeom>
          <a:solidFill>
            <a:srgbClr val="4E342E"/>
          </a:solidFill>
          <a:ln/>
        </p:spPr>
      </p:sp>
      <p:sp>
        <p:nvSpPr>
          <p:cNvPr id="61" name="sp61"/>
          <p:cNvSpPr/>
          <p:nvPr/>
        </p:nvSpPr>
        <p:spPr>
          <a:xfrm>
            <a:off x="45720" y="1698954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FR-07</a:t>
            </a:r>
          </a:p>
        </p:txBody>
      </p:sp>
      <p:sp>
        <p:nvSpPr>
          <p:cNvPr id="62" name="sp62"/>
          <p:cNvSpPr/>
          <p:nvPr/>
        </p:nvSpPr>
        <p:spPr>
          <a:xfrm>
            <a:off x="640080" y="1698954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Category Filter</a:t>
            </a:r>
          </a:p>
        </p:txBody>
      </p:sp>
      <p:sp>
        <p:nvSpPr>
          <p:cNvPr id="63" name="sp63"/>
          <p:cNvSpPr/>
          <p:nvPr/>
        </p:nvSpPr>
        <p:spPr>
          <a:xfrm>
            <a:off x="2600000" y="1698954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filter foods by category</a:t>
            </a:r>
          </a:p>
        </p:txBody>
      </p:sp>
      <p:sp>
        <p:nvSpPr>
          <p:cNvPr id="64" name="sp64"/>
          <p:cNvSpPr/>
          <p:nvPr/>
        </p:nvSpPr>
        <p:spPr>
          <a:xfrm>
            <a:off x="5200000" y="1698954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Home</a:t>
            </a:r>
          </a:p>
        </p:txBody>
      </p:sp>
      <p:sp>
        <p:nvSpPr>
          <p:cNvPr id="65" name="rect65"/>
          <p:cNvSpPr/>
          <p:nvPr/>
        </p:nvSpPr>
        <p:spPr>
          <a:xfrm>
            <a:off x="6590856" y="1704954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6" name="sp66"/>
          <p:cNvSpPr/>
          <p:nvPr/>
        </p:nvSpPr>
        <p:spPr>
          <a:xfrm>
            <a:off x="6600000" y="1698954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67" name="rect67"/>
          <p:cNvSpPr/>
          <p:nvPr/>
        </p:nvSpPr>
        <p:spPr>
          <a:xfrm>
            <a:off x="0" y="1825141"/>
            <a:ext cx="9144000" cy="126187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8" name="rect68"/>
          <p:cNvSpPr/>
          <p:nvPr/>
        </p:nvSpPr>
        <p:spPr>
          <a:xfrm>
            <a:off x="36576" y="1831141"/>
            <a:ext cx="585216" cy="114187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69" name="sp69"/>
          <p:cNvSpPr/>
          <p:nvPr/>
        </p:nvSpPr>
        <p:spPr>
          <a:xfrm>
            <a:off x="45720" y="1825141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FR-08</a:t>
            </a:r>
          </a:p>
        </p:txBody>
      </p:sp>
      <p:sp>
        <p:nvSpPr>
          <p:cNvPr id="70" name="sp70"/>
          <p:cNvSpPr/>
          <p:nvPr/>
        </p:nvSpPr>
        <p:spPr>
          <a:xfrm>
            <a:off x="640080" y="1825141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View Food Details</a:t>
            </a:r>
          </a:p>
        </p:txBody>
      </p:sp>
      <p:sp>
        <p:nvSpPr>
          <p:cNvPr id="71" name="sp71"/>
          <p:cNvSpPr/>
          <p:nvPr/>
        </p:nvSpPr>
        <p:spPr>
          <a:xfrm>
            <a:off x="2600000" y="1825141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see image, name and price</a:t>
            </a:r>
          </a:p>
        </p:txBody>
      </p:sp>
      <p:sp>
        <p:nvSpPr>
          <p:cNvPr id="72" name="sp72"/>
          <p:cNvSpPr/>
          <p:nvPr/>
        </p:nvSpPr>
        <p:spPr>
          <a:xfrm>
            <a:off x="5200000" y="1825141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Home</a:t>
            </a:r>
          </a:p>
        </p:txBody>
      </p:sp>
      <p:sp>
        <p:nvSpPr>
          <p:cNvPr id="73" name="rect73"/>
          <p:cNvSpPr/>
          <p:nvPr/>
        </p:nvSpPr>
        <p:spPr>
          <a:xfrm>
            <a:off x="6590856" y="1831141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4" name="sp74"/>
          <p:cNvSpPr/>
          <p:nvPr/>
        </p:nvSpPr>
        <p:spPr>
          <a:xfrm>
            <a:off x="6600000" y="1825141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75" name="rect75"/>
          <p:cNvSpPr/>
          <p:nvPr/>
        </p:nvSpPr>
        <p:spPr>
          <a:xfrm>
            <a:off x="0" y="1951328"/>
            <a:ext cx="9144000" cy="12618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6" name="rect76"/>
          <p:cNvSpPr/>
          <p:nvPr/>
        </p:nvSpPr>
        <p:spPr>
          <a:xfrm>
            <a:off x="36576" y="1957328"/>
            <a:ext cx="585216" cy="114187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77" name="sp77"/>
          <p:cNvSpPr/>
          <p:nvPr/>
        </p:nvSpPr>
        <p:spPr>
          <a:xfrm>
            <a:off x="45720" y="1951328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FR-09</a:t>
            </a:r>
          </a:p>
        </p:txBody>
      </p:sp>
      <p:sp>
        <p:nvSpPr>
          <p:cNvPr id="78" name="sp78"/>
          <p:cNvSpPr/>
          <p:nvPr/>
        </p:nvSpPr>
        <p:spPr>
          <a:xfrm>
            <a:off x="640080" y="1951328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Add to Cart</a:t>
            </a:r>
          </a:p>
        </p:txBody>
      </p:sp>
      <p:sp>
        <p:nvSpPr>
          <p:cNvPr id="79" name="sp79"/>
          <p:cNvSpPr/>
          <p:nvPr/>
        </p:nvSpPr>
        <p:spPr>
          <a:xfrm>
            <a:off x="2600000" y="1951328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add food items to cart</a:t>
            </a:r>
          </a:p>
        </p:txBody>
      </p:sp>
      <p:sp>
        <p:nvSpPr>
          <p:cNvPr id="80" name="sp80"/>
          <p:cNvSpPr/>
          <p:nvPr/>
        </p:nvSpPr>
        <p:spPr>
          <a:xfrm>
            <a:off x="5200000" y="1951328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Home</a:t>
            </a:r>
          </a:p>
        </p:txBody>
      </p:sp>
      <p:sp>
        <p:nvSpPr>
          <p:cNvPr id="81" name="rect81"/>
          <p:cNvSpPr/>
          <p:nvPr/>
        </p:nvSpPr>
        <p:spPr>
          <a:xfrm>
            <a:off x="6590856" y="1957328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2" name="sp82"/>
          <p:cNvSpPr/>
          <p:nvPr/>
        </p:nvSpPr>
        <p:spPr>
          <a:xfrm>
            <a:off x="6600000" y="1951328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83" name="rect83"/>
          <p:cNvSpPr/>
          <p:nvPr/>
        </p:nvSpPr>
        <p:spPr>
          <a:xfrm>
            <a:off x="0" y="2077515"/>
            <a:ext cx="9144000" cy="126187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84" name="rect84"/>
          <p:cNvSpPr/>
          <p:nvPr/>
        </p:nvSpPr>
        <p:spPr>
          <a:xfrm>
            <a:off x="36576" y="2083515"/>
            <a:ext cx="585216" cy="114187"/>
          </a:xfrm>
          <a:prstGeom prst="rect">
            <a:avLst/>
          </a:prstGeom>
          <a:solidFill>
            <a:srgbClr val="33691E"/>
          </a:solidFill>
          <a:ln/>
        </p:spPr>
      </p:sp>
      <p:sp>
        <p:nvSpPr>
          <p:cNvPr id="85" name="sp85"/>
          <p:cNvSpPr/>
          <p:nvPr/>
        </p:nvSpPr>
        <p:spPr>
          <a:xfrm>
            <a:off x="45720" y="2077515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FR-10</a:t>
            </a:r>
          </a:p>
        </p:txBody>
      </p:sp>
      <p:sp>
        <p:nvSpPr>
          <p:cNvPr id="86" name="sp86"/>
          <p:cNvSpPr/>
          <p:nvPr/>
        </p:nvSpPr>
        <p:spPr>
          <a:xfrm>
            <a:off x="640080" y="2077515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View Cart</a:t>
            </a:r>
          </a:p>
        </p:txBody>
      </p:sp>
      <p:sp>
        <p:nvSpPr>
          <p:cNvPr id="87" name="sp87"/>
          <p:cNvSpPr/>
          <p:nvPr/>
        </p:nvSpPr>
        <p:spPr>
          <a:xfrm>
            <a:off x="2600000" y="2077515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view selected items</a:t>
            </a:r>
          </a:p>
        </p:txBody>
      </p:sp>
      <p:sp>
        <p:nvSpPr>
          <p:cNvPr id="88" name="sp88"/>
          <p:cNvSpPr/>
          <p:nvPr/>
        </p:nvSpPr>
        <p:spPr>
          <a:xfrm>
            <a:off x="5200000" y="2077515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Cart</a:t>
            </a:r>
          </a:p>
        </p:txBody>
      </p:sp>
      <p:sp>
        <p:nvSpPr>
          <p:cNvPr id="89" name="rect89"/>
          <p:cNvSpPr/>
          <p:nvPr/>
        </p:nvSpPr>
        <p:spPr>
          <a:xfrm>
            <a:off x="6590856" y="2083515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0" name="sp90"/>
          <p:cNvSpPr/>
          <p:nvPr/>
        </p:nvSpPr>
        <p:spPr>
          <a:xfrm>
            <a:off x="6600000" y="2077515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91" name="rect91"/>
          <p:cNvSpPr/>
          <p:nvPr/>
        </p:nvSpPr>
        <p:spPr>
          <a:xfrm>
            <a:off x="0" y="2203702"/>
            <a:ext cx="9144000" cy="12618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2" name="rect92"/>
          <p:cNvSpPr/>
          <p:nvPr/>
        </p:nvSpPr>
        <p:spPr>
          <a:xfrm>
            <a:off x="36576" y="2209702"/>
            <a:ext cx="585216" cy="114187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93" name="sp93"/>
          <p:cNvSpPr/>
          <p:nvPr/>
        </p:nvSpPr>
        <p:spPr>
          <a:xfrm>
            <a:off x="45720" y="2203702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FR-11</a:t>
            </a:r>
          </a:p>
        </p:txBody>
      </p:sp>
      <p:sp>
        <p:nvSpPr>
          <p:cNvPr id="94" name="sp94"/>
          <p:cNvSpPr/>
          <p:nvPr/>
        </p:nvSpPr>
        <p:spPr>
          <a:xfrm>
            <a:off x="640080" y="2203702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Increase Quantity</a:t>
            </a:r>
          </a:p>
        </p:txBody>
      </p:sp>
      <p:sp>
        <p:nvSpPr>
          <p:cNvPr id="95" name="sp95"/>
          <p:cNvSpPr/>
          <p:nvPr/>
        </p:nvSpPr>
        <p:spPr>
          <a:xfrm>
            <a:off x="2600000" y="2203702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increase item quantity</a:t>
            </a:r>
          </a:p>
        </p:txBody>
      </p:sp>
      <p:sp>
        <p:nvSpPr>
          <p:cNvPr id="96" name="sp96"/>
          <p:cNvSpPr/>
          <p:nvPr/>
        </p:nvSpPr>
        <p:spPr>
          <a:xfrm>
            <a:off x="5200000" y="2203702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Cart</a:t>
            </a:r>
          </a:p>
        </p:txBody>
      </p:sp>
      <p:sp>
        <p:nvSpPr>
          <p:cNvPr id="97" name="rect97"/>
          <p:cNvSpPr/>
          <p:nvPr/>
        </p:nvSpPr>
        <p:spPr>
          <a:xfrm>
            <a:off x="6590856" y="2209702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8" name="sp98"/>
          <p:cNvSpPr/>
          <p:nvPr/>
        </p:nvSpPr>
        <p:spPr>
          <a:xfrm>
            <a:off x="6600000" y="2203702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99" name="rect99"/>
          <p:cNvSpPr/>
          <p:nvPr/>
        </p:nvSpPr>
        <p:spPr>
          <a:xfrm>
            <a:off x="0" y="2329889"/>
            <a:ext cx="9144000" cy="126187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00" name="rect100"/>
          <p:cNvSpPr/>
          <p:nvPr/>
        </p:nvSpPr>
        <p:spPr>
          <a:xfrm>
            <a:off x="36576" y="2335889"/>
            <a:ext cx="585216" cy="114187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1" name="sp101"/>
          <p:cNvSpPr/>
          <p:nvPr/>
        </p:nvSpPr>
        <p:spPr>
          <a:xfrm>
            <a:off x="45720" y="2329889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FR-12</a:t>
            </a:r>
          </a:p>
        </p:txBody>
      </p:sp>
      <p:sp>
        <p:nvSpPr>
          <p:cNvPr id="102" name="sp102"/>
          <p:cNvSpPr/>
          <p:nvPr/>
        </p:nvSpPr>
        <p:spPr>
          <a:xfrm>
            <a:off x="640080" y="2329889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Decrease Quantity</a:t>
            </a:r>
          </a:p>
        </p:txBody>
      </p:sp>
      <p:sp>
        <p:nvSpPr>
          <p:cNvPr id="103" name="sp103"/>
          <p:cNvSpPr/>
          <p:nvPr/>
        </p:nvSpPr>
        <p:spPr>
          <a:xfrm>
            <a:off x="2600000" y="2329889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decrease item quantity</a:t>
            </a:r>
          </a:p>
        </p:txBody>
      </p:sp>
      <p:sp>
        <p:nvSpPr>
          <p:cNvPr id="104" name="sp104"/>
          <p:cNvSpPr/>
          <p:nvPr/>
        </p:nvSpPr>
        <p:spPr>
          <a:xfrm>
            <a:off x="5200000" y="2329889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Cart</a:t>
            </a:r>
          </a:p>
        </p:txBody>
      </p:sp>
      <p:sp>
        <p:nvSpPr>
          <p:cNvPr id="105" name="rect105"/>
          <p:cNvSpPr/>
          <p:nvPr/>
        </p:nvSpPr>
        <p:spPr>
          <a:xfrm>
            <a:off x="6590856" y="2335889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6" name="sp106"/>
          <p:cNvSpPr/>
          <p:nvPr/>
        </p:nvSpPr>
        <p:spPr>
          <a:xfrm>
            <a:off x="6600000" y="2329889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07" name="rect107"/>
          <p:cNvSpPr/>
          <p:nvPr/>
        </p:nvSpPr>
        <p:spPr>
          <a:xfrm>
            <a:off x="0" y="2456076"/>
            <a:ext cx="9144000" cy="12618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rect108"/>
          <p:cNvSpPr/>
          <p:nvPr/>
        </p:nvSpPr>
        <p:spPr>
          <a:xfrm>
            <a:off x="36576" y="2462076"/>
            <a:ext cx="585216" cy="114187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09" name="sp109"/>
          <p:cNvSpPr/>
          <p:nvPr/>
        </p:nvSpPr>
        <p:spPr>
          <a:xfrm>
            <a:off x="45720" y="2456076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FR-13</a:t>
            </a:r>
          </a:p>
        </p:txBody>
      </p:sp>
      <p:sp>
        <p:nvSpPr>
          <p:cNvPr id="110" name="sp110"/>
          <p:cNvSpPr/>
          <p:nvPr/>
        </p:nvSpPr>
        <p:spPr>
          <a:xfrm>
            <a:off x="640080" y="2456076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Remove Item</a:t>
            </a:r>
          </a:p>
        </p:txBody>
      </p:sp>
      <p:sp>
        <p:nvSpPr>
          <p:cNvPr id="111" name="sp111"/>
          <p:cNvSpPr/>
          <p:nvPr/>
        </p:nvSpPr>
        <p:spPr>
          <a:xfrm>
            <a:off x="2600000" y="2456076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remove cart items</a:t>
            </a:r>
          </a:p>
        </p:txBody>
      </p:sp>
      <p:sp>
        <p:nvSpPr>
          <p:cNvPr id="112" name="sp112"/>
          <p:cNvSpPr/>
          <p:nvPr/>
        </p:nvSpPr>
        <p:spPr>
          <a:xfrm>
            <a:off x="5200000" y="2456076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Cart</a:t>
            </a:r>
          </a:p>
        </p:txBody>
      </p:sp>
      <p:sp>
        <p:nvSpPr>
          <p:cNvPr id="113" name="rect113"/>
          <p:cNvSpPr/>
          <p:nvPr/>
        </p:nvSpPr>
        <p:spPr>
          <a:xfrm>
            <a:off x="6590856" y="2462076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4" name="sp114"/>
          <p:cNvSpPr/>
          <p:nvPr/>
        </p:nvSpPr>
        <p:spPr>
          <a:xfrm>
            <a:off x="6600000" y="2456076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15" name="rect115"/>
          <p:cNvSpPr/>
          <p:nvPr/>
        </p:nvSpPr>
        <p:spPr>
          <a:xfrm>
            <a:off x="0" y="2582263"/>
            <a:ext cx="9144000" cy="126187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16" name="rect116"/>
          <p:cNvSpPr/>
          <p:nvPr/>
        </p:nvSpPr>
        <p:spPr>
          <a:xfrm>
            <a:off x="36576" y="2588263"/>
            <a:ext cx="585216" cy="114187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17" name="sp117"/>
          <p:cNvSpPr/>
          <p:nvPr/>
        </p:nvSpPr>
        <p:spPr>
          <a:xfrm>
            <a:off x="45720" y="2582263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FR-14</a:t>
            </a:r>
          </a:p>
        </p:txBody>
      </p:sp>
      <p:sp>
        <p:nvSpPr>
          <p:cNvPr id="118" name="sp118"/>
          <p:cNvSpPr/>
          <p:nvPr/>
        </p:nvSpPr>
        <p:spPr>
          <a:xfrm>
            <a:off x="640080" y="2582263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Cart Persistence</a:t>
            </a:r>
          </a:p>
        </p:txBody>
      </p:sp>
      <p:sp>
        <p:nvSpPr>
          <p:cNvPr id="119" name="sp119"/>
          <p:cNvSpPr/>
          <p:nvPr/>
        </p:nvSpPr>
        <p:spPr>
          <a:xfrm>
            <a:off x="2600000" y="2582263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Cart data saved in Local Storage</a:t>
            </a:r>
          </a:p>
        </p:txBody>
      </p:sp>
      <p:sp>
        <p:nvSpPr>
          <p:cNvPr id="120" name="sp120"/>
          <p:cNvSpPr/>
          <p:nvPr/>
        </p:nvSpPr>
        <p:spPr>
          <a:xfrm>
            <a:off x="5200000" y="2582263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App.js</a:t>
            </a:r>
          </a:p>
        </p:txBody>
      </p:sp>
      <p:sp>
        <p:nvSpPr>
          <p:cNvPr id="121" name="rect121"/>
          <p:cNvSpPr/>
          <p:nvPr/>
        </p:nvSpPr>
        <p:spPr>
          <a:xfrm>
            <a:off x="6590856" y="2588263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2" name="sp122"/>
          <p:cNvSpPr/>
          <p:nvPr/>
        </p:nvSpPr>
        <p:spPr>
          <a:xfrm>
            <a:off x="6600000" y="2582263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23" name="rect123"/>
          <p:cNvSpPr/>
          <p:nvPr/>
        </p:nvSpPr>
        <p:spPr>
          <a:xfrm>
            <a:off x="0" y="2708450"/>
            <a:ext cx="9144000" cy="12618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4" name="rect124"/>
          <p:cNvSpPr/>
          <p:nvPr/>
        </p:nvSpPr>
        <p:spPr>
          <a:xfrm>
            <a:off x="36576" y="2714450"/>
            <a:ext cx="585216" cy="114187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125" name="sp125"/>
          <p:cNvSpPr/>
          <p:nvPr/>
        </p:nvSpPr>
        <p:spPr>
          <a:xfrm>
            <a:off x="45720" y="2708450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FR-15</a:t>
            </a:r>
          </a:p>
        </p:txBody>
      </p:sp>
      <p:sp>
        <p:nvSpPr>
          <p:cNvPr id="126" name="sp126"/>
          <p:cNvSpPr/>
          <p:nvPr/>
        </p:nvSpPr>
        <p:spPr>
          <a:xfrm>
            <a:off x="640080" y="2708450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Checkout</a:t>
            </a:r>
          </a:p>
        </p:txBody>
      </p:sp>
      <p:sp>
        <p:nvSpPr>
          <p:cNvPr id="127" name="sp127"/>
          <p:cNvSpPr/>
          <p:nvPr/>
        </p:nvSpPr>
        <p:spPr>
          <a:xfrm>
            <a:off x="2600000" y="2708450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place an order</a:t>
            </a:r>
          </a:p>
        </p:txBody>
      </p:sp>
      <p:sp>
        <p:nvSpPr>
          <p:cNvPr id="128" name="sp128"/>
          <p:cNvSpPr/>
          <p:nvPr/>
        </p:nvSpPr>
        <p:spPr>
          <a:xfrm>
            <a:off x="5200000" y="2708450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Checkout</a:t>
            </a:r>
          </a:p>
        </p:txBody>
      </p:sp>
      <p:sp>
        <p:nvSpPr>
          <p:cNvPr id="129" name="rect129"/>
          <p:cNvSpPr/>
          <p:nvPr/>
        </p:nvSpPr>
        <p:spPr>
          <a:xfrm>
            <a:off x="6590856" y="2714450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0" name="sp130"/>
          <p:cNvSpPr/>
          <p:nvPr/>
        </p:nvSpPr>
        <p:spPr>
          <a:xfrm>
            <a:off x="6600000" y="2708450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31" name="rect131"/>
          <p:cNvSpPr/>
          <p:nvPr/>
        </p:nvSpPr>
        <p:spPr>
          <a:xfrm>
            <a:off x="0" y="2834637"/>
            <a:ext cx="9144000" cy="126187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2" name="rect132"/>
          <p:cNvSpPr/>
          <p:nvPr/>
        </p:nvSpPr>
        <p:spPr>
          <a:xfrm>
            <a:off x="36576" y="2840637"/>
            <a:ext cx="585216" cy="114187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133" name="sp133"/>
          <p:cNvSpPr/>
          <p:nvPr/>
        </p:nvSpPr>
        <p:spPr>
          <a:xfrm>
            <a:off x="45720" y="2834637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FR-16</a:t>
            </a:r>
          </a:p>
        </p:txBody>
      </p:sp>
      <p:sp>
        <p:nvSpPr>
          <p:cNvPr id="134" name="sp134"/>
          <p:cNvSpPr/>
          <p:nvPr/>
        </p:nvSpPr>
        <p:spPr>
          <a:xfrm>
            <a:off x="640080" y="2834637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Payment Selection</a:t>
            </a:r>
          </a:p>
        </p:txBody>
      </p:sp>
      <p:sp>
        <p:nvSpPr>
          <p:cNvPr id="135" name="sp135"/>
          <p:cNvSpPr/>
          <p:nvPr/>
        </p:nvSpPr>
        <p:spPr>
          <a:xfrm>
            <a:off x="2600000" y="2834637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selects payment method</a:t>
            </a:r>
          </a:p>
        </p:txBody>
      </p:sp>
      <p:sp>
        <p:nvSpPr>
          <p:cNvPr id="136" name="sp136"/>
          <p:cNvSpPr/>
          <p:nvPr/>
        </p:nvSpPr>
        <p:spPr>
          <a:xfrm>
            <a:off x="5200000" y="2834637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Checkout</a:t>
            </a:r>
          </a:p>
        </p:txBody>
      </p:sp>
      <p:sp>
        <p:nvSpPr>
          <p:cNvPr id="137" name="rect137"/>
          <p:cNvSpPr/>
          <p:nvPr/>
        </p:nvSpPr>
        <p:spPr>
          <a:xfrm>
            <a:off x="6590856" y="2840637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8" name="sp138"/>
          <p:cNvSpPr/>
          <p:nvPr/>
        </p:nvSpPr>
        <p:spPr>
          <a:xfrm>
            <a:off x="6600000" y="2834637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39" name="rect139"/>
          <p:cNvSpPr/>
          <p:nvPr/>
        </p:nvSpPr>
        <p:spPr>
          <a:xfrm>
            <a:off x="0" y="2960824"/>
            <a:ext cx="9144000" cy="12618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0" name="rect140"/>
          <p:cNvSpPr/>
          <p:nvPr/>
        </p:nvSpPr>
        <p:spPr>
          <a:xfrm>
            <a:off x="36576" y="2966824"/>
            <a:ext cx="585216" cy="114187"/>
          </a:xfrm>
          <a:prstGeom prst="rect">
            <a:avLst/>
          </a:prstGeom>
          <a:solidFill>
            <a:srgbClr val="4E342E"/>
          </a:solidFill>
          <a:ln/>
        </p:spPr>
      </p:sp>
      <p:sp>
        <p:nvSpPr>
          <p:cNvPr id="141" name="sp141"/>
          <p:cNvSpPr/>
          <p:nvPr/>
        </p:nvSpPr>
        <p:spPr>
          <a:xfrm>
            <a:off x="45720" y="2960824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FR-17</a:t>
            </a:r>
          </a:p>
        </p:txBody>
      </p:sp>
      <p:sp>
        <p:nvSpPr>
          <p:cNvPr id="142" name="sp142"/>
          <p:cNvSpPr/>
          <p:nvPr/>
        </p:nvSpPr>
        <p:spPr>
          <a:xfrm>
            <a:off x="640080" y="2960824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Order Success</a:t>
            </a:r>
          </a:p>
        </p:txBody>
      </p:sp>
      <p:sp>
        <p:nvSpPr>
          <p:cNvPr id="143" name="sp143"/>
          <p:cNvSpPr/>
          <p:nvPr/>
        </p:nvSpPr>
        <p:spPr>
          <a:xfrm>
            <a:off x="2600000" y="2960824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Order confirmation page displayed</a:t>
            </a:r>
          </a:p>
        </p:txBody>
      </p:sp>
      <p:sp>
        <p:nvSpPr>
          <p:cNvPr id="144" name="sp144"/>
          <p:cNvSpPr/>
          <p:nvPr/>
        </p:nvSpPr>
        <p:spPr>
          <a:xfrm>
            <a:off x="5200000" y="2960824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OrderSuccess</a:t>
            </a:r>
          </a:p>
        </p:txBody>
      </p:sp>
      <p:sp>
        <p:nvSpPr>
          <p:cNvPr id="145" name="rect145"/>
          <p:cNvSpPr/>
          <p:nvPr/>
        </p:nvSpPr>
        <p:spPr>
          <a:xfrm>
            <a:off x="6590856" y="2966824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6" name="sp146"/>
          <p:cNvSpPr/>
          <p:nvPr/>
        </p:nvSpPr>
        <p:spPr>
          <a:xfrm>
            <a:off x="6600000" y="2960824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47" name="rect147"/>
          <p:cNvSpPr/>
          <p:nvPr/>
        </p:nvSpPr>
        <p:spPr>
          <a:xfrm>
            <a:off x="0" y="3087011"/>
            <a:ext cx="9144000" cy="126187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48" name="rect148"/>
          <p:cNvSpPr/>
          <p:nvPr/>
        </p:nvSpPr>
        <p:spPr>
          <a:xfrm>
            <a:off x="36576" y="3093011"/>
            <a:ext cx="585216" cy="114187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149" name="sp149"/>
          <p:cNvSpPr/>
          <p:nvPr/>
        </p:nvSpPr>
        <p:spPr>
          <a:xfrm>
            <a:off x="45720" y="3087011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FR-18</a:t>
            </a:r>
          </a:p>
        </p:txBody>
      </p:sp>
      <p:sp>
        <p:nvSpPr>
          <p:cNvPr id="150" name="sp150"/>
          <p:cNvSpPr/>
          <p:nvPr/>
        </p:nvSpPr>
        <p:spPr>
          <a:xfrm>
            <a:off x="640080" y="3087011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Order History</a:t>
            </a:r>
          </a:p>
        </p:txBody>
      </p:sp>
      <p:sp>
        <p:nvSpPr>
          <p:cNvPr id="151" name="sp151"/>
          <p:cNvSpPr/>
          <p:nvPr/>
        </p:nvSpPr>
        <p:spPr>
          <a:xfrm>
            <a:off x="2600000" y="3087011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view previous orders</a:t>
            </a:r>
          </a:p>
        </p:txBody>
      </p:sp>
      <p:sp>
        <p:nvSpPr>
          <p:cNvPr id="152" name="sp152"/>
          <p:cNvSpPr/>
          <p:nvPr/>
        </p:nvSpPr>
        <p:spPr>
          <a:xfrm>
            <a:off x="5200000" y="3087011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Orders</a:t>
            </a:r>
          </a:p>
        </p:txBody>
      </p:sp>
      <p:sp>
        <p:nvSpPr>
          <p:cNvPr id="153" name="rect153"/>
          <p:cNvSpPr/>
          <p:nvPr/>
        </p:nvSpPr>
        <p:spPr>
          <a:xfrm>
            <a:off x="6590856" y="3093011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4" name="sp154"/>
          <p:cNvSpPr/>
          <p:nvPr/>
        </p:nvSpPr>
        <p:spPr>
          <a:xfrm>
            <a:off x="6600000" y="3087011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55" name="rect155"/>
          <p:cNvSpPr/>
          <p:nvPr/>
        </p:nvSpPr>
        <p:spPr>
          <a:xfrm>
            <a:off x="0" y="3213198"/>
            <a:ext cx="9144000" cy="12618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rect156"/>
          <p:cNvSpPr/>
          <p:nvPr/>
        </p:nvSpPr>
        <p:spPr>
          <a:xfrm>
            <a:off x="36576" y="3219198"/>
            <a:ext cx="585216" cy="114187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157" name="sp157"/>
          <p:cNvSpPr/>
          <p:nvPr/>
        </p:nvSpPr>
        <p:spPr>
          <a:xfrm>
            <a:off x="45720" y="3213198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FR-19</a:t>
            </a:r>
          </a:p>
        </p:txBody>
      </p:sp>
      <p:sp>
        <p:nvSpPr>
          <p:cNvPr id="158" name="sp158"/>
          <p:cNvSpPr/>
          <p:nvPr/>
        </p:nvSpPr>
        <p:spPr>
          <a:xfrm>
            <a:off x="640080" y="3213198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Admin Dashboard</a:t>
            </a:r>
          </a:p>
        </p:txBody>
      </p:sp>
      <p:sp>
        <p:nvSpPr>
          <p:cNvPr id="159" name="sp159"/>
          <p:cNvSpPr/>
          <p:nvPr/>
        </p:nvSpPr>
        <p:spPr>
          <a:xfrm>
            <a:off x="2600000" y="3213198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Admin page available</a:t>
            </a:r>
          </a:p>
        </p:txBody>
      </p:sp>
      <p:sp>
        <p:nvSpPr>
          <p:cNvPr id="160" name="sp160"/>
          <p:cNvSpPr/>
          <p:nvPr/>
        </p:nvSpPr>
        <p:spPr>
          <a:xfrm>
            <a:off x="5200000" y="3213198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Admin</a:t>
            </a:r>
          </a:p>
        </p:txBody>
      </p:sp>
      <p:sp>
        <p:nvSpPr>
          <p:cNvPr id="161" name="rect161"/>
          <p:cNvSpPr/>
          <p:nvPr/>
        </p:nvSpPr>
        <p:spPr>
          <a:xfrm>
            <a:off x="6590856" y="3219198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2" name="sp162"/>
          <p:cNvSpPr/>
          <p:nvPr/>
        </p:nvSpPr>
        <p:spPr>
          <a:xfrm>
            <a:off x="6600000" y="3213198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63" name="rect163"/>
          <p:cNvSpPr/>
          <p:nvPr/>
        </p:nvSpPr>
        <p:spPr>
          <a:xfrm>
            <a:off x="0" y="3339385"/>
            <a:ext cx="9144000" cy="126187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4" name="rect164"/>
          <p:cNvSpPr/>
          <p:nvPr/>
        </p:nvSpPr>
        <p:spPr>
          <a:xfrm>
            <a:off x="36576" y="3345385"/>
            <a:ext cx="585216" cy="114187"/>
          </a:xfrm>
          <a:prstGeom prst="rect">
            <a:avLst/>
          </a:prstGeom>
          <a:solidFill>
            <a:srgbClr val="33691E"/>
          </a:solidFill>
          <a:ln/>
        </p:spPr>
      </p:sp>
      <p:sp>
        <p:nvSpPr>
          <p:cNvPr id="165" name="sp165"/>
          <p:cNvSpPr/>
          <p:nvPr/>
        </p:nvSpPr>
        <p:spPr>
          <a:xfrm>
            <a:off x="45720" y="3339385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FR-20</a:t>
            </a:r>
          </a:p>
        </p:txBody>
      </p:sp>
      <p:sp>
        <p:nvSpPr>
          <p:cNvPr id="166" name="sp166"/>
          <p:cNvSpPr/>
          <p:nvPr/>
        </p:nvSpPr>
        <p:spPr>
          <a:xfrm>
            <a:off x="640080" y="3339385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Add Food</a:t>
            </a:r>
          </a:p>
        </p:txBody>
      </p:sp>
      <p:sp>
        <p:nvSpPr>
          <p:cNvPr id="167" name="sp167"/>
          <p:cNvSpPr/>
          <p:nvPr/>
        </p:nvSpPr>
        <p:spPr>
          <a:xfrm>
            <a:off x="2600000" y="3339385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Admin can add food items</a:t>
            </a:r>
          </a:p>
        </p:txBody>
      </p:sp>
      <p:sp>
        <p:nvSpPr>
          <p:cNvPr id="168" name="sp168"/>
          <p:cNvSpPr/>
          <p:nvPr/>
        </p:nvSpPr>
        <p:spPr>
          <a:xfrm>
            <a:off x="5200000" y="3339385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Admin</a:t>
            </a:r>
          </a:p>
        </p:txBody>
      </p:sp>
      <p:sp>
        <p:nvSpPr>
          <p:cNvPr id="169" name="rect169"/>
          <p:cNvSpPr/>
          <p:nvPr/>
        </p:nvSpPr>
        <p:spPr>
          <a:xfrm>
            <a:off x="6590856" y="3345385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0" name="sp170"/>
          <p:cNvSpPr/>
          <p:nvPr/>
        </p:nvSpPr>
        <p:spPr>
          <a:xfrm>
            <a:off x="6600000" y="3339385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71" name="rect171"/>
          <p:cNvSpPr/>
          <p:nvPr/>
        </p:nvSpPr>
        <p:spPr>
          <a:xfrm>
            <a:off x="0" y="5404104"/>
            <a:ext cx="9144000" cy="1371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2" name="rect172"/>
          <p:cNvSpPr/>
          <p:nvPr/>
        </p:nvSpPr>
        <p:spPr>
          <a:xfrm>
            <a:off x="228600" y="5422392"/>
            <a:ext cx="91440" cy="10058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3" name="sp173"/>
          <p:cNvSpPr/>
          <p:nvPr/>
        </p:nvSpPr>
        <p:spPr>
          <a:xfrm>
            <a:off x="342900" y="5404104"/>
            <a:ext cx="685800" cy="13716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74" name="rect174"/>
          <p:cNvSpPr/>
          <p:nvPr/>
        </p:nvSpPr>
        <p:spPr>
          <a:xfrm>
            <a:off x="1143000" y="5422392"/>
            <a:ext cx="91440" cy="100584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175" name="sp175"/>
          <p:cNvSpPr/>
          <p:nvPr/>
        </p:nvSpPr>
        <p:spPr>
          <a:xfrm>
            <a:off x="1257300" y="5404104"/>
            <a:ext cx="685800" cy="13716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FFFFFF"/>
                </a:solidFill>
                <a:latin typeface="Arial" pitchFamily="34" charset="0"/>
              </a:rPr>
              <a:t>Partial</a:t>
            </a:r>
          </a:p>
        </p:txBody>
      </p:sp>
      <p:sp>
        <p:nvSpPr>
          <p:cNvPr id="176" name="rect176"/>
          <p:cNvSpPr/>
          <p:nvPr/>
        </p:nvSpPr>
        <p:spPr>
          <a:xfrm>
            <a:off x="2057400" y="5422392"/>
            <a:ext cx="91440" cy="10058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7" name="sp177"/>
          <p:cNvSpPr/>
          <p:nvPr/>
        </p:nvSpPr>
        <p:spPr>
          <a:xfrm>
            <a:off x="2171700" y="5404104"/>
            <a:ext cx="685800" cy="13716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FFFFFF"/>
                </a:solidFill>
                <a:latin typeface="Arial" pitchFamily="34" charset="0"/>
              </a:rPr>
              <a:t>Planned</a:t>
            </a:r>
          </a:p>
        </p:txBody>
      </p:sp>
      <p:sp>
        <p:nvSpPr>
          <p:cNvPr id="178" name="sp178"/>
          <p:cNvSpPr/>
          <p:nvPr/>
        </p:nvSpPr>
        <p:spPr>
          <a:xfrm>
            <a:off x="6858000" y="5404104"/>
            <a:ext cx="2194560" cy="13716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C107"/>
                </a:solidFill>
                <a:latin typeface="Arial" pitchFamily="34" charset="0"/>
              </a:rPr>
              <a:t>Total: 37 Requirements</a:t>
            </a:r>
          </a:p>
        </p:txBody>
      </p:sp>
      <p:sp>
        <p:nvSpPr>
          <p:cNvPr id="179" name="rect179"/>
          <p:cNvSpPr/>
          <p:nvPr/>
        </p:nvSpPr>
        <p:spPr>
          <a:xfrm>
            <a:off x="630936" y="667512"/>
            <a:ext cx="9144" cy="46908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0" name="rect180"/>
          <p:cNvSpPr/>
          <p:nvPr/>
        </p:nvSpPr>
        <p:spPr>
          <a:xfrm>
            <a:off x="2590856" y="667512"/>
            <a:ext cx="9144" cy="46908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1" name="rect181"/>
          <p:cNvSpPr/>
          <p:nvPr/>
        </p:nvSpPr>
        <p:spPr>
          <a:xfrm>
            <a:off x="5190856" y="667512"/>
            <a:ext cx="9144" cy="46908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2" name="rect182"/>
          <p:cNvSpPr/>
          <p:nvPr/>
        </p:nvSpPr>
        <p:spPr>
          <a:xfrm>
            <a:off x="6590856" y="667512"/>
            <a:ext cx="9144" cy="4690872"/>
          </a:xfrm>
          <a:prstGeom prst="rect">
            <a:avLst/>
          </a:prstGeom>
          <a:solidFill>
            <a:srgbClr val="DDDDDD"/>
          </a:solidFill>
          <a:ln/>
        </p:spPr>
      </p:sp>
    </p:spTree>
  </p:cSld>
  <p:clrMapOvr>
    <a:masterClr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p3"/>
          <p:cNvSpPr/>
          <p:nvPr/>
        </p:nvSpPr>
        <p:spPr>
          <a:xfrm>
            <a:off x="228600" y="0"/>
            <a:ext cx="6858000" cy="658368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</a:rPr>
              <a:t>REQUIREMENTS TRACEABILITY MATRIX (RTM)</a:t>
            </a:r>
          </a:p>
        </p:txBody>
      </p:sp>
      <p:sp>
        <p:nvSpPr>
          <p:cNvPr id="4" name="sp4"/>
          <p:cNvSpPr/>
          <p:nvPr/>
        </p:nvSpPr>
        <p:spPr>
          <a:xfrm>
            <a:off x="6858000" y="0"/>
            <a:ext cx="2194560" cy="658368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r">
              <a:buNone/>
            </a:pPr>
            <a:r>
              <a:rPr lang="en-US" sz="800" b="0" dirty="0">
                <a:solidFill>
                  <a:srgbClr val="FFC107"/>
                </a:solidFill>
                <a:latin typeface="Arial" pitchFamily="34" charset="0"/>
              </a:rPr>
              <a:t>FOODIE  ·  Part 2 of 2  —  FR-21 to FR-30 + NFR</a:t>
            </a:r>
          </a:p>
        </p:txBody>
      </p:sp>
      <p:sp>
        <p:nvSpPr>
          <p:cNvPr id="5" name="rect5"/>
          <p:cNvSpPr/>
          <p:nvPr/>
        </p:nvSpPr>
        <p:spPr>
          <a:xfrm>
            <a:off x="0" y="667512"/>
            <a:ext cx="9144000" cy="274320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6" name="sp6"/>
          <p:cNvSpPr/>
          <p:nvPr/>
        </p:nvSpPr>
        <p:spPr>
          <a:xfrm>
            <a:off x="45720" y="667512"/>
            <a:ext cx="566928" cy="27432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</a:rPr>
              <a:t>Req ID</a:t>
            </a:r>
          </a:p>
        </p:txBody>
      </p:sp>
      <p:sp>
        <p:nvSpPr>
          <p:cNvPr id="7" name="sp7"/>
          <p:cNvSpPr/>
          <p:nvPr/>
        </p:nvSpPr>
        <p:spPr>
          <a:xfrm>
            <a:off x="640080" y="667512"/>
            <a:ext cx="1900000" cy="27432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</a:rPr>
              <a:t>Requirement</a:t>
            </a:r>
          </a:p>
        </p:txBody>
      </p:sp>
      <p:sp>
        <p:nvSpPr>
          <p:cNvPr id="8" name="sp8"/>
          <p:cNvSpPr/>
          <p:nvPr/>
        </p:nvSpPr>
        <p:spPr>
          <a:xfrm>
            <a:off x="2600000" y="667512"/>
            <a:ext cx="2500000" cy="27432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</a:rPr>
              <a:t>Description</a:t>
            </a:r>
          </a:p>
        </p:txBody>
      </p:sp>
      <p:sp>
        <p:nvSpPr>
          <p:cNvPr id="9" name="sp9"/>
          <p:cNvSpPr/>
          <p:nvPr/>
        </p:nvSpPr>
        <p:spPr>
          <a:xfrm>
            <a:off x="5200000" y="667512"/>
            <a:ext cx="1300000" cy="27432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</a:rPr>
              <a:t>Module/Page</a:t>
            </a:r>
          </a:p>
        </p:txBody>
      </p:sp>
      <p:sp>
        <p:nvSpPr>
          <p:cNvPr id="10" name="sp10"/>
          <p:cNvSpPr/>
          <p:nvPr/>
        </p:nvSpPr>
        <p:spPr>
          <a:xfrm>
            <a:off x="6600000" y="667512"/>
            <a:ext cx="2100000" cy="27432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</a:rPr>
              <a:t>Status</a:t>
            </a:r>
          </a:p>
        </p:txBody>
      </p:sp>
      <p:sp>
        <p:nvSpPr>
          <p:cNvPr id="11" name="rect11"/>
          <p:cNvSpPr/>
          <p:nvPr/>
        </p:nvSpPr>
        <p:spPr>
          <a:xfrm>
            <a:off x="0" y="941832"/>
            <a:ext cx="9144000" cy="12618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" name="rect12"/>
          <p:cNvSpPr/>
          <p:nvPr/>
        </p:nvSpPr>
        <p:spPr>
          <a:xfrm>
            <a:off x="36576" y="947832"/>
            <a:ext cx="585216" cy="114187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3" name="sp13"/>
          <p:cNvSpPr/>
          <p:nvPr/>
        </p:nvSpPr>
        <p:spPr>
          <a:xfrm>
            <a:off x="45720" y="941832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FR-21</a:t>
            </a:r>
          </a:p>
        </p:txBody>
      </p:sp>
      <p:sp>
        <p:nvSpPr>
          <p:cNvPr id="14" name="sp14"/>
          <p:cNvSpPr/>
          <p:nvPr/>
        </p:nvSpPr>
        <p:spPr>
          <a:xfrm>
            <a:off x="640080" y="941832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Edit Food</a:t>
            </a:r>
          </a:p>
        </p:txBody>
      </p:sp>
      <p:sp>
        <p:nvSpPr>
          <p:cNvPr id="15" name="sp15"/>
          <p:cNvSpPr/>
          <p:nvPr/>
        </p:nvSpPr>
        <p:spPr>
          <a:xfrm>
            <a:off x="2600000" y="941832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Admin can modify food details</a:t>
            </a:r>
          </a:p>
        </p:txBody>
      </p:sp>
      <p:sp>
        <p:nvSpPr>
          <p:cNvPr id="16" name="sp16"/>
          <p:cNvSpPr/>
          <p:nvPr/>
        </p:nvSpPr>
        <p:spPr>
          <a:xfrm>
            <a:off x="5200000" y="941832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Admin</a:t>
            </a:r>
          </a:p>
        </p:txBody>
      </p:sp>
      <p:sp>
        <p:nvSpPr>
          <p:cNvPr id="17" name="rect17"/>
          <p:cNvSpPr/>
          <p:nvPr/>
        </p:nvSpPr>
        <p:spPr>
          <a:xfrm>
            <a:off x="6590856" y="947832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sp18"/>
          <p:cNvSpPr/>
          <p:nvPr/>
        </p:nvSpPr>
        <p:spPr>
          <a:xfrm>
            <a:off x="6600000" y="941832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9" name="rect19"/>
          <p:cNvSpPr/>
          <p:nvPr/>
        </p:nvSpPr>
        <p:spPr>
          <a:xfrm>
            <a:off x="0" y="1068019"/>
            <a:ext cx="9144000" cy="126187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rect20"/>
          <p:cNvSpPr/>
          <p:nvPr/>
        </p:nvSpPr>
        <p:spPr>
          <a:xfrm>
            <a:off x="36576" y="1074019"/>
            <a:ext cx="585216" cy="114187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sp21"/>
          <p:cNvSpPr/>
          <p:nvPr/>
        </p:nvSpPr>
        <p:spPr>
          <a:xfrm>
            <a:off x="45720" y="1068019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FR-22</a:t>
            </a:r>
          </a:p>
        </p:txBody>
      </p:sp>
      <p:sp>
        <p:nvSpPr>
          <p:cNvPr id="22" name="sp22"/>
          <p:cNvSpPr/>
          <p:nvPr/>
        </p:nvSpPr>
        <p:spPr>
          <a:xfrm>
            <a:off x="640080" y="1068019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Delete Food</a:t>
            </a:r>
          </a:p>
        </p:txBody>
      </p:sp>
      <p:sp>
        <p:nvSpPr>
          <p:cNvPr id="23" name="sp23"/>
          <p:cNvSpPr/>
          <p:nvPr/>
        </p:nvSpPr>
        <p:spPr>
          <a:xfrm>
            <a:off x="2600000" y="1068019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Admin can remove food items</a:t>
            </a:r>
          </a:p>
        </p:txBody>
      </p:sp>
      <p:sp>
        <p:nvSpPr>
          <p:cNvPr id="24" name="sp24"/>
          <p:cNvSpPr/>
          <p:nvPr/>
        </p:nvSpPr>
        <p:spPr>
          <a:xfrm>
            <a:off x="5200000" y="1068019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Admin</a:t>
            </a:r>
          </a:p>
        </p:txBody>
      </p:sp>
      <p:sp>
        <p:nvSpPr>
          <p:cNvPr id="25" name="rect25"/>
          <p:cNvSpPr/>
          <p:nvPr/>
        </p:nvSpPr>
        <p:spPr>
          <a:xfrm>
            <a:off x="6590856" y="1074019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6" name="sp26"/>
          <p:cNvSpPr/>
          <p:nvPr/>
        </p:nvSpPr>
        <p:spPr>
          <a:xfrm>
            <a:off x="6600000" y="1068019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27" name="rect27"/>
          <p:cNvSpPr/>
          <p:nvPr/>
        </p:nvSpPr>
        <p:spPr>
          <a:xfrm>
            <a:off x="0" y="1194206"/>
            <a:ext cx="9144000" cy="12618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8" name="rect28"/>
          <p:cNvSpPr/>
          <p:nvPr/>
        </p:nvSpPr>
        <p:spPr>
          <a:xfrm>
            <a:off x="36576" y="1200206"/>
            <a:ext cx="585216" cy="114187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9" name="sp29"/>
          <p:cNvSpPr/>
          <p:nvPr/>
        </p:nvSpPr>
        <p:spPr>
          <a:xfrm>
            <a:off x="45720" y="1194206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FR-23</a:t>
            </a:r>
          </a:p>
        </p:txBody>
      </p:sp>
      <p:sp>
        <p:nvSpPr>
          <p:cNvPr id="30" name="sp30"/>
          <p:cNvSpPr/>
          <p:nvPr/>
        </p:nvSpPr>
        <p:spPr>
          <a:xfrm>
            <a:off x="640080" y="1194206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Food Persistence</a:t>
            </a:r>
          </a:p>
        </p:txBody>
      </p:sp>
      <p:sp>
        <p:nvSpPr>
          <p:cNvPr id="31" name="sp31"/>
          <p:cNvSpPr/>
          <p:nvPr/>
        </p:nvSpPr>
        <p:spPr>
          <a:xfrm>
            <a:off x="2600000" y="1194206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Food data saved in Local Storage</a:t>
            </a:r>
          </a:p>
        </p:txBody>
      </p:sp>
      <p:sp>
        <p:nvSpPr>
          <p:cNvPr id="32" name="sp32"/>
          <p:cNvSpPr/>
          <p:nvPr/>
        </p:nvSpPr>
        <p:spPr>
          <a:xfrm>
            <a:off x="5200000" y="1194206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Admin/Home</a:t>
            </a:r>
          </a:p>
        </p:txBody>
      </p:sp>
      <p:sp>
        <p:nvSpPr>
          <p:cNvPr id="33" name="rect33"/>
          <p:cNvSpPr/>
          <p:nvPr/>
        </p:nvSpPr>
        <p:spPr>
          <a:xfrm>
            <a:off x="6590856" y="1200206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4" name="sp34"/>
          <p:cNvSpPr/>
          <p:nvPr/>
        </p:nvSpPr>
        <p:spPr>
          <a:xfrm>
            <a:off x="6600000" y="1194206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35" name="rect35"/>
          <p:cNvSpPr/>
          <p:nvPr/>
        </p:nvSpPr>
        <p:spPr>
          <a:xfrm>
            <a:off x="0" y="1320393"/>
            <a:ext cx="9144000" cy="126187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6" name="rect36"/>
          <p:cNvSpPr/>
          <p:nvPr/>
        </p:nvSpPr>
        <p:spPr>
          <a:xfrm>
            <a:off x="36576" y="1326393"/>
            <a:ext cx="585216" cy="114187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7" name="sp37"/>
          <p:cNvSpPr/>
          <p:nvPr/>
        </p:nvSpPr>
        <p:spPr>
          <a:xfrm>
            <a:off x="45720" y="1320393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FR-24</a:t>
            </a:r>
          </a:p>
        </p:txBody>
      </p:sp>
      <p:sp>
        <p:nvSpPr>
          <p:cNvPr id="38" name="sp38"/>
          <p:cNvSpPr/>
          <p:nvPr/>
        </p:nvSpPr>
        <p:spPr>
          <a:xfrm>
            <a:off x="640080" y="1320393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Dynamic Food Display</a:t>
            </a:r>
          </a:p>
        </p:txBody>
      </p:sp>
      <p:sp>
        <p:nvSpPr>
          <p:cNvPr id="39" name="sp39"/>
          <p:cNvSpPr/>
          <p:nvPr/>
        </p:nvSpPr>
        <p:spPr>
          <a:xfrm>
            <a:off x="2600000" y="1320393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New foods appear automatically on Home page</a:t>
            </a:r>
          </a:p>
        </p:txBody>
      </p:sp>
      <p:sp>
        <p:nvSpPr>
          <p:cNvPr id="40" name="sp40"/>
          <p:cNvSpPr/>
          <p:nvPr/>
        </p:nvSpPr>
        <p:spPr>
          <a:xfrm>
            <a:off x="5200000" y="1320393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Home/Admin</a:t>
            </a:r>
          </a:p>
        </p:txBody>
      </p:sp>
      <p:sp>
        <p:nvSpPr>
          <p:cNvPr id="41" name="rect41"/>
          <p:cNvSpPr/>
          <p:nvPr/>
        </p:nvSpPr>
        <p:spPr>
          <a:xfrm>
            <a:off x="6590856" y="1326393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2" name="sp42"/>
          <p:cNvSpPr/>
          <p:nvPr/>
        </p:nvSpPr>
        <p:spPr>
          <a:xfrm>
            <a:off x="6600000" y="1320393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43" name="rect43"/>
          <p:cNvSpPr/>
          <p:nvPr/>
        </p:nvSpPr>
        <p:spPr>
          <a:xfrm>
            <a:off x="0" y="1446580"/>
            <a:ext cx="9144000" cy="12618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4" name="rect44"/>
          <p:cNvSpPr/>
          <p:nvPr/>
        </p:nvSpPr>
        <p:spPr>
          <a:xfrm>
            <a:off x="36576" y="1452580"/>
            <a:ext cx="585216" cy="114187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45" name="sp45"/>
          <p:cNvSpPr/>
          <p:nvPr/>
        </p:nvSpPr>
        <p:spPr>
          <a:xfrm>
            <a:off x="45720" y="1446580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FR-25</a:t>
            </a:r>
          </a:p>
        </p:txBody>
      </p:sp>
      <p:sp>
        <p:nvSpPr>
          <p:cNvPr id="46" name="sp46"/>
          <p:cNvSpPr/>
          <p:nvPr/>
        </p:nvSpPr>
        <p:spPr>
          <a:xfrm>
            <a:off x="640080" y="1446580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Restaurant Browsing</a:t>
            </a:r>
          </a:p>
        </p:txBody>
      </p:sp>
      <p:sp>
        <p:nvSpPr>
          <p:cNvPr id="47" name="sp47"/>
          <p:cNvSpPr/>
          <p:nvPr/>
        </p:nvSpPr>
        <p:spPr>
          <a:xfrm>
            <a:off x="2600000" y="1446580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browse restaurants</a:t>
            </a:r>
          </a:p>
        </p:txBody>
      </p:sp>
      <p:sp>
        <p:nvSpPr>
          <p:cNvPr id="48" name="sp48"/>
          <p:cNvSpPr/>
          <p:nvPr/>
        </p:nvSpPr>
        <p:spPr>
          <a:xfrm>
            <a:off x="5200000" y="1446580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Home</a:t>
            </a:r>
          </a:p>
        </p:txBody>
      </p:sp>
      <p:sp>
        <p:nvSpPr>
          <p:cNvPr id="49" name="rect49"/>
          <p:cNvSpPr/>
          <p:nvPr/>
        </p:nvSpPr>
        <p:spPr>
          <a:xfrm>
            <a:off x="6590856" y="1452580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0" name="sp50"/>
          <p:cNvSpPr/>
          <p:nvPr/>
        </p:nvSpPr>
        <p:spPr>
          <a:xfrm>
            <a:off x="6600000" y="1446580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51" name="rect51"/>
          <p:cNvSpPr/>
          <p:nvPr/>
        </p:nvSpPr>
        <p:spPr>
          <a:xfrm>
            <a:off x="0" y="1572767"/>
            <a:ext cx="9144000" cy="126187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2" name="rect52"/>
          <p:cNvSpPr/>
          <p:nvPr/>
        </p:nvSpPr>
        <p:spPr>
          <a:xfrm>
            <a:off x="36576" y="1578767"/>
            <a:ext cx="585216" cy="114187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53" name="sp53"/>
          <p:cNvSpPr/>
          <p:nvPr/>
        </p:nvSpPr>
        <p:spPr>
          <a:xfrm>
            <a:off x="45720" y="1572767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FR-26</a:t>
            </a:r>
          </a:p>
        </p:txBody>
      </p:sp>
      <p:sp>
        <p:nvSpPr>
          <p:cNvPr id="54" name="sp54"/>
          <p:cNvSpPr/>
          <p:nvPr/>
        </p:nvSpPr>
        <p:spPr>
          <a:xfrm>
            <a:off x="640080" y="1572767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Delivery Services</a:t>
            </a:r>
          </a:p>
        </p:txBody>
      </p:sp>
      <p:sp>
        <p:nvSpPr>
          <p:cNvPr id="55" name="sp55"/>
          <p:cNvSpPr/>
          <p:nvPr/>
        </p:nvSpPr>
        <p:spPr>
          <a:xfrm>
            <a:off x="2600000" y="1572767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view delivery services</a:t>
            </a:r>
          </a:p>
        </p:txBody>
      </p:sp>
      <p:sp>
        <p:nvSpPr>
          <p:cNvPr id="56" name="sp56"/>
          <p:cNvSpPr/>
          <p:nvPr/>
        </p:nvSpPr>
        <p:spPr>
          <a:xfrm>
            <a:off x="5200000" y="1572767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Home</a:t>
            </a:r>
          </a:p>
        </p:txBody>
      </p:sp>
      <p:sp>
        <p:nvSpPr>
          <p:cNvPr id="57" name="rect57"/>
          <p:cNvSpPr/>
          <p:nvPr/>
        </p:nvSpPr>
        <p:spPr>
          <a:xfrm>
            <a:off x="6590856" y="1578767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8" name="sp58"/>
          <p:cNvSpPr/>
          <p:nvPr/>
        </p:nvSpPr>
        <p:spPr>
          <a:xfrm>
            <a:off x="6600000" y="1572767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59" name="rect59"/>
          <p:cNvSpPr/>
          <p:nvPr/>
        </p:nvSpPr>
        <p:spPr>
          <a:xfrm>
            <a:off x="0" y="1698954"/>
            <a:ext cx="9144000" cy="12618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0" name="rect60"/>
          <p:cNvSpPr/>
          <p:nvPr/>
        </p:nvSpPr>
        <p:spPr>
          <a:xfrm>
            <a:off x="36576" y="1704954"/>
            <a:ext cx="585216" cy="114187"/>
          </a:xfrm>
          <a:prstGeom prst="rect">
            <a:avLst/>
          </a:prstGeom>
          <a:solidFill>
            <a:srgbClr val="4E342E"/>
          </a:solidFill>
          <a:ln/>
        </p:spPr>
      </p:sp>
      <p:sp>
        <p:nvSpPr>
          <p:cNvPr id="61" name="sp61"/>
          <p:cNvSpPr/>
          <p:nvPr/>
        </p:nvSpPr>
        <p:spPr>
          <a:xfrm>
            <a:off x="45720" y="1698954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FR-27</a:t>
            </a:r>
          </a:p>
        </p:txBody>
      </p:sp>
      <p:sp>
        <p:nvSpPr>
          <p:cNvPr id="62" name="sp62"/>
          <p:cNvSpPr/>
          <p:nvPr/>
        </p:nvSpPr>
        <p:spPr>
          <a:xfrm>
            <a:off x="640080" y="1698954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Delivery Partners</a:t>
            </a:r>
          </a:p>
        </p:txBody>
      </p:sp>
      <p:sp>
        <p:nvSpPr>
          <p:cNvPr id="63" name="sp63"/>
          <p:cNvSpPr/>
          <p:nvPr/>
        </p:nvSpPr>
        <p:spPr>
          <a:xfrm>
            <a:off x="2600000" y="1698954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view delivery network information</a:t>
            </a:r>
          </a:p>
        </p:txBody>
      </p:sp>
      <p:sp>
        <p:nvSpPr>
          <p:cNvPr id="64" name="sp64"/>
          <p:cNvSpPr/>
          <p:nvPr/>
        </p:nvSpPr>
        <p:spPr>
          <a:xfrm>
            <a:off x="5200000" y="1698954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Home</a:t>
            </a:r>
          </a:p>
        </p:txBody>
      </p:sp>
      <p:sp>
        <p:nvSpPr>
          <p:cNvPr id="65" name="rect65"/>
          <p:cNvSpPr/>
          <p:nvPr/>
        </p:nvSpPr>
        <p:spPr>
          <a:xfrm>
            <a:off x="6590856" y="1704954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6" name="sp66"/>
          <p:cNvSpPr/>
          <p:nvPr/>
        </p:nvSpPr>
        <p:spPr>
          <a:xfrm>
            <a:off x="6600000" y="1698954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67" name="rect67"/>
          <p:cNvSpPr/>
          <p:nvPr/>
        </p:nvSpPr>
        <p:spPr>
          <a:xfrm>
            <a:off x="0" y="1825141"/>
            <a:ext cx="9144000" cy="126187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8" name="rect68"/>
          <p:cNvSpPr/>
          <p:nvPr/>
        </p:nvSpPr>
        <p:spPr>
          <a:xfrm>
            <a:off x="36576" y="1831141"/>
            <a:ext cx="585216" cy="114187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69" name="sp69"/>
          <p:cNvSpPr/>
          <p:nvPr/>
        </p:nvSpPr>
        <p:spPr>
          <a:xfrm>
            <a:off x="45720" y="1825141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FR-28</a:t>
            </a:r>
          </a:p>
        </p:txBody>
      </p:sp>
      <p:sp>
        <p:nvSpPr>
          <p:cNvPr id="70" name="sp70"/>
          <p:cNvSpPr/>
          <p:nvPr/>
        </p:nvSpPr>
        <p:spPr>
          <a:xfrm>
            <a:off x="640080" y="1825141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Special Offers</a:t>
            </a:r>
          </a:p>
        </p:txBody>
      </p:sp>
      <p:sp>
        <p:nvSpPr>
          <p:cNvPr id="71" name="sp71"/>
          <p:cNvSpPr/>
          <p:nvPr/>
        </p:nvSpPr>
        <p:spPr>
          <a:xfrm>
            <a:off x="2600000" y="1825141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view promotional offers</a:t>
            </a:r>
          </a:p>
        </p:txBody>
      </p:sp>
      <p:sp>
        <p:nvSpPr>
          <p:cNvPr id="72" name="sp72"/>
          <p:cNvSpPr/>
          <p:nvPr/>
        </p:nvSpPr>
        <p:spPr>
          <a:xfrm>
            <a:off x="5200000" y="1825141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Home</a:t>
            </a:r>
          </a:p>
        </p:txBody>
      </p:sp>
      <p:sp>
        <p:nvSpPr>
          <p:cNvPr id="73" name="rect73"/>
          <p:cNvSpPr/>
          <p:nvPr/>
        </p:nvSpPr>
        <p:spPr>
          <a:xfrm>
            <a:off x="6590856" y="1831141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4" name="sp74"/>
          <p:cNvSpPr/>
          <p:nvPr/>
        </p:nvSpPr>
        <p:spPr>
          <a:xfrm>
            <a:off x="6600000" y="1825141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75" name="rect75"/>
          <p:cNvSpPr/>
          <p:nvPr/>
        </p:nvSpPr>
        <p:spPr>
          <a:xfrm>
            <a:off x="0" y="1951328"/>
            <a:ext cx="9144000" cy="12618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6" name="rect76"/>
          <p:cNvSpPr/>
          <p:nvPr/>
        </p:nvSpPr>
        <p:spPr>
          <a:xfrm>
            <a:off x="36576" y="1957328"/>
            <a:ext cx="585216" cy="114187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77" name="sp77"/>
          <p:cNvSpPr/>
          <p:nvPr/>
        </p:nvSpPr>
        <p:spPr>
          <a:xfrm>
            <a:off x="45720" y="1951328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FR-29</a:t>
            </a:r>
          </a:p>
        </p:txBody>
      </p:sp>
      <p:sp>
        <p:nvSpPr>
          <p:cNvPr id="78" name="sp78"/>
          <p:cNvSpPr/>
          <p:nvPr/>
        </p:nvSpPr>
        <p:spPr>
          <a:xfrm>
            <a:off x="640080" y="1951328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Customer Reviews</a:t>
            </a:r>
          </a:p>
        </p:txBody>
      </p:sp>
      <p:sp>
        <p:nvSpPr>
          <p:cNvPr id="79" name="sp79"/>
          <p:cNvSpPr/>
          <p:nvPr/>
        </p:nvSpPr>
        <p:spPr>
          <a:xfrm>
            <a:off x="2600000" y="1951328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view testimonials</a:t>
            </a:r>
          </a:p>
        </p:txBody>
      </p:sp>
      <p:sp>
        <p:nvSpPr>
          <p:cNvPr id="80" name="sp80"/>
          <p:cNvSpPr/>
          <p:nvPr/>
        </p:nvSpPr>
        <p:spPr>
          <a:xfrm>
            <a:off x="5200000" y="1951328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Home</a:t>
            </a:r>
          </a:p>
        </p:txBody>
      </p:sp>
      <p:sp>
        <p:nvSpPr>
          <p:cNvPr id="81" name="rect81"/>
          <p:cNvSpPr/>
          <p:nvPr/>
        </p:nvSpPr>
        <p:spPr>
          <a:xfrm>
            <a:off x="6590856" y="1957328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2" name="sp82"/>
          <p:cNvSpPr/>
          <p:nvPr/>
        </p:nvSpPr>
        <p:spPr>
          <a:xfrm>
            <a:off x="6600000" y="1951328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83" name="rect83"/>
          <p:cNvSpPr/>
          <p:nvPr/>
        </p:nvSpPr>
        <p:spPr>
          <a:xfrm>
            <a:off x="0" y="2077515"/>
            <a:ext cx="9144000" cy="126187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84" name="rect84"/>
          <p:cNvSpPr/>
          <p:nvPr/>
        </p:nvSpPr>
        <p:spPr>
          <a:xfrm>
            <a:off x="36576" y="2083515"/>
            <a:ext cx="585216" cy="114187"/>
          </a:xfrm>
          <a:prstGeom prst="rect">
            <a:avLst/>
          </a:prstGeom>
          <a:solidFill>
            <a:srgbClr val="33691E"/>
          </a:solidFill>
          <a:ln/>
        </p:spPr>
      </p:sp>
      <p:sp>
        <p:nvSpPr>
          <p:cNvPr id="85" name="sp85"/>
          <p:cNvSpPr/>
          <p:nvPr/>
        </p:nvSpPr>
        <p:spPr>
          <a:xfrm>
            <a:off x="45720" y="2077515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FR-30</a:t>
            </a:r>
          </a:p>
        </p:txBody>
      </p:sp>
      <p:sp>
        <p:nvSpPr>
          <p:cNvPr id="86" name="sp86"/>
          <p:cNvSpPr/>
          <p:nvPr/>
        </p:nvSpPr>
        <p:spPr>
          <a:xfrm>
            <a:off x="640080" y="2077515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Responsive Design</a:t>
            </a:r>
          </a:p>
        </p:txBody>
      </p:sp>
      <p:sp>
        <p:nvSpPr>
          <p:cNvPr id="87" name="sp87"/>
          <p:cNvSpPr/>
          <p:nvPr/>
        </p:nvSpPr>
        <p:spPr>
          <a:xfrm>
            <a:off x="2600000" y="2077515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Website adapts to mobile and desktop screens</a:t>
            </a:r>
          </a:p>
        </p:txBody>
      </p:sp>
      <p:sp>
        <p:nvSpPr>
          <p:cNvPr id="88" name="sp88"/>
          <p:cNvSpPr/>
          <p:nvPr/>
        </p:nvSpPr>
        <p:spPr>
          <a:xfrm>
            <a:off x="5200000" y="2077515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All Pages</a:t>
            </a:r>
          </a:p>
        </p:txBody>
      </p:sp>
      <p:sp>
        <p:nvSpPr>
          <p:cNvPr id="89" name="rect89"/>
          <p:cNvSpPr/>
          <p:nvPr/>
        </p:nvSpPr>
        <p:spPr>
          <a:xfrm>
            <a:off x="6590856" y="2083515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0" name="sp90"/>
          <p:cNvSpPr/>
          <p:nvPr/>
        </p:nvSpPr>
        <p:spPr>
          <a:xfrm>
            <a:off x="6600000" y="2077515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91" name="rect91"/>
          <p:cNvSpPr/>
          <p:nvPr/>
        </p:nvSpPr>
        <p:spPr>
          <a:xfrm>
            <a:off x="0" y="2203702"/>
            <a:ext cx="9144000" cy="274320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92" name="sp92"/>
          <p:cNvSpPr/>
          <p:nvPr/>
        </p:nvSpPr>
        <p:spPr>
          <a:xfrm>
            <a:off x="45720" y="2203702"/>
            <a:ext cx="566928" cy="27432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</a:rPr>
              <a:t>NFR ID</a:t>
            </a:r>
          </a:p>
        </p:txBody>
      </p:sp>
      <p:sp>
        <p:nvSpPr>
          <p:cNvPr id="93" name="sp93"/>
          <p:cNvSpPr/>
          <p:nvPr/>
        </p:nvSpPr>
        <p:spPr>
          <a:xfrm>
            <a:off x="640080" y="2203702"/>
            <a:ext cx="1900000" cy="27432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</a:rPr>
              <a:t>Requirement</a:t>
            </a:r>
          </a:p>
        </p:txBody>
      </p:sp>
      <p:sp>
        <p:nvSpPr>
          <p:cNvPr id="94" name="sp94"/>
          <p:cNvSpPr/>
          <p:nvPr/>
        </p:nvSpPr>
        <p:spPr>
          <a:xfrm>
            <a:off x="2600000" y="2203702"/>
            <a:ext cx="3900000" cy="27432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</a:rPr>
              <a:t>Description</a:t>
            </a:r>
          </a:p>
        </p:txBody>
      </p:sp>
      <p:sp>
        <p:nvSpPr>
          <p:cNvPr id="95" name="sp95"/>
          <p:cNvSpPr/>
          <p:nvPr/>
        </p:nvSpPr>
        <p:spPr>
          <a:xfrm>
            <a:off x="6600000" y="2203702"/>
            <a:ext cx="2100000" cy="27432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</a:rPr>
              <a:t>Status</a:t>
            </a:r>
          </a:p>
        </p:txBody>
      </p:sp>
      <p:sp>
        <p:nvSpPr>
          <p:cNvPr id="96" name="rect96"/>
          <p:cNvSpPr/>
          <p:nvPr/>
        </p:nvSpPr>
        <p:spPr>
          <a:xfrm>
            <a:off x="0" y="2478022"/>
            <a:ext cx="9144000" cy="126187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97" name="rect97"/>
          <p:cNvSpPr/>
          <p:nvPr/>
        </p:nvSpPr>
        <p:spPr>
          <a:xfrm>
            <a:off x="36576" y="2484022"/>
            <a:ext cx="585216" cy="114187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98" name="sp98"/>
          <p:cNvSpPr/>
          <p:nvPr/>
        </p:nvSpPr>
        <p:spPr>
          <a:xfrm>
            <a:off x="45720" y="2478022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NFR-01</a:t>
            </a:r>
          </a:p>
        </p:txBody>
      </p:sp>
      <p:sp>
        <p:nvSpPr>
          <p:cNvPr id="99" name="sp99"/>
          <p:cNvSpPr/>
          <p:nvPr/>
        </p:nvSpPr>
        <p:spPr>
          <a:xfrm>
            <a:off x="640080" y="2478022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Usability</a:t>
            </a:r>
          </a:p>
        </p:txBody>
      </p:sp>
      <p:sp>
        <p:nvSpPr>
          <p:cNvPr id="100" name="sp100"/>
          <p:cNvSpPr/>
          <p:nvPr/>
        </p:nvSpPr>
        <p:spPr>
          <a:xfrm>
            <a:off x="2600000" y="2478022"/>
            <a:ext cx="3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Easy-to-use user interface</a:t>
            </a:r>
          </a:p>
        </p:txBody>
      </p:sp>
      <p:sp>
        <p:nvSpPr>
          <p:cNvPr id="101" name="rect101"/>
          <p:cNvSpPr/>
          <p:nvPr/>
        </p:nvSpPr>
        <p:spPr>
          <a:xfrm>
            <a:off x="6590856" y="2484022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2" name="sp102"/>
          <p:cNvSpPr/>
          <p:nvPr/>
        </p:nvSpPr>
        <p:spPr>
          <a:xfrm>
            <a:off x="6600000" y="2478022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03" name="rect103"/>
          <p:cNvSpPr/>
          <p:nvPr/>
        </p:nvSpPr>
        <p:spPr>
          <a:xfrm>
            <a:off x="0" y="2604209"/>
            <a:ext cx="9144000" cy="12618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4" name="rect104"/>
          <p:cNvSpPr/>
          <p:nvPr/>
        </p:nvSpPr>
        <p:spPr>
          <a:xfrm>
            <a:off x="36576" y="2610209"/>
            <a:ext cx="585216" cy="114187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105" name="sp105"/>
          <p:cNvSpPr/>
          <p:nvPr/>
        </p:nvSpPr>
        <p:spPr>
          <a:xfrm>
            <a:off x="45720" y="2604209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NFR-02</a:t>
            </a:r>
          </a:p>
        </p:txBody>
      </p:sp>
      <p:sp>
        <p:nvSpPr>
          <p:cNvPr id="106" name="sp106"/>
          <p:cNvSpPr/>
          <p:nvPr/>
        </p:nvSpPr>
        <p:spPr>
          <a:xfrm>
            <a:off x="640080" y="2604209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Performance</a:t>
            </a:r>
          </a:p>
        </p:txBody>
      </p:sp>
      <p:sp>
        <p:nvSpPr>
          <p:cNvPr id="107" name="sp107"/>
          <p:cNvSpPr/>
          <p:nvPr/>
        </p:nvSpPr>
        <p:spPr>
          <a:xfrm>
            <a:off x="2600000" y="2604209"/>
            <a:ext cx="3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Fast rendering using React</a:t>
            </a:r>
          </a:p>
        </p:txBody>
      </p:sp>
      <p:sp>
        <p:nvSpPr>
          <p:cNvPr id="108" name="rect108"/>
          <p:cNvSpPr/>
          <p:nvPr/>
        </p:nvSpPr>
        <p:spPr>
          <a:xfrm>
            <a:off x="6590856" y="2610209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9" name="sp109"/>
          <p:cNvSpPr/>
          <p:nvPr/>
        </p:nvSpPr>
        <p:spPr>
          <a:xfrm>
            <a:off x="6600000" y="2604209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10" name="rect110"/>
          <p:cNvSpPr/>
          <p:nvPr/>
        </p:nvSpPr>
        <p:spPr>
          <a:xfrm>
            <a:off x="0" y="2730396"/>
            <a:ext cx="9144000" cy="126187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111" name="rect111"/>
          <p:cNvSpPr/>
          <p:nvPr/>
        </p:nvSpPr>
        <p:spPr>
          <a:xfrm>
            <a:off x="36576" y="2736396"/>
            <a:ext cx="585216" cy="114187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112" name="sp112"/>
          <p:cNvSpPr/>
          <p:nvPr/>
        </p:nvSpPr>
        <p:spPr>
          <a:xfrm>
            <a:off x="45720" y="2730396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NFR-03</a:t>
            </a:r>
          </a:p>
        </p:txBody>
      </p:sp>
      <p:sp>
        <p:nvSpPr>
          <p:cNvPr id="113" name="sp113"/>
          <p:cNvSpPr/>
          <p:nvPr/>
        </p:nvSpPr>
        <p:spPr>
          <a:xfrm>
            <a:off x="640080" y="2730396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Reliability</a:t>
            </a:r>
          </a:p>
        </p:txBody>
      </p:sp>
      <p:sp>
        <p:nvSpPr>
          <p:cNvPr id="114" name="sp114"/>
          <p:cNvSpPr/>
          <p:nvPr/>
        </p:nvSpPr>
        <p:spPr>
          <a:xfrm>
            <a:off x="2600000" y="2730396"/>
            <a:ext cx="3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Data persists through Local Storage</a:t>
            </a:r>
          </a:p>
        </p:txBody>
      </p:sp>
      <p:sp>
        <p:nvSpPr>
          <p:cNvPr id="115" name="rect115"/>
          <p:cNvSpPr/>
          <p:nvPr/>
        </p:nvSpPr>
        <p:spPr>
          <a:xfrm>
            <a:off x="6590856" y="2736396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6" name="sp116"/>
          <p:cNvSpPr/>
          <p:nvPr/>
        </p:nvSpPr>
        <p:spPr>
          <a:xfrm>
            <a:off x="6600000" y="2730396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17" name="rect117"/>
          <p:cNvSpPr/>
          <p:nvPr/>
        </p:nvSpPr>
        <p:spPr>
          <a:xfrm>
            <a:off x="0" y="2856583"/>
            <a:ext cx="9144000" cy="12618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8" name="rect118"/>
          <p:cNvSpPr/>
          <p:nvPr/>
        </p:nvSpPr>
        <p:spPr>
          <a:xfrm>
            <a:off x="36576" y="2862583"/>
            <a:ext cx="585216" cy="114187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119" name="sp119"/>
          <p:cNvSpPr/>
          <p:nvPr/>
        </p:nvSpPr>
        <p:spPr>
          <a:xfrm>
            <a:off x="45720" y="2856583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NFR-04</a:t>
            </a:r>
          </a:p>
        </p:txBody>
      </p:sp>
      <p:sp>
        <p:nvSpPr>
          <p:cNvPr id="120" name="sp120"/>
          <p:cNvSpPr/>
          <p:nvPr/>
        </p:nvSpPr>
        <p:spPr>
          <a:xfrm>
            <a:off x="640080" y="2856583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Maintainability</a:t>
            </a:r>
          </a:p>
        </p:txBody>
      </p:sp>
      <p:sp>
        <p:nvSpPr>
          <p:cNvPr id="121" name="sp121"/>
          <p:cNvSpPr/>
          <p:nvPr/>
        </p:nvSpPr>
        <p:spPr>
          <a:xfrm>
            <a:off x="2600000" y="2856583"/>
            <a:ext cx="3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Modular component-based structure</a:t>
            </a:r>
          </a:p>
        </p:txBody>
      </p:sp>
      <p:sp>
        <p:nvSpPr>
          <p:cNvPr id="122" name="rect122"/>
          <p:cNvSpPr/>
          <p:nvPr/>
        </p:nvSpPr>
        <p:spPr>
          <a:xfrm>
            <a:off x="6590856" y="2862583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3" name="sp123"/>
          <p:cNvSpPr/>
          <p:nvPr/>
        </p:nvSpPr>
        <p:spPr>
          <a:xfrm>
            <a:off x="6600000" y="2856583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24" name="rect124"/>
          <p:cNvSpPr/>
          <p:nvPr/>
        </p:nvSpPr>
        <p:spPr>
          <a:xfrm>
            <a:off x="0" y="2982770"/>
            <a:ext cx="9144000" cy="126187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125" name="rect125"/>
          <p:cNvSpPr/>
          <p:nvPr/>
        </p:nvSpPr>
        <p:spPr>
          <a:xfrm>
            <a:off x="36576" y="2988770"/>
            <a:ext cx="585216" cy="114187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126" name="sp126"/>
          <p:cNvSpPr/>
          <p:nvPr/>
        </p:nvSpPr>
        <p:spPr>
          <a:xfrm>
            <a:off x="45720" y="2982770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NFR-05</a:t>
            </a:r>
          </a:p>
        </p:txBody>
      </p:sp>
      <p:sp>
        <p:nvSpPr>
          <p:cNvPr id="127" name="sp127"/>
          <p:cNvSpPr/>
          <p:nvPr/>
        </p:nvSpPr>
        <p:spPr>
          <a:xfrm>
            <a:off x="640080" y="2982770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Scalability</a:t>
            </a:r>
          </a:p>
        </p:txBody>
      </p:sp>
      <p:sp>
        <p:nvSpPr>
          <p:cNvPr id="128" name="sp128"/>
          <p:cNvSpPr/>
          <p:nvPr/>
        </p:nvSpPr>
        <p:spPr>
          <a:xfrm>
            <a:off x="2600000" y="2982770"/>
            <a:ext cx="3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Can be connected to backend APIs later</a:t>
            </a:r>
          </a:p>
        </p:txBody>
      </p:sp>
      <p:sp>
        <p:nvSpPr>
          <p:cNvPr id="129" name="rect129"/>
          <p:cNvSpPr/>
          <p:nvPr/>
        </p:nvSpPr>
        <p:spPr>
          <a:xfrm>
            <a:off x="6590856" y="2988770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0" name="sp130"/>
          <p:cNvSpPr/>
          <p:nvPr/>
        </p:nvSpPr>
        <p:spPr>
          <a:xfrm>
            <a:off x="6600000" y="2982770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31" name="rect131"/>
          <p:cNvSpPr/>
          <p:nvPr/>
        </p:nvSpPr>
        <p:spPr>
          <a:xfrm>
            <a:off x="0" y="3108957"/>
            <a:ext cx="9144000" cy="12618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2" name="rect132"/>
          <p:cNvSpPr/>
          <p:nvPr/>
        </p:nvSpPr>
        <p:spPr>
          <a:xfrm>
            <a:off x="36576" y="3114957"/>
            <a:ext cx="585216" cy="114187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133" name="sp133"/>
          <p:cNvSpPr/>
          <p:nvPr/>
        </p:nvSpPr>
        <p:spPr>
          <a:xfrm>
            <a:off x="45720" y="3108957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NFR-06</a:t>
            </a:r>
          </a:p>
        </p:txBody>
      </p:sp>
      <p:sp>
        <p:nvSpPr>
          <p:cNvPr id="134" name="sp134"/>
          <p:cNvSpPr/>
          <p:nvPr/>
        </p:nvSpPr>
        <p:spPr>
          <a:xfrm>
            <a:off x="640080" y="3108957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Security</a:t>
            </a:r>
          </a:p>
        </p:txBody>
      </p:sp>
      <p:sp>
        <p:nvSpPr>
          <p:cNvPr id="135" name="sp135"/>
          <p:cNvSpPr/>
          <p:nvPr/>
        </p:nvSpPr>
        <p:spPr>
          <a:xfrm>
            <a:off x="2600000" y="3108957"/>
            <a:ext cx="3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Basic authentication implemented</a:t>
            </a:r>
          </a:p>
        </p:txBody>
      </p:sp>
      <p:sp>
        <p:nvSpPr>
          <p:cNvPr id="136" name="rect136"/>
          <p:cNvSpPr/>
          <p:nvPr/>
        </p:nvSpPr>
        <p:spPr>
          <a:xfrm>
            <a:off x="6590856" y="3114957"/>
            <a:ext cx="2118288" cy="114187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137" name="sp137"/>
          <p:cNvSpPr/>
          <p:nvPr/>
        </p:nvSpPr>
        <p:spPr>
          <a:xfrm>
            <a:off x="6600000" y="3108957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Partial</a:t>
            </a:r>
          </a:p>
        </p:txBody>
      </p:sp>
      <p:sp>
        <p:nvSpPr>
          <p:cNvPr id="138" name="rect138"/>
          <p:cNvSpPr/>
          <p:nvPr/>
        </p:nvSpPr>
        <p:spPr>
          <a:xfrm>
            <a:off x="0" y="3235144"/>
            <a:ext cx="9144000" cy="126187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139" name="rect139"/>
          <p:cNvSpPr/>
          <p:nvPr/>
        </p:nvSpPr>
        <p:spPr>
          <a:xfrm>
            <a:off x="36576" y="3241144"/>
            <a:ext cx="585216" cy="114187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140" name="sp140"/>
          <p:cNvSpPr/>
          <p:nvPr/>
        </p:nvSpPr>
        <p:spPr>
          <a:xfrm>
            <a:off x="45720" y="3235144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NFR-07</a:t>
            </a:r>
          </a:p>
        </p:txBody>
      </p:sp>
      <p:sp>
        <p:nvSpPr>
          <p:cNvPr id="141" name="sp141"/>
          <p:cNvSpPr/>
          <p:nvPr/>
        </p:nvSpPr>
        <p:spPr>
          <a:xfrm>
            <a:off x="640080" y="3235144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Accessibility</a:t>
            </a:r>
          </a:p>
        </p:txBody>
      </p:sp>
      <p:sp>
        <p:nvSpPr>
          <p:cNvPr id="142" name="sp142"/>
          <p:cNvSpPr/>
          <p:nvPr/>
        </p:nvSpPr>
        <p:spPr>
          <a:xfrm>
            <a:off x="2600000" y="3235144"/>
            <a:ext cx="3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Responsive Bootstrap layout</a:t>
            </a:r>
          </a:p>
        </p:txBody>
      </p:sp>
      <p:sp>
        <p:nvSpPr>
          <p:cNvPr id="143" name="rect143"/>
          <p:cNvSpPr/>
          <p:nvPr/>
        </p:nvSpPr>
        <p:spPr>
          <a:xfrm>
            <a:off x="6590856" y="3241144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4" name="sp144"/>
          <p:cNvSpPr/>
          <p:nvPr/>
        </p:nvSpPr>
        <p:spPr>
          <a:xfrm>
            <a:off x="6600000" y="3235144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45" name="rect145"/>
          <p:cNvSpPr/>
          <p:nvPr/>
        </p:nvSpPr>
        <p:spPr>
          <a:xfrm>
            <a:off x="0" y="5404104"/>
            <a:ext cx="9144000" cy="1371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6" name="rect146"/>
          <p:cNvSpPr/>
          <p:nvPr/>
        </p:nvSpPr>
        <p:spPr>
          <a:xfrm>
            <a:off x="228600" y="5422392"/>
            <a:ext cx="91440" cy="10058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7" name="sp147"/>
          <p:cNvSpPr/>
          <p:nvPr/>
        </p:nvSpPr>
        <p:spPr>
          <a:xfrm>
            <a:off x="342900" y="5404104"/>
            <a:ext cx="685800" cy="13716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48" name="rect148"/>
          <p:cNvSpPr/>
          <p:nvPr/>
        </p:nvSpPr>
        <p:spPr>
          <a:xfrm>
            <a:off x="1143000" y="5422392"/>
            <a:ext cx="91440" cy="100584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149" name="sp149"/>
          <p:cNvSpPr/>
          <p:nvPr/>
        </p:nvSpPr>
        <p:spPr>
          <a:xfrm>
            <a:off x="1257300" y="5404104"/>
            <a:ext cx="685800" cy="13716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FFFFFF"/>
                </a:solidFill>
                <a:latin typeface="Arial" pitchFamily="34" charset="0"/>
              </a:rPr>
              <a:t>Partial</a:t>
            </a:r>
          </a:p>
        </p:txBody>
      </p:sp>
      <p:sp>
        <p:nvSpPr>
          <p:cNvPr id="150" name="rect150"/>
          <p:cNvSpPr/>
          <p:nvPr/>
        </p:nvSpPr>
        <p:spPr>
          <a:xfrm>
            <a:off x="2057400" y="5422392"/>
            <a:ext cx="91440" cy="10058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1" name="sp151"/>
          <p:cNvSpPr/>
          <p:nvPr/>
        </p:nvSpPr>
        <p:spPr>
          <a:xfrm>
            <a:off x="2171700" y="5404104"/>
            <a:ext cx="685800" cy="13716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FFFFFF"/>
                </a:solidFill>
                <a:latin typeface="Arial" pitchFamily="34" charset="0"/>
              </a:rPr>
              <a:t>Planned</a:t>
            </a:r>
          </a:p>
        </p:txBody>
      </p:sp>
      <p:sp>
        <p:nvSpPr>
          <p:cNvPr id="152" name="sp152"/>
          <p:cNvSpPr/>
          <p:nvPr/>
        </p:nvSpPr>
        <p:spPr>
          <a:xfrm>
            <a:off x="6858000" y="5404104"/>
            <a:ext cx="2194560" cy="13716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C107"/>
                </a:solidFill>
                <a:latin typeface="Arial" pitchFamily="34" charset="0"/>
              </a:rPr>
              <a:t>Total: 37 Requirements</a:t>
            </a:r>
          </a:p>
        </p:txBody>
      </p:sp>
      <p:sp>
        <p:nvSpPr>
          <p:cNvPr id="153" name="rect153"/>
          <p:cNvSpPr/>
          <p:nvPr/>
        </p:nvSpPr>
        <p:spPr>
          <a:xfrm>
            <a:off x="630936" y="667512"/>
            <a:ext cx="9144" cy="46908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4" name="rect154"/>
          <p:cNvSpPr/>
          <p:nvPr/>
        </p:nvSpPr>
        <p:spPr>
          <a:xfrm>
            <a:off x="2590856" y="667512"/>
            <a:ext cx="9144" cy="46908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5" name="rect155"/>
          <p:cNvSpPr/>
          <p:nvPr/>
        </p:nvSpPr>
        <p:spPr>
          <a:xfrm>
            <a:off x="5190856" y="667512"/>
            <a:ext cx="9144" cy="46908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6" name="rect156"/>
          <p:cNvSpPr/>
          <p:nvPr/>
        </p:nvSpPr>
        <p:spPr>
          <a:xfrm>
            <a:off x="6590856" y="667512"/>
            <a:ext cx="9144" cy="4690872"/>
          </a:xfrm>
          <a:prstGeom prst="rect">
            <a:avLst/>
          </a:prstGeom>
          <a:solidFill>
            <a:srgbClr val="DDDDDD"/>
          </a:solidFill>
          <a:ln/>
        </p:spPr>
      </p:sp>
    </p:spTree>
  </p:cSld>
  <p:clrMapOvr>
    <a:masterClr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B7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029200" cy="5029200"/>
          </a:xfrm>
          <a:prstGeom prst="ellipse">
            <a:avLst/>
          </a:prstGeom>
          <a:solidFill>
            <a:srgbClr val="E53935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FF8F00">
              <a:alpha val="4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029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50876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kern="0" spc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6" name="Text 3"/>
          <p:cNvSpPr/>
          <p:nvPr/>
        </p:nvSpPr>
        <p:spPr>
          <a:xfrm>
            <a:off x="457200" y="25786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— Online Food Delivery System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3246120"/>
            <a:ext cx="7315200" cy="0"/>
          </a:xfrm>
          <a:prstGeom prst="line">
            <a:avLst/>
          </a:prstGeom>
          <a:noFill/>
          <a:ln w="10160">
            <a:solidFill>
              <a:srgbClr val="FFC107">
                <a:alpha val="4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2301480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Bhat Hark Bahadur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51460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2301497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51460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Yadav Sunil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2301493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 Kushwaha Gyanendra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62940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2301473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62940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Yadav Bibek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4315968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43159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874520" y="4315968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1874520" y="43159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291840" y="4315968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3291840" y="43159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709160" y="4315968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4709160" y="43159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126480" y="4315968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6126480" y="43159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543800" y="4315968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7543800" y="43159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4025</Words>
  <Application>Microsoft Office PowerPoint</Application>
  <PresentationFormat>On-screen Show (16:9)</PresentationFormat>
  <Paragraphs>882</Paragraphs>
  <Slides>36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FOODIE – Online Food Delivery System</dc:title>
  <dc:subject>PptxGenJS Presentation</dc:subject>
  <dc:creator>PptxGenJS</dc:creator>
  <cp:lastModifiedBy>Bibek Yadav</cp:lastModifiedBy>
  <cp:revision>2</cp:revision>
  <dcterms:created xsi:type="dcterms:W3CDTF">2026-06-10T21:46:43Z</dcterms:created>
  <dcterms:modified xsi:type="dcterms:W3CDTF">2026-06-11T02:44:37Z</dcterms:modified>
</cp:coreProperties>
</file>