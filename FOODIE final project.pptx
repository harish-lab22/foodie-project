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67" r:id="rId34"/>
    <p:sldId id="290" r:id="rId35"/>
    <p:sldId id="291" r:id="rId36"/>
    <p:sldId id="292" r:id="rId37"/>
    <p:sldId id="293" r:id="rId38"/>
    <p:sldId id="268" r:id="rId3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85062" autoAdjust="0"/>
  </p:normalViewPr>
  <p:slideViewPr>
    <p:cSldViewPr snapToGrid="0" snapToObjects="1">
      <p:cViewPr>
        <p:scale>
          <a:sx n="100" d="100"/>
          <a:sy n="100" d="100"/>
        </p:scale>
        <p:origin x="854" y="-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78623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516099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9.png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7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E53935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548640"/>
            <a:ext cx="2743200" cy="2743200"/>
          </a:xfrm>
          <a:prstGeom prst="ellipse">
            <a:avLst/>
          </a:prstGeom>
          <a:solidFill>
            <a:srgbClr val="FF8F00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3474720"/>
            <a:ext cx="4572000" cy="4572000"/>
          </a:xfrm>
          <a:prstGeom prst="ellipse">
            <a:avLst/>
          </a:prstGeom>
          <a:solidFill>
            <a:srgbClr val="E53935">
              <a:alpha val="40000"/>
            </a:srgbClr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2004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743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b="1" kern="0" spc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FOODIE</a:t>
            </a:r>
            <a:endParaRPr lang="en-US" sz="6600" dirty="0"/>
          </a:p>
        </p:txBody>
      </p:sp>
      <p:sp>
        <p:nvSpPr>
          <p:cNvPr id="7" name="Text 4"/>
          <p:cNvSpPr/>
          <p:nvPr/>
        </p:nvSpPr>
        <p:spPr>
          <a:xfrm>
            <a:off x="457200" y="150876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Food Delivery System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57200" y="199339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Requirements Specification (SRS)  ·  Version 1.1  ·  2026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450592"/>
            <a:ext cx="8229600" cy="0"/>
          </a:xfrm>
          <a:prstGeom prst="line">
            <a:avLst/>
          </a:prstGeom>
          <a:noFill/>
          <a:ln w="12700">
            <a:solidFill>
              <a:srgbClr val="FFC107">
                <a:alpha val="5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25786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MEMBERS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57200" y="2926080"/>
            <a:ext cx="4114800" cy="530352"/>
          </a:xfrm>
          <a:prstGeom prst="roundRect">
            <a:avLst>
              <a:gd name="adj" fmla="val 12069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512064" y="2999232"/>
            <a:ext cx="914400" cy="384048"/>
          </a:xfrm>
          <a:prstGeom prst="roundRect">
            <a:avLst>
              <a:gd name="adj" fmla="val 11905"/>
            </a:avLst>
          </a:prstGeom>
          <a:solidFill>
            <a:srgbClr val="FF8F00"/>
          </a:solidFill>
          <a:ln/>
        </p:spPr>
      </p:sp>
      <p:sp>
        <p:nvSpPr>
          <p:cNvPr id="13" name="Text 10"/>
          <p:cNvSpPr/>
          <p:nvPr/>
        </p:nvSpPr>
        <p:spPr>
          <a:xfrm>
            <a:off x="512064" y="29992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2301480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508760" y="301752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BHAT HARK BAHADUR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800600" y="2926080"/>
            <a:ext cx="4114800" cy="530352"/>
          </a:xfrm>
          <a:prstGeom prst="roundRect">
            <a:avLst>
              <a:gd name="adj" fmla="val 12069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4855464" y="2999232"/>
            <a:ext cx="914400" cy="384048"/>
          </a:xfrm>
          <a:prstGeom prst="roundRect">
            <a:avLst>
              <a:gd name="adj" fmla="val 11905"/>
            </a:avLst>
          </a:prstGeom>
          <a:solidFill>
            <a:srgbClr val="FF8F00"/>
          </a:solidFill>
          <a:ln/>
        </p:spPr>
      </p:sp>
      <p:sp>
        <p:nvSpPr>
          <p:cNvPr id="17" name="Text 14"/>
          <p:cNvSpPr/>
          <p:nvPr/>
        </p:nvSpPr>
        <p:spPr>
          <a:xfrm>
            <a:off x="4855464" y="29992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2301497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852160" y="301752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YADAV SUNIL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3566160"/>
            <a:ext cx="4114800" cy="530352"/>
          </a:xfrm>
          <a:prstGeom prst="roundRect">
            <a:avLst>
              <a:gd name="adj" fmla="val 12069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512064" y="3639312"/>
            <a:ext cx="914400" cy="384048"/>
          </a:xfrm>
          <a:prstGeom prst="roundRect">
            <a:avLst>
              <a:gd name="adj" fmla="val 11905"/>
            </a:avLst>
          </a:prstGeom>
          <a:solidFill>
            <a:srgbClr val="FF8F00"/>
          </a:solidFill>
          <a:ln/>
        </p:spPr>
      </p:sp>
      <p:sp>
        <p:nvSpPr>
          <p:cNvPr id="21" name="Text 18"/>
          <p:cNvSpPr/>
          <p:nvPr/>
        </p:nvSpPr>
        <p:spPr>
          <a:xfrm>
            <a:off x="512064" y="363931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2301493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508760" y="365760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SINGH KUSHWAHA GYANENDRA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800600" y="3566160"/>
            <a:ext cx="4114800" cy="530352"/>
          </a:xfrm>
          <a:prstGeom prst="roundRect">
            <a:avLst>
              <a:gd name="adj" fmla="val 12069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4855464" y="3639312"/>
            <a:ext cx="914400" cy="384048"/>
          </a:xfrm>
          <a:prstGeom prst="roundRect">
            <a:avLst>
              <a:gd name="adj" fmla="val 11905"/>
            </a:avLst>
          </a:prstGeom>
          <a:solidFill>
            <a:srgbClr val="FF8F00"/>
          </a:solidFill>
          <a:ln/>
        </p:spPr>
      </p:sp>
      <p:sp>
        <p:nvSpPr>
          <p:cNvPr id="25" name="Text 22"/>
          <p:cNvSpPr/>
          <p:nvPr/>
        </p:nvSpPr>
        <p:spPr>
          <a:xfrm>
            <a:off x="4855464" y="363931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2301473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852160" y="365760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YADAV BIBEK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E2E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INSIDE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39776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475488" cy="658368"/>
          </a:xfrm>
          <a:prstGeom prst="roundRect">
            <a:avLst>
              <a:gd name="adj" fmla="val 15385"/>
            </a:avLst>
          </a:prstGeom>
          <a:solidFill>
            <a:srgbClr val="B71C1C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133856"/>
            <a:ext cx="475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1225296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Scope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865376"/>
            <a:ext cx="39776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865376"/>
            <a:ext cx="475488" cy="658368"/>
          </a:xfrm>
          <a:prstGeom prst="roundRect">
            <a:avLst>
              <a:gd name="adj" fmla="val 15385"/>
            </a:avLst>
          </a:prstGeom>
          <a:solidFill>
            <a:srgbClr val="B71C1C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1901952"/>
            <a:ext cx="475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199339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2633472"/>
            <a:ext cx="39776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633472"/>
            <a:ext cx="475488" cy="658368"/>
          </a:xfrm>
          <a:prstGeom prst="roundRect">
            <a:avLst>
              <a:gd name="adj" fmla="val 15385"/>
            </a:avLst>
          </a:prstGeom>
          <a:solidFill>
            <a:srgbClr val="B71C1C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2670048"/>
            <a:ext cx="475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276148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3401568"/>
            <a:ext cx="39776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401568"/>
            <a:ext cx="475488" cy="658368"/>
          </a:xfrm>
          <a:prstGeom prst="roundRect">
            <a:avLst>
              <a:gd name="adj" fmla="val 15385"/>
            </a:avLst>
          </a:prstGeom>
          <a:solidFill>
            <a:srgbClr val="B71C1C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3438144"/>
            <a:ext cx="475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352958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System Features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" y="4169664"/>
            <a:ext cx="39776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4169664"/>
            <a:ext cx="475488" cy="658368"/>
          </a:xfrm>
          <a:prstGeom prst="roundRect">
            <a:avLst>
              <a:gd name="adj" fmla="val 15385"/>
            </a:avLst>
          </a:prstGeom>
          <a:solidFill>
            <a:srgbClr val="FF8F00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4206240"/>
            <a:ext cx="475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14400" y="42976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46320" y="1097280"/>
            <a:ext cx="39776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1097280"/>
            <a:ext cx="475488" cy="658368"/>
          </a:xfrm>
          <a:prstGeom prst="roundRect">
            <a:avLst>
              <a:gd name="adj" fmla="val 15385"/>
            </a:avLst>
          </a:prstGeom>
          <a:solidFill>
            <a:srgbClr val="FF8F00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1133856"/>
            <a:ext cx="475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440680" y="1225296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46320" y="1865376"/>
            <a:ext cx="39776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1865376"/>
            <a:ext cx="475488" cy="658368"/>
          </a:xfrm>
          <a:prstGeom prst="roundRect">
            <a:avLst>
              <a:gd name="adj" fmla="val 15385"/>
            </a:avLst>
          </a:prstGeom>
          <a:solidFill>
            <a:srgbClr val="FF8F00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1901952"/>
            <a:ext cx="475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440680" y="199339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Quality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846320" y="2633472"/>
            <a:ext cx="39776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46320" y="2633472"/>
            <a:ext cx="475488" cy="658368"/>
          </a:xfrm>
          <a:prstGeom prst="roundRect">
            <a:avLst>
              <a:gd name="adj" fmla="val 15385"/>
            </a:avLst>
          </a:prstGeom>
          <a:solidFill>
            <a:srgbClr val="FF8F00"/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2670048"/>
            <a:ext cx="475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440680" y="276148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Gantt Chart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846320" y="3401568"/>
            <a:ext cx="39776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46320" y="3401568"/>
            <a:ext cx="475488" cy="658368"/>
          </a:xfrm>
          <a:prstGeom prst="roundRect">
            <a:avLst>
              <a:gd name="adj" fmla="val 15385"/>
            </a:avLst>
          </a:prstGeom>
          <a:solidFill>
            <a:srgbClr val="1565C0"/>
          </a:solidFill>
          <a:ln/>
        </p:spPr>
      </p:sp>
      <p:sp>
        <p:nvSpPr>
          <p:cNvPr id="38" name="Text 36"/>
          <p:cNvSpPr/>
          <p:nvPr/>
        </p:nvSpPr>
        <p:spPr>
          <a:xfrm>
            <a:off x="4846320" y="3438144"/>
            <a:ext cx="475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5440680" y="352958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&amp; Descriptions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0"/>
            <a:ext cx="3200400" cy="3200400"/>
          </a:xfrm>
          <a:prstGeom prst="ellipse">
            <a:avLst/>
          </a:prstGeom>
          <a:solidFill>
            <a:srgbClr val="E53935">
              <a:alpha val="50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32004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8600" y="13716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228600" y="18745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SCOPE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3749040" y="457200"/>
            <a:ext cx="5120640" cy="9144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/>
          <a:effectLst>
            <a:outerShdw blurRad="508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931920" y="5212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931920" y="82296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customers, restaurants, delivery partners, and admins on one scalable platform.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749040" y="1527048"/>
            <a:ext cx="5120640" cy="9144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/>
          <a:effectLst>
            <a:outerShdw blurRad="508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931920" y="159105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931920" y="189280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Customers, Restaurant Owners, Delivery Partners, and System Administrators.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749040" y="2596896"/>
            <a:ext cx="5120640" cy="9144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/>
          <a:effectLst>
            <a:outerShdw blurRad="508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931920" y="266090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Objectives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931920" y="2962656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ordering, real-time tracking, secure payments, and intelligent delivery assignment.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749040" y="3666744"/>
            <a:ext cx="5120640" cy="91440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/>
          <a:effectLst>
            <a:outerShdw blurRad="508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3931920" y="37307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Use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931920" y="4032504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for developers, testers, designers, project managers, and stakeholders.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E2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E53935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FOODIE Works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1554480" cy="3383280"/>
          </a:xfrm>
          <a:prstGeom prst="roundRect">
            <a:avLst>
              <a:gd name="adj" fmla="val 705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459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21945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&amp; Web Clients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365760" y="28346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· iOS · Browser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1847088" y="2926080"/>
            <a:ext cx="146304" cy="0"/>
          </a:xfrm>
          <a:prstGeom prst="line">
            <a:avLst/>
          </a:prstGeom>
          <a:noFill/>
          <a:ln w="19050">
            <a:solidFill>
              <a:srgbClr val="FFC107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1993392" y="1417320"/>
            <a:ext cx="1554480" cy="3383280"/>
          </a:xfrm>
          <a:prstGeom prst="roundRect">
            <a:avLst>
              <a:gd name="adj" fmla="val 705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2032" y="16459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084832" y="21945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2084832" y="28346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· JWT · OAuth 2.0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3566160" y="2926080"/>
            <a:ext cx="146304" cy="0"/>
          </a:xfrm>
          <a:prstGeom prst="line">
            <a:avLst/>
          </a:prstGeom>
          <a:noFill/>
          <a:ln w="19050">
            <a:solidFill>
              <a:srgbClr val="FFC107"/>
            </a:solidFill>
            <a:prstDash val="dash"/>
          </a:ln>
        </p:spPr>
      </p:sp>
      <p:sp>
        <p:nvSpPr>
          <p:cNvPr id="15" name="Shape 11"/>
          <p:cNvSpPr/>
          <p:nvPr/>
        </p:nvSpPr>
        <p:spPr>
          <a:xfrm>
            <a:off x="3712464" y="1417320"/>
            <a:ext cx="1554480" cy="3383280"/>
          </a:xfrm>
          <a:prstGeom prst="roundRect">
            <a:avLst>
              <a:gd name="adj" fmla="val 705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1104" y="164592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803904" y="21945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3803904" y="28346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· Auth · Payment · Delivery</a:t>
            </a:r>
            <a:endParaRPr lang="en-US" sz="800" dirty="0"/>
          </a:p>
        </p:txBody>
      </p:sp>
      <p:sp>
        <p:nvSpPr>
          <p:cNvPr id="19" name="Shape 14"/>
          <p:cNvSpPr/>
          <p:nvPr/>
        </p:nvSpPr>
        <p:spPr>
          <a:xfrm>
            <a:off x="5285232" y="2926080"/>
            <a:ext cx="146304" cy="0"/>
          </a:xfrm>
          <a:prstGeom prst="line">
            <a:avLst/>
          </a:prstGeom>
          <a:noFill/>
          <a:ln w="19050">
            <a:solidFill>
              <a:srgbClr val="FFC107"/>
            </a:solidFill>
            <a:prstDash val="dash"/>
          </a:ln>
        </p:spPr>
      </p:sp>
      <p:sp>
        <p:nvSpPr>
          <p:cNvPr id="20" name="Shape 15"/>
          <p:cNvSpPr/>
          <p:nvPr/>
        </p:nvSpPr>
        <p:spPr>
          <a:xfrm>
            <a:off x="5431536" y="1417320"/>
            <a:ext cx="1554480" cy="3383280"/>
          </a:xfrm>
          <a:prstGeom prst="roundRect">
            <a:avLst>
              <a:gd name="adj" fmla="val 705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0176" y="164592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22976" y="21945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5522976" y="28346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· Redis Cache</a:t>
            </a:r>
            <a:endParaRPr lang="en-US" sz="800" dirty="0"/>
          </a:p>
        </p:txBody>
      </p:sp>
      <p:sp>
        <p:nvSpPr>
          <p:cNvPr id="24" name="Shape 18"/>
          <p:cNvSpPr/>
          <p:nvPr/>
        </p:nvSpPr>
        <p:spPr>
          <a:xfrm>
            <a:off x="7004304" y="2926080"/>
            <a:ext cx="146304" cy="0"/>
          </a:xfrm>
          <a:prstGeom prst="line">
            <a:avLst/>
          </a:prstGeom>
          <a:noFill/>
          <a:ln w="19050">
            <a:solidFill>
              <a:srgbClr val="FFC107"/>
            </a:solidFill>
            <a:prstDash val="dash"/>
          </a:ln>
        </p:spPr>
      </p:sp>
      <p:sp>
        <p:nvSpPr>
          <p:cNvPr id="25" name="Shape 19"/>
          <p:cNvSpPr/>
          <p:nvPr/>
        </p:nvSpPr>
        <p:spPr>
          <a:xfrm>
            <a:off x="7150608" y="1417320"/>
            <a:ext cx="1554480" cy="3383280"/>
          </a:xfrm>
          <a:prstGeom prst="roundRect">
            <a:avLst>
              <a:gd name="adj" fmla="val 705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99248" y="1645920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242048" y="21945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DevOps</a:t>
            </a:r>
            <a:endParaRPr lang="en-US" sz="950" dirty="0"/>
          </a:p>
        </p:txBody>
      </p:sp>
      <p:sp>
        <p:nvSpPr>
          <p:cNvPr id="28" name="Text 21"/>
          <p:cNvSpPr/>
          <p:nvPr/>
        </p:nvSpPr>
        <p:spPr>
          <a:xfrm>
            <a:off x="7242048" y="28346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/ GCP · Docker · Kubernetes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ROLES &amp; RESPONSIBILITIES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188720"/>
            <a:ext cx="2057400" cy="3657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188720"/>
            <a:ext cx="2057400" cy="594360"/>
          </a:xfrm>
          <a:prstGeom prst="roundRect">
            <a:avLst>
              <a:gd name="adj" fmla="val 23077"/>
            </a:avLst>
          </a:prstGeom>
          <a:solidFill>
            <a:srgbClr val="B71C1C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1554480"/>
            <a:ext cx="2057400" cy="274320"/>
          </a:xfrm>
          <a:prstGeom prst="rect">
            <a:avLst/>
          </a:prstGeom>
          <a:solidFill>
            <a:srgbClr val="B71C1C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12344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182880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65760" y="221284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restaurants &amp; menus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65760" y="270662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items to cart &amp; place orders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65760" y="32004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secure online payments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65760" y="369417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delivery in real-time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65760" y="418795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reviews &amp; ratings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441448" y="1188720"/>
            <a:ext cx="2057400" cy="3657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441448" y="1188720"/>
            <a:ext cx="2057400" cy="594360"/>
          </a:xfrm>
          <a:prstGeom prst="roundRect">
            <a:avLst>
              <a:gd name="adj" fmla="val 23077"/>
            </a:avLst>
          </a:prstGeom>
          <a:solidFill>
            <a:srgbClr val="FF8F00"/>
          </a:solidFill>
          <a:ln/>
        </p:spPr>
      </p:sp>
      <p:sp>
        <p:nvSpPr>
          <p:cNvPr id="16" name="Shape 13"/>
          <p:cNvSpPr/>
          <p:nvPr/>
        </p:nvSpPr>
        <p:spPr>
          <a:xfrm>
            <a:off x="2441448" y="1554480"/>
            <a:ext cx="2057400" cy="274320"/>
          </a:xfrm>
          <a:prstGeom prst="rect">
            <a:avLst/>
          </a:prstGeom>
          <a:solidFill>
            <a:srgbClr val="FF8F00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1234440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532888" y="182880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Owner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2578608" y="221284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&amp; manage restaurant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2578608" y="270662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update menu items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2578608" y="32004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or reject orders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2578608" y="369417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incoming orders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2578608" y="418795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customer feedback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4654296" y="1188720"/>
            <a:ext cx="2057400" cy="3657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4654296" y="1188720"/>
            <a:ext cx="2057400" cy="594360"/>
          </a:xfrm>
          <a:prstGeom prst="roundRect">
            <a:avLst>
              <a:gd name="adj" fmla="val 23077"/>
            </a:avLst>
          </a:prstGeom>
          <a:solidFill>
            <a:srgbClr val="2E7D32"/>
          </a:solidFill>
          <a:ln/>
        </p:spPr>
      </p:sp>
      <p:sp>
        <p:nvSpPr>
          <p:cNvPr id="26" name="Shape 22"/>
          <p:cNvSpPr/>
          <p:nvPr/>
        </p:nvSpPr>
        <p:spPr>
          <a:xfrm>
            <a:off x="4654296" y="1554480"/>
            <a:ext cx="2057400" cy="274320"/>
          </a:xfrm>
          <a:prstGeom prst="rect">
            <a:avLst/>
          </a:prstGeom>
          <a:solidFill>
            <a:srgbClr val="2E7D32"/>
          </a:solidFill>
          <a:ln/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8968" y="1234440"/>
            <a:ext cx="457200" cy="45720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4745736" y="182880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Partner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4791456" y="221284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delivery requests</a:t>
            </a:r>
            <a:endParaRPr lang="en-US" sz="950" dirty="0"/>
          </a:p>
        </p:txBody>
      </p:sp>
      <p:sp>
        <p:nvSpPr>
          <p:cNvPr id="30" name="Text 25"/>
          <p:cNvSpPr/>
          <p:nvPr/>
        </p:nvSpPr>
        <p:spPr>
          <a:xfrm>
            <a:off x="4791456" y="270662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via map integration</a:t>
            </a:r>
            <a:endParaRPr lang="en-US" sz="950" dirty="0"/>
          </a:p>
        </p:txBody>
      </p:sp>
      <p:sp>
        <p:nvSpPr>
          <p:cNvPr id="31" name="Text 26"/>
          <p:cNvSpPr/>
          <p:nvPr/>
        </p:nvSpPr>
        <p:spPr>
          <a:xfrm>
            <a:off x="4791456" y="32004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delivery status</a:t>
            </a:r>
            <a:endParaRPr lang="en-US" sz="950" dirty="0"/>
          </a:p>
        </p:txBody>
      </p:sp>
      <p:sp>
        <p:nvSpPr>
          <p:cNvPr id="32" name="Text 27"/>
          <p:cNvSpPr/>
          <p:nvPr/>
        </p:nvSpPr>
        <p:spPr>
          <a:xfrm>
            <a:off x="4791456" y="369417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orders as delivered</a:t>
            </a:r>
            <a:endParaRPr lang="en-US" sz="950" dirty="0"/>
          </a:p>
        </p:txBody>
      </p:sp>
      <p:sp>
        <p:nvSpPr>
          <p:cNvPr id="33" name="Text 28"/>
          <p:cNvSpPr/>
          <p:nvPr/>
        </p:nvSpPr>
        <p:spPr>
          <a:xfrm>
            <a:off x="4791456" y="418795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assigned deliveries</a:t>
            </a:r>
            <a:endParaRPr lang="en-US" sz="950" dirty="0"/>
          </a:p>
        </p:txBody>
      </p:sp>
      <p:sp>
        <p:nvSpPr>
          <p:cNvPr id="34" name="Shape 29"/>
          <p:cNvSpPr/>
          <p:nvPr/>
        </p:nvSpPr>
        <p:spPr>
          <a:xfrm>
            <a:off x="6867144" y="1188720"/>
            <a:ext cx="2057400" cy="3657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6867144" y="1188720"/>
            <a:ext cx="2057400" cy="594360"/>
          </a:xfrm>
          <a:prstGeom prst="roundRect">
            <a:avLst>
              <a:gd name="adj" fmla="val 23077"/>
            </a:avLst>
          </a:prstGeom>
          <a:solidFill>
            <a:srgbClr val="1565C0"/>
          </a:solidFill>
          <a:ln/>
        </p:spPr>
      </p:sp>
      <p:sp>
        <p:nvSpPr>
          <p:cNvPr id="36" name="Shape 31"/>
          <p:cNvSpPr/>
          <p:nvPr/>
        </p:nvSpPr>
        <p:spPr>
          <a:xfrm>
            <a:off x="6867144" y="1554480"/>
            <a:ext cx="2057400" cy="274320"/>
          </a:xfrm>
          <a:prstGeom prst="rect">
            <a:avLst/>
          </a:prstGeom>
          <a:solidFill>
            <a:srgbClr val="1565C0"/>
          </a:solidFill>
          <a:ln/>
        </p:spPr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71816" y="1234440"/>
            <a:ext cx="457200" cy="457200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6958584" y="182880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</a:t>
            </a:r>
            <a:endParaRPr lang="en-US" sz="1200" dirty="0"/>
          </a:p>
        </p:txBody>
      </p:sp>
      <p:sp>
        <p:nvSpPr>
          <p:cNvPr id="39" name="Text 33"/>
          <p:cNvSpPr/>
          <p:nvPr/>
        </p:nvSpPr>
        <p:spPr>
          <a:xfrm>
            <a:off x="7004304" y="221284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all user accounts</a:t>
            </a:r>
            <a:endParaRPr lang="en-US" sz="950" dirty="0"/>
          </a:p>
        </p:txBody>
      </p:sp>
      <p:sp>
        <p:nvSpPr>
          <p:cNvPr id="40" name="Text 34"/>
          <p:cNvSpPr/>
          <p:nvPr/>
        </p:nvSpPr>
        <p:spPr>
          <a:xfrm>
            <a:off x="7004304" y="270662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all transactions</a:t>
            </a:r>
            <a:endParaRPr lang="en-US" sz="950" dirty="0"/>
          </a:p>
        </p:txBody>
      </p:sp>
      <p:sp>
        <p:nvSpPr>
          <p:cNvPr id="41" name="Text 35"/>
          <p:cNvSpPr/>
          <p:nvPr/>
        </p:nvSpPr>
        <p:spPr>
          <a:xfrm>
            <a:off x="7004304" y="320040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system reports</a:t>
            </a:r>
            <a:endParaRPr lang="en-US" sz="950" dirty="0"/>
          </a:p>
        </p:txBody>
      </p:sp>
      <p:sp>
        <p:nvSpPr>
          <p:cNvPr id="42" name="Text 36"/>
          <p:cNvSpPr/>
          <p:nvPr/>
        </p:nvSpPr>
        <p:spPr>
          <a:xfrm>
            <a:off x="7004304" y="369417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analytics dashboard</a:t>
            </a:r>
            <a:endParaRPr lang="en-US" sz="950" dirty="0"/>
          </a:p>
        </p:txBody>
      </p:sp>
      <p:sp>
        <p:nvSpPr>
          <p:cNvPr id="43" name="Text 37"/>
          <p:cNvSpPr/>
          <p:nvPr/>
        </p:nvSpPr>
        <p:spPr>
          <a:xfrm>
            <a:off x="7004304" y="418795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system operations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SYSTEM FEATURES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115568"/>
            <a:ext cx="2057400" cy="1691640"/>
          </a:xfrm>
          <a:prstGeom prst="roundRect">
            <a:avLst>
              <a:gd name="adj" fmla="val 6486"/>
            </a:avLst>
          </a:prstGeom>
          <a:solidFill>
            <a:srgbClr val="F5F5F5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1298448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5528" y="128016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338328" y="173736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JWT-secured registration, login &amp; password reset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441448" y="1115568"/>
            <a:ext cx="2057400" cy="1691640"/>
          </a:xfrm>
          <a:prstGeom prst="roundRect">
            <a:avLst>
              <a:gd name="adj" fmla="val 6486"/>
            </a:avLst>
          </a:prstGeom>
          <a:solidFill>
            <a:srgbClr val="F5F5F5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1176" y="1298448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008376" y="128016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Mgmt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2551176" y="173736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Profile, menu &amp; order management for owners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4654296" y="1115568"/>
            <a:ext cx="2057400" cy="1691640"/>
          </a:xfrm>
          <a:prstGeom prst="roundRect">
            <a:avLst>
              <a:gd name="adj" fmla="val 6486"/>
            </a:avLst>
          </a:prstGeom>
          <a:solidFill>
            <a:srgbClr val="F5F5F5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4024" y="1298448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221224" y="128016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&amp; Orders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4764024" y="173736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items, checkout, order IDs &amp; status tracking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6867144" y="1115568"/>
            <a:ext cx="2057400" cy="1691640"/>
          </a:xfrm>
          <a:prstGeom prst="roundRect">
            <a:avLst>
              <a:gd name="adj" fmla="val 6486"/>
            </a:avLst>
          </a:prstGeom>
          <a:solidFill>
            <a:srgbClr val="F5F5F5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6872" y="1298448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434072" y="128016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6976872" y="173736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gateway, cash on delivery &amp; receipts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228600" y="3017520"/>
            <a:ext cx="2057400" cy="1691640"/>
          </a:xfrm>
          <a:prstGeom prst="roundRect">
            <a:avLst>
              <a:gd name="adj" fmla="val 6486"/>
            </a:avLst>
          </a:prstGeom>
          <a:solidFill>
            <a:srgbClr val="F5F5F5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328" y="3200400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95528" y="318211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Mgmt</a:t>
            </a:r>
            <a:endParaRPr lang="en-US" sz="1150" dirty="0"/>
          </a:p>
        </p:txBody>
      </p:sp>
      <p:sp>
        <p:nvSpPr>
          <p:cNvPr id="23" name="Text 16"/>
          <p:cNvSpPr/>
          <p:nvPr/>
        </p:nvSpPr>
        <p:spPr>
          <a:xfrm>
            <a:off x="338328" y="3639312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Auto-assign riders, real-time GPS tracking</a:t>
            </a:r>
            <a:endParaRPr lang="en-US" sz="950" dirty="0"/>
          </a:p>
        </p:txBody>
      </p:sp>
      <p:sp>
        <p:nvSpPr>
          <p:cNvPr id="24" name="Shape 17"/>
          <p:cNvSpPr/>
          <p:nvPr/>
        </p:nvSpPr>
        <p:spPr>
          <a:xfrm>
            <a:off x="2441448" y="3017520"/>
            <a:ext cx="2057400" cy="1691640"/>
          </a:xfrm>
          <a:prstGeom prst="roundRect">
            <a:avLst>
              <a:gd name="adj" fmla="val 6486"/>
            </a:avLst>
          </a:prstGeom>
          <a:solidFill>
            <a:srgbClr val="F5F5F5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51176" y="3200400"/>
            <a:ext cx="365760" cy="36576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3008376" y="318211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150" dirty="0"/>
          </a:p>
        </p:txBody>
      </p:sp>
      <p:sp>
        <p:nvSpPr>
          <p:cNvPr id="27" name="Text 19"/>
          <p:cNvSpPr/>
          <p:nvPr/>
        </p:nvSpPr>
        <p:spPr>
          <a:xfrm>
            <a:off x="2551176" y="3639312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Push, SMS &amp; email alerts at every order stage</a:t>
            </a:r>
            <a:endParaRPr lang="en-US" sz="950" dirty="0"/>
          </a:p>
        </p:txBody>
      </p:sp>
      <p:sp>
        <p:nvSpPr>
          <p:cNvPr id="28" name="Shape 20"/>
          <p:cNvSpPr/>
          <p:nvPr/>
        </p:nvSpPr>
        <p:spPr>
          <a:xfrm>
            <a:off x="4654296" y="3017520"/>
            <a:ext cx="2057400" cy="1691640"/>
          </a:xfrm>
          <a:prstGeom prst="roundRect">
            <a:avLst>
              <a:gd name="adj" fmla="val 6486"/>
            </a:avLst>
          </a:prstGeom>
          <a:solidFill>
            <a:srgbClr val="F5F5F5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64024" y="3200400"/>
            <a:ext cx="365760" cy="36576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5221224" y="318211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&amp; Ratings</a:t>
            </a:r>
            <a:endParaRPr lang="en-US" sz="1150" dirty="0"/>
          </a:p>
        </p:txBody>
      </p:sp>
      <p:sp>
        <p:nvSpPr>
          <p:cNvPr id="31" name="Text 22"/>
          <p:cNvSpPr/>
          <p:nvPr/>
        </p:nvSpPr>
        <p:spPr>
          <a:xfrm>
            <a:off x="4764024" y="3639312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ratings and restaurant feedback loop</a:t>
            </a:r>
            <a:endParaRPr lang="en-US" sz="950" dirty="0"/>
          </a:p>
        </p:txBody>
      </p:sp>
      <p:sp>
        <p:nvSpPr>
          <p:cNvPr id="32" name="Shape 23"/>
          <p:cNvSpPr/>
          <p:nvPr/>
        </p:nvSpPr>
        <p:spPr>
          <a:xfrm>
            <a:off x="6867144" y="3017520"/>
            <a:ext cx="2057400" cy="1691640"/>
          </a:xfrm>
          <a:prstGeom prst="roundRect">
            <a:avLst>
              <a:gd name="adj" fmla="val 6486"/>
            </a:avLst>
          </a:prstGeom>
          <a:solidFill>
            <a:srgbClr val="F5F5F5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76872" y="3200400"/>
            <a:ext cx="365760" cy="36576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7434072" y="318211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150" dirty="0"/>
          </a:p>
        </p:txBody>
      </p:sp>
      <p:sp>
        <p:nvSpPr>
          <p:cNvPr id="35" name="Text 25"/>
          <p:cNvSpPr/>
          <p:nvPr/>
        </p:nvSpPr>
        <p:spPr>
          <a:xfrm>
            <a:off x="6976872" y="3639312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Analytics, user management &amp; full reporting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3" name="Shape 1"/>
          <p:cNvSpPr/>
          <p:nvPr/>
        </p:nvSpPr>
        <p:spPr>
          <a:xfrm>
            <a:off x="-731520" y="2743200"/>
            <a:ext cx="3657600" cy="3657600"/>
          </a:xfrm>
          <a:prstGeom prst="ellipse">
            <a:avLst/>
          </a:prstGeom>
          <a:solidFill>
            <a:srgbClr val="E53935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640080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</a:t>
            </a:r>
            <a:endParaRPr lang="en-US" sz="2500" dirty="0"/>
          </a:p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</a:t>
            </a:r>
            <a:endParaRPr lang="en-US" sz="2500" dirty="0"/>
          </a:p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82880" y="25603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REQ-1 through REQ-35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108960" y="182880"/>
            <a:ext cx="57607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46120" y="27432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REQ-1–5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434840" y="27432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Registration, login, JWT auth &amp; password reset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08960" y="777240"/>
            <a:ext cx="57607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46120" y="8686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REQ-6–9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34840" y="86868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registration, menu updates &amp; order status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08960" y="1371600"/>
            <a:ext cx="57607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46120" y="14630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REQ-10–13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34840" y="146304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add/edit, categories &amp; item availability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108960" y="1965960"/>
            <a:ext cx="57607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46120" y="205740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REQ-14–17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34840" y="205740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management, totals, order IDs &amp; status tracking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108960" y="2560320"/>
            <a:ext cx="57607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46120" y="26517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REQ-18–21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434840" y="265176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payments, COD, transaction records &amp; receipts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108960" y="3154680"/>
            <a:ext cx="57607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46120" y="324612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REQ-22–25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434840" y="324612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partner assignment, GPS tracking &amp; notifications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108960" y="3749040"/>
            <a:ext cx="57607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246120" y="38404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REQ-26–28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434840" y="384048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Push, SMS &amp; email notifications at every order stage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108960" y="4343400"/>
            <a:ext cx="57607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246120" y="44348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REQ-29–35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434840" y="443484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Reviews, ratings, admin tools, analytics &amp; reports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B71C1C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2743200"/>
            <a:ext cx="3657600" cy="3657600"/>
          </a:xfrm>
          <a:prstGeom prst="ellipse">
            <a:avLst/>
          </a:prstGeom>
          <a:solidFill>
            <a:srgbClr val="FF8F00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500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 Powering FOODIE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29B6F6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1399032"/>
            <a:ext cx="256032" cy="256032"/>
          </a:xfrm>
          <a:prstGeom prst="ellipse">
            <a:avLst/>
          </a:prstGeom>
          <a:solidFill>
            <a:srgbClr val="29B6F6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13533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80136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· iOS · Web Browser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123444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66BB6A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64992" y="1399032"/>
            <a:ext cx="256032" cy="256032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12" name="Text 10"/>
          <p:cNvSpPr/>
          <p:nvPr/>
        </p:nvSpPr>
        <p:spPr>
          <a:xfrm>
            <a:off x="3730752" y="13533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180136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Express.js · REST APIs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35040" y="123444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AB47BC">
                <a:alpha val="5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99632" y="1399032"/>
            <a:ext cx="256032" cy="256032"/>
          </a:xfrm>
          <a:prstGeom prst="ellipse">
            <a:avLst/>
          </a:prstGeom>
          <a:solidFill>
            <a:srgbClr val="AB47BC"/>
          </a:solidFill>
          <a:ln/>
        </p:spPr>
      </p:sp>
      <p:sp>
        <p:nvSpPr>
          <p:cNvPr id="16" name="Text 14"/>
          <p:cNvSpPr/>
          <p:nvPr/>
        </p:nvSpPr>
        <p:spPr>
          <a:xfrm>
            <a:off x="6565392" y="135331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0" y="180136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· Redis Cache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01752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8F00">
                <a:alpha val="5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" y="3182112"/>
            <a:ext cx="256032" cy="256032"/>
          </a:xfrm>
          <a:prstGeom prst="ellipse">
            <a:avLst/>
          </a:prstGeom>
          <a:solidFill>
            <a:srgbClr val="FF8F00"/>
          </a:solidFill>
          <a:ln/>
        </p:spPr>
      </p:sp>
      <p:sp>
        <p:nvSpPr>
          <p:cNvPr id="20" name="Text 18"/>
          <p:cNvSpPr/>
          <p:nvPr/>
        </p:nvSpPr>
        <p:spPr>
          <a:xfrm>
            <a:off x="896112" y="31363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358444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· Google Cloud Platform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0" y="301752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EF5350">
                <a:alpha val="5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64992" y="3182112"/>
            <a:ext cx="256032" cy="256032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24" name="Text 22"/>
          <p:cNvSpPr/>
          <p:nvPr/>
        </p:nvSpPr>
        <p:spPr>
          <a:xfrm>
            <a:off x="3730752" y="31363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383280" y="358444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· Kubernetes · Firebase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035040" y="301752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26C6DA">
                <a:alpha val="5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99632" y="3182112"/>
            <a:ext cx="256032" cy="256032"/>
          </a:xfrm>
          <a:prstGeom prst="ellipse">
            <a:avLst/>
          </a:prstGeom>
          <a:solidFill>
            <a:srgbClr val="26C6DA"/>
          </a:solidFill>
          <a:ln/>
        </p:spPr>
      </p:sp>
      <p:sp>
        <p:nvSpPr>
          <p:cNvPr id="28" name="Text 26"/>
          <p:cNvSpPr/>
          <p:nvPr/>
        </p:nvSpPr>
        <p:spPr>
          <a:xfrm>
            <a:off x="6565392" y="31363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17920" y="3584448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· JWT · OAuth 2.0 · HTTPS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NON-FUNCTIONAL REQUIREMENTS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097280"/>
            <a:ext cx="2057400" cy="150876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207008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10K+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28600" y="198424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Users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41448" y="1097280"/>
            <a:ext cx="2057400" cy="150876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41448" y="1207008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3s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441448" y="198424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Response Time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54296" y="1097280"/>
            <a:ext cx="2057400" cy="150876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54296" y="1207008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654296" y="198424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Uptime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67144" y="1097280"/>
            <a:ext cx="2057400" cy="1508760"/>
          </a:xfrm>
          <a:prstGeom prst="roundRect">
            <a:avLst>
              <a:gd name="adj" fmla="val 7273"/>
            </a:avLst>
          </a:prstGeom>
          <a:solidFill>
            <a:srgbClr val="F5F5F5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67144" y="1207008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5s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867144" y="198424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Processing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834640"/>
            <a:ext cx="2788920" cy="804672"/>
          </a:xfrm>
          <a:prstGeom prst="roundRect">
            <a:avLst>
              <a:gd name="adj" fmla="val 9091"/>
            </a:avLst>
          </a:prstGeom>
          <a:solidFill>
            <a:srgbClr val="F5F5F5"/>
          </a:solidFill>
          <a:ln/>
        </p:spPr>
      </p:sp>
      <p:sp>
        <p:nvSpPr>
          <p:cNvPr id="17" name="Shape 15"/>
          <p:cNvSpPr/>
          <p:nvPr/>
        </p:nvSpPr>
        <p:spPr>
          <a:xfrm>
            <a:off x="365760" y="3108960"/>
            <a:ext cx="237744" cy="237744"/>
          </a:xfrm>
          <a:prstGeom prst="ellipse">
            <a:avLst/>
          </a:prstGeom>
          <a:solidFill>
            <a:srgbClr val="B71C1C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29260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" y="325526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 uptime target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54680" y="2834640"/>
            <a:ext cx="2788920" cy="804672"/>
          </a:xfrm>
          <a:prstGeom prst="roundRect">
            <a:avLst>
              <a:gd name="adj" fmla="val 9091"/>
            </a:avLst>
          </a:prstGeom>
          <a:solidFill>
            <a:srgbClr val="F5F5F5"/>
          </a:solidFill>
          <a:ln/>
        </p:spPr>
      </p:sp>
      <p:sp>
        <p:nvSpPr>
          <p:cNvPr id="21" name="Shape 19"/>
          <p:cNvSpPr/>
          <p:nvPr/>
        </p:nvSpPr>
        <p:spPr>
          <a:xfrm>
            <a:off x="3291840" y="3108960"/>
            <a:ext cx="237744" cy="237744"/>
          </a:xfrm>
          <a:prstGeom prst="ellipse">
            <a:avLst/>
          </a:prstGeom>
          <a:solidFill>
            <a:srgbClr val="B71C1C"/>
          </a:solidFill>
          <a:ln/>
        </p:spPr>
      </p:sp>
      <p:sp>
        <p:nvSpPr>
          <p:cNvPr id="22" name="Text 20"/>
          <p:cNvSpPr/>
          <p:nvPr/>
        </p:nvSpPr>
        <p:spPr>
          <a:xfrm>
            <a:off x="3611880" y="29260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11880" y="325526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access guaranteed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80760" y="2834640"/>
            <a:ext cx="2788920" cy="804672"/>
          </a:xfrm>
          <a:prstGeom prst="roundRect">
            <a:avLst>
              <a:gd name="adj" fmla="val 9091"/>
            </a:avLst>
          </a:prstGeom>
          <a:solidFill>
            <a:srgbClr val="F5F5F5"/>
          </a:solidFill>
          <a:ln/>
        </p:spPr>
      </p:sp>
      <p:sp>
        <p:nvSpPr>
          <p:cNvPr id="25" name="Shape 23"/>
          <p:cNvSpPr/>
          <p:nvPr/>
        </p:nvSpPr>
        <p:spPr>
          <a:xfrm>
            <a:off x="6217920" y="3108960"/>
            <a:ext cx="237744" cy="237744"/>
          </a:xfrm>
          <a:prstGeom prst="ellipse">
            <a:avLst/>
          </a:prstGeom>
          <a:solidFill>
            <a:srgbClr val="B71C1C"/>
          </a:solidFill>
          <a:ln/>
        </p:spPr>
      </p:sp>
      <p:sp>
        <p:nvSpPr>
          <p:cNvPr id="26" name="Text 24"/>
          <p:cNvSpPr/>
          <p:nvPr/>
        </p:nvSpPr>
        <p:spPr>
          <a:xfrm>
            <a:off x="6537960" y="29260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37960" y="325526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auto-scaling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28600" y="3840480"/>
            <a:ext cx="2788920" cy="804672"/>
          </a:xfrm>
          <a:prstGeom prst="roundRect">
            <a:avLst>
              <a:gd name="adj" fmla="val 9091"/>
            </a:avLst>
          </a:prstGeom>
          <a:solidFill>
            <a:srgbClr val="F5F5F5"/>
          </a:solidFill>
          <a:ln/>
        </p:spPr>
      </p:sp>
      <p:sp>
        <p:nvSpPr>
          <p:cNvPr id="29" name="Shape 27"/>
          <p:cNvSpPr/>
          <p:nvPr/>
        </p:nvSpPr>
        <p:spPr>
          <a:xfrm>
            <a:off x="365760" y="4114800"/>
            <a:ext cx="237744" cy="237744"/>
          </a:xfrm>
          <a:prstGeom prst="ellipse">
            <a:avLst/>
          </a:prstGeom>
          <a:solidFill>
            <a:srgbClr val="B71C1C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39319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5800" y="426110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architecture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154680" y="3840480"/>
            <a:ext cx="2788920" cy="804672"/>
          </a:xfrm>
          <a:prstGeom prst="roundRect">
            <a:avLst>
              <a:gd name="adj" fmla="val 9091"/>
            </a:avLst>
          </a:prstGeom>
          <a:solidFill>
            <a:srgbClr val="F5F5F5"/>
          </a:solidFill>
          <a:ln/>
        </p:spPr>
      </p:sp>
      <p:sp>
        <p:nvSpPr>
          <p:cNvPr id="33" name="Shape 31"/>
          <p:cNvSpPr/>
          <p:nvPr/>
        </p:nvSpPr>
        <p:spPr>
          <a:xfrm>
            <a:off x="3291840" y="4114800"/>
            <a:ext cx="237744" cy="237744"/>
          </a:xfrm>
          <a:prstGeom prst="ellipse">
            <a:avLst/>
          </a:prstGeom>
          <a:solidFill>
            <a:srgbClr val="B71C1C"/>
          </a:solidFill>
          <a:ln/>
        </p:spPr>
      </p:sp>
      <p:sp>
        <p:nvSpPr>
          <p:cNvPr id="34" name="Text 32"/>
          <p:cNvSpPr/>
          <p:nvPr/>
        </p:nvSpPr>
        <p:spPr>
          <a:xfrm>
            <a:off x="3611880" y="39319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Usability: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611880" y="426110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Intuitive cross-platform UI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080760" y="3840480"/>
            <a:ext cx="2788920" cy="804672"/>
          </a:xfrm>
          <a:prstGeom prst="roundRect">
            <a:avLst>
              <a:gd name="adj" fmla="val 9091"/>
            </a:avLst>
          </a:prstGeom>
          <a:solidFill>
            <a:srgbClr val="F5F5F5"/>
          </a:solidFill>
          <a:ln/>
        </p:spPr>
      </p:sp>
      <p:sp>
        <p:nvSpPr>
          <p:cNvPr id="37" name="Shape 35"/>
          <p:cNvSpPr/>
          <p:nvPr/>
        </p:nvSpPr>
        <p:spPr>
          <a:xfrm>
            <a:off x="6217920" y="4114800"/>
            <a:ext cx="237744" cy="237744"/>
          </a:xfrm>
          <a:prstGeom prst="ellipse">
            <a:avLst/>
          </a:prstGeom>
          <a:solidFill>
            <a:srgbClr val="B71C1C"/>
          </a:solidFill>
          <a:ln/>
        </p:spPr>
      </p:sp>
      <p:sp>
        <p:nvSpPr>
          <p:cNvPr id="38" name="Text 36"/>
          <p:cNvSpPr/>
          <p:nvPr/>
        </p:nvSpPr>
        <p:spPr>
          <a:xfrm>
            <a:off x="6537960" y="39319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537960" y="426110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&amp; RBAC-enforced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-457200"/>
            <a:ext cx="3657600" cy="3657600"/>
          </a:xfrm>
          <a:prstGeom prst="ellipse">
            <a:avLst/>
          </a:prstGeom>
          <a:solidFill>
            <a:srgbClr val="B71C1C">
              <a:alpha val="15000"/>
            </a:srgbClr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45720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74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COMPLIANCE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274320" y="2651760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FFC107">
                <a:alpha val="30000"/>
              </a:srgbClr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2926080"/>
            <a:ext cx="384048" cy="3840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32688" y="274320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Encryption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932688" y="3145536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hashing for all stored passwords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3200400" y="2651760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FFC107">
                <a:alpha val="30000"/>
              </a:srgbClr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4992" y="2926080"/>
            <a:ext cx="384048" cy="38404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858768" y="274320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/ SSL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3858768" y="3145536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encrypted communication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6126480" y="2651760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FFC107">
                <a:alpha val="30000"/>
              </a:srgbClr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1072" y="2926080"/>
            <a:ext cx="384048" cy="38404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784848" y="274320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6784848" y="3145536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token-based session management</a:t>
            </a:r>
            <a:endParaRPr lang="en-US" sz="900" dirty="0"/>
          </a:p>
        </p:txBody>
      </p:sp>
      <p:sp>
        <p:nvSpPr>
          <p:cNvPr id="17" name="Shape 11"/>
          <p:cNvSpPr/>
          <p:nvPr/>
        </p:nvSpPr>
        <p:spPr>
          <a:xfrm>
            <a:off x="274320" y="3822192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FFC107">
                <a:alpha val="30000"/>
              </a:srgbClr>
            </a:solidFill>
            <a:prstDash val="solid"/>
          </a:ln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912" y="4096512"/>
            <a:ext cx="384048" cy="38404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32688" y="391363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932688" y="431596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enforces permission boundaries</a:t>
            </a:r>
            <a:endParaRPr lang="en-US" sz="900" dirty="0"/>
          </a:p>
        </p:txBody>
      </p:sp>
      <p:sp>
        <p:nvSpPr>
          <p:cNvPr id="21" name="Shape 14"/>
          <p:cNvSpPr/>
          <p:nvPr/>
        </p:nvSpPr>
        <p:spPr>
          <a:xfrm>
            <a:off x="3200400" y="3822192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FFC107">
                <a:alpha val="30000"/>
              </a:srgbClr>
            </a:solidFill>
            <a:prstDash val="solid"/>
          </a:ln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64992" y="4096512"/>
            <a:ext cx="384048" cy="38404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3858768" y="391363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Payments</a:t>
            </a:r>
            <a:endParaRPr lang="en-US" sz="1100" dirty="0"/>
          </a:p>
        </p:txBody>
      </p:sp>
      <p:sp>
        <p:nvSpPr>
          <p:cNvPr id="24" name="Text 16"/>
          <p:cNvSpPr/>
          <p:nvPr/>
        </p:nvSpPr>
        <p:spPr>
          <a:xfrm>
            <a:off x="3858768" y="431596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PCI-compliant Stripe gateway integration</a:t>
            </a:r>
            <a:endParaRPr lang="en-US" sz="900" dirty="0"/>
          </a:p>
        </p:txBody>
      </p:sp>
      <p:sp>
        <p:nvSpPr>
          <p:cNvPr id="25" name="Shape 17"/>
          <p:cNvSpPr/>
          <p:nvPr/>
        </p:nvSpPr>
        <p:spPr>
          <a:xfrm>
            <a:off x="6126480" y="3822192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FFC107">
                <a:alpha val="30000"/>
              </a:srgbClr>
            </a:solidFill>
            <a:prstDash val="solid"/>
          </a:ln>
        </p:spPr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91072" y="4096512"/>
            <a:ext cx="384048" cy="384048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6784848" y="391363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Confidentiality</a:t>
            </a:r>
            <a:endParaRPr lang="en-US" sz="1100" dirty="0"/>
          </a:p>
        </p:txBody>
      </p:sp>
      <p:sp>
        <p:nvSpPr>
          <p:cNvPr id="28" name="Text 19"/>
          <p:cNvSpPr/>
          <p:nvPr/>
        </p:nvSpPr>
        <p:spPr>
          <a:xfrm>
            <a:off x="6784848" y="431596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data isolated per role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&amp; FUTURE SCOPE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011680" cy="457200"/>
          </a:xfrm>
          <a:prstGeom prst="roundRect">
            <a:avLst>
              <a:gd name="adj" fmla="val 20000"/>
            </a:avLst>
          </a:prstGeom>
          <a:solidFill>
            <a:srgbClr val="B71C1C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097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627632"/>
            <a:ext cx="2011680" cy="3291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7373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Launch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2212848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 &amp; registration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" y="2807208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&amp; menu management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" y="3401568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Cart, orders &amp; payments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50592" y="1097280"/>
            <a:ext cx="2011680" cy="457200"/>
          </a:xfrm>
          <a:prstGeom prst="roundRect">
            <a:avLst>
              <a:gd name="adj" fmla="val 20000"/>
            </a:avLst>
          </a:prstGeom>
          <a:solidFill>
            <a:srgbClr val="FF8F00"/>
          </a:solidFill>
          <a:ln/>
        </p:spPr>
      </p:sp>
      <p:sp>
        <p:nvSpPr>
          <p:cNvPr id="12" name="Text 10"/>
          <p:cNvSpPr/>
          <p:nvPr/>
        </p:nvSpPr>
        <p:spPr>
          <a:xfrm>
            <a:off x="2450592" y="1097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1627632"/>
            <a:ext cx="2011680" cy="3291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42032" y="17373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&amp; Tracking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60320" y="2212848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partner module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60320" y="2807208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GPS tracking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60320" y="3401568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Push/SMS notifications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26864" y="1097280"/>
            <a:ext cx="2011680" cy="45720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/>
        </p:spPr>
      </p:sp>
      <p:sp>
        <p:nvSpPr>
          <p:cNvPr id="19" name="Text 17"/>
          <p:cNvSpPr/>
          <p:nvPr/>
        </p:nvSpPr>
        <p:spPr>
          <a:xfrm>
            <a:off x="4626864" y="1097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26864" y="1627632"/>
            <a:ext cx="2011680" cy="3291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18304" y="17373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Ratings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36592" y="2212848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rating system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36592" y="2807208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analytics dashboard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36592" y="3401568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03136" y="1097280"/>
            <a:ext cx="2011680" cy="45720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/>
        </p:spPr>
      </p:sp>
      <p:sp>
        <p:nvSpPr>
          <p:cNvPr id="26" name="Text 24"/>
          <p:cNvSpPr/>
          <p:nvPr/>
        </p:nvSpPr>
        <p:spPr>
          <a:xfrm>
            <a:off x="6803136" y="1097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803136" y="1627632"/>
            <a:ext cx="2011680" cy="3291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894576" y="17373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Expansion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912864" y="2212848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recommendations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12864" y="2807208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rewards system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912864" y="3401568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0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&amp; voice ordering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B71C1C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1828800"/>
            <a:ext cx="4572000" cy="4572000"/>
          </a:xfrm>
          <a:prstGeom prst="ellipse">
            <a:avLst/>
          </a:prstGeom>
          <a:solidFill>
            <a:srgbClr val="FF8F00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600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B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5000" dirty="0"/>
          </a:p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Diagrams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 ·  Use Case  ·  Architecture  ·  Sequence  ·  Activity  ·  ER  ·  UI Mockup  ·  Implementation  ·  Landing Page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Diagram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28600" y="67665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between FOODIE and all external actors</a:t>
            </a:r>
            <a:endParaRPr lang="en-US" sz="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9728" y="932688"/>
            <a:ext cx="8924544" cy="415594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Diagram — Description</a:t>
            </a:r>
            <a:endParaRPr lang="en-US" sz="1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60720" y="777240"/>
            <a:ext cx="3200400" cy="2011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0" y="749808"/>
            <a:ext cx="3291840" cy="2084832"/>
          </a:xfrm>
          <a:prstGeom prst="roundRect">
            <a:avLst>
              <a:gd name="adj" fmla="val 3509"/>
            </a:avLst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60720" y="777240"/>
            <a:ext cx="3200400" cy="20116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28600" y="969264"/>
            <a:ext cx="201168" cy="201168"/>
          </a:xfrm>
          <a:prstGeom prst="ellipse">
            <a:avLst/>
          </a:prstGeom>
          <a:solidFill>
            <a:srgbClr val="B71C1C"/>
          </a:solidFill>
          <a:ln/>
        </p:spPr>
      </p:sp>
      <p:sp>
        <p:nvSpPr>
          <p:cNvPr id="8" name="Text 4"/>
          <p:cNvSpPr/>
          <p:nvPr/>
        </p:nvSpPr>
        <p:spPr>
          <a:xfrm>
            <a:off x="530352" y="80467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system as a single process (FOODIE) surrounded by 5 external entities: Customer, Restaurant, Delivery Partner, Admin, and Payment Gateway.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228600" y="1536192"/>
            <a:ext cx="201168" cy="201168"/>
          </a:xfrm>
          <a:prstGeom prst="ellipse">
            <a:avLst/>
          </a:prstGeom>
          <a:solidFill>
            <a:srgbClr val="B71C1C"/>
          </a:solidFill>
          <a:ln/>
        </p:spPr>
      </p:sp>
      <p:sp>
        <p:nvSpPr>
          <p:cNvPr id="10" name="Text 6"/>
          <p:cNvSpPr/>
          <p:nvPr/>
        </p:nvSpPr>
        <p:spPr>
          <a:xfrm>
            <a:off x="530352" y="137160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sends: Search, View Menu, Place Order, Make Payment. Receives: Order Confirmation, Tracking, Delivery Updates.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228600" y="2103120"/>
            <a:ext cx="201168" cy="201168"/>
          </a:xfrm>
          <a:prstGeom prst="ellipse">
            <a:avLst/>
          </a:prstGeom>
          <a:solidFill>
            <a:srgbClr val="B71C1C"/>
          </a:solidFill>
          <a:ln/>
        </p:spPr>
      </p:sp>
      <p:sp>
        <p:nvSpPr>
          <p:cNvPr id="12" name="Text 8"/>
          <p:cNvSpPr/>
          <p:nvPr/>
        </p:nvSpPr>
        <p:spPr>
          <a:xfrm>
            <a:off x="530352" y="1938528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sends: Menu, Availability, Order Acceptance/Rejection. Receives: New Orders, Customer Details, Payments.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228600" y="2670048"/>
            <a:ext cx="201168" cy="201168"/>
          </a:xfrm>
          <a:prstGeom prst="ellipse">
            <a:avLst/>
          </a:prstGeom>
          <a:solidFill>
            <a:srgbClr val="B71C1C"/>
          </a:solidFill>
          <a:ln/>
        </p:spPr>
      </p:sp>
      <p:sp>
        <p:nvSpPr>
          <p:cNvPr id="14" name="Text 10"/>
          <p:cNvSpPr/>
          <p:nvPr/>
        </p:nvSpPr>
        <p:spPr>
          <a:xfrm>
            <a:off x="530352" y="2505456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Partner sends: Order Acceptance, Pickup Confirmation, Delivery Status. Receives: Delivery Requests, Pickup/Drop Details.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228600" y="3236976"/>
            <a:ext cx="201168" cy="201168"/>
          </a:xfrm>
          <a:prstGeom prst="ellipse">
            <a:avLst/>
          </a:prstGeom>
          <a:solidFill>
            <a:srgbClr val="B71C1C"/>
          </a:solidFill>
          <a:ln/>
        </p:spPr>
      </p:sp>
      <p:sp>
        <p:nvSpPr>
          <p:cNvPr id="16" name="Text 12"/>
          <p:cNvSpPr/>
          <p:nvPr/>
        </p:nvSpPr>
        <p:spPr>
          <a:xfrm>
            <a:off x="530352" y="3072384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sends: Manage Users/Restaurants/Orders/Reports. Receives: Reports, Analytics, System Logs, Notifications.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228600" y="3803904"/>
            <a:ext cx="201168" cy="201168"/>
          </a:xfrm>
          <a:prstGeom prst="ellipse">
            <a:avLst/>
          </a:prstGeom>
          <a:solidFill>
            <a:srgbClr val="B71C1C"/>
          </a:solidFill>
          <a:ln/>
        </p:spPr>
      </p:sp>
      <p:sp>
        <p:nvSpPr>
          <p:cNvPr id="18" name="Text 14"/>
          <p:cNvSpPr/>
          <p:nvPr/>
        </p:nvSpPr>
        <p:spPr>
          <a:xfrm>
            <a:off x="530352" y="363931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 handles Payment Request and returns Payment Confirmation or Failure to the system.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Diagram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28600" y="67665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interactions and system use cases for Customer, Restaurant, Delivery Partner &amp; Admin</a:t>
            </a:r>
            <a:endParaRPr lang="en-US" sz="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9728" y="914400"/>
            <a:ext cx="8924544" cy="415594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Diagram — Description</a:t>
            </a:r>
            <a:endParaRPr lang="en-US" sz="1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60720" y="777240"/>
            <a:ext cx="3200400" cy="2011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0" y="749808"/>
            <a:ext cx="3291840" cy="2084832"/>
          </a:xfrm>
          <a:prstGeom prst="roundRect">
            <a:avLst>
              <a:gd name="adj" fmla="val 3509"/>
            </a:avLst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60720" y="777240"/>
            <a:ext cx="3200400" cy="20116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28600" y="969264"/>
            <a:ext cx="201168" cy="201168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8" name="Text 4"/>
          <p:cNvSpPr/>
          <p:nvPr/>
        </p:nvSpPr>
        <p:spPr>
          <a:xfrm>
            <a:off x="530352" y="80467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actors: Customer (green), Delivery Partner (purple), Restaurant (blue), Admin (yellow), plus external Payment Gateway.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228600" y="1536192"/>
            <a:ext cx="201168" cy="201168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10" name="Text 6"/>
          <p:cNvSpPr/>
          <p:nvPr/>
        </p:nvSpPr>
        <p:spPr>
          <a:xfrm>
            <a:off x="530352" y="137160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use cases include: Register/Login, Browse Restaurants, Search &amp; Filter, View Menu, Add to Cart, Place Order, Make Payment, Track Order, Rate &amp; Review, Manage Profile, View Offers.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228600" y="2103120"/>
            <a:ext cx="201168" cy="201168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12" name="Text 8"/>
          <p:cNvSpPr/>
          <p:nvPr/>
        </p:nvSpPr>
        <p:spPr>
          <a:xfrm>
            <a:off x="530352" y="1938528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shared use cases use «include»: Place Order → Manage Cart → Select Address → Choose Payment Method → Update Order Status.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228600" y="2670048"/>
            <a:ext cx="201168" cy="201168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14" name="Text 10"/>
          <p:cNvSpPr/>
          <p:nvPr/>
        </p:nvSpPr>
        <p:spPr>
          <a:xfrm>
            <a:off x="530352" y="2505456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Partner: Login/Register, View Assigned Orders, Accept/Reject Order, Navigate to Pickup, Pickup Order, Deliver Order, Update Delivery Status.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228600" y="3236976"/>
            <a:ext cx="201168" cy="201168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16" name="Text 12"/>
          <p:cNvSpPr/>
          <p:nvPr/>
        </p:nvSpPr>
        <p:spPr>
          <a:xfrm>
            <a:off x="530352" y="3072384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Restaurant: Register/Login, Manage Profile, Manage Menu, Manage Availability, View/Manage Orders, Update Order Status, View Earnings.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228600" y="3803904"/>
            <a:ext cx="201168" cy="201168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18" name="Text 14"/>
          <p:cNvSpPr/>
          <p:nvPr/>
        </p:nvSpPr>
        <p:spPr>
          <a:xfrm>
            <a:off x="530352" y="363931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Admin: Login, Manage Users/Restaurants/Orders, Manage Offers &amp; Coupons, View Reports &amp; Analytics, System Settings.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Diagram — Microservices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28600" y="67665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microservices architecture with 12 services, service discovery, message broker, and DevOps</a:t>
            </a:r>
            <a:endParaRPr lang="en-US" sz="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9728" y="914400"/>
            <a:ext cx="8924544" cy="415594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Diagram — Microservices — Description</a:t>
            </a:r>
            <a:endParaRPr lang="en-US" sz="1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60720" y="777240"/>
            <a:ext cx="3200400" cy="2011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0" y="749808"/>
            <a:ext cx="3291840" cy="2084832"/>
          </a:xfrm>
          <a:prstGeom prst="roundRect">
            <a:avLst>
              <a:gd name="adj" fmla="val 3509"/>
            </a:avLst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60720" y="777240"/>
            <a:ext cx="3200400" cy="20116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28600" y="969264"/>
            <a:ext cx="201168" cy="201168"/>
          </a:xfrm>
          <a:prstGeom prst="ellipse">
            <a:avLst/>
          </a:prstGeom>
          <a:solidFill>
            <a:srgbClr val="1B5E20"/>
          </a:solidFill>
          <a:ln/>
        </p:spPr>
      </p:sp>
      <p:sp>
        <p:nvSpPr>
          <p:cNvPr id="8" name="Text 4"/>
          <p:cNvSpPr/>
          <p:nvPr/>
        </p:nvSpPr>
        <p:spPr>
          <a:xfrm>
            <a:off x="530352" y="80467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Layer: Customer App (Mobile/Web), Restaurant App (Web), Delivery Partner App (Mobile), Admin Dashboard (Web).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228600" y="1536192"/>
            <a:ext cx="201168" cy="201168"/>
          </a:xfrm>
          <a:prstGeom prst="ellipse">
            <a:avLst/>
          </a:prstGeom>
          <a:solidFill>
            <a:srgbClr val="1B5E20"/>
          </a:solidFill>
          <a:ln/>
        </p:spPr>
      </p:sp>
      <p:sp>
        <p:nvSpPr>
          <p:cNvPr id="10" name="Text 6"/>
          <p:cNvSpPr/>
          <p:nvPr/>
        </p:nvSpPr>
        <p:spPr>
          <a:xfrm>
            <a:off x="530352" y="137160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handles: Routing, Authentication, Rate Limiting, Request Validation, and Aggregation.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228600" y="2103120"/>
            <a:ext cx="201168" cy="201168"/>
          </a:xfrm>
          <a:prstGeom prst="ellipse">
            <a:avLst/>
          </a:prstGeom>
          <a:solidFill>
            <a:srgbClr val="1B5E20"/>
          </a:solidFill>
          <a:ln/>
        </p:spPr>
      </p:sp>
      <p:sp>
        <p:nvSpPr>
          <p:cNvPr id="12" name="Text 8"/>
          <p:cNvSpPr/>
          <p:nvPr/>
        </p:nvSpPr>
        <p:spPr>
          <a:xfrm>
            <a:off x="530352" y="1938528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Microservices: User, Restaurant, Menu, Order, Payment, Delivery, Notification, Review, Discount, Location, Chat, Admin Service.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228600" y="2670048"/>
            <a:ext cx="201168" cy="201168"/>
          </a:xfrm>
          <a:prstGeom prst="ellipse">
            <a:avLst/>
          </a:prstGeom>
          <a:solidFill>
            <a:srgbClr val="1B5E20"/>
          </a:solidFill>
          <a:ln/>
        </p:spPr>
      </p:sp>
      <p:sp>
        <p:nvSpPr>
          <p:cNvPr id="14" name="Text 10"/>
          <p:cNvSpPr/>
          <p:nvPr/>
        </p:nvSpPr>
        <p:spPr>
          <a:xfrm>
            <a:off x="530352" y="2505456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Layer: Separate DB per service (User DB, Restaurant DB, Menu DB, Order DB, Payment DB, Delivery DB, Review DB, Notification DB, Discount DB) + Redis Cache.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228600" y="3236976"/>
            <a:ext cx="201168" cy="201168"/>
          </a:xfrm>
          <a:prstGeom prst="ellipse">
            <a:avLst/>
          </a:prstGeom>
          <a:solidFill>
            <a:srgbClr val="1B5E20"/>
          </a:solidFill>
          <a:ln/>
        </p:spPr>
      </p:sp>
      <p:sp>
        <p:nvSpPr>
          <p:cNvPr id="16" name="Text 12"/>
          <p:cNvSpPr/>
          <p:nvPr/>
        </p:nvSpPr>
        <p:spPr>
          <a:xfrm>
            <a:off x="530352" y="3072384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Broker (Kafka/RabbitMQ) enables async communication. Service Discovery (Eureka/Consul) manages service registration.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228600" y="3803904"/>
            <a:ext cx="201168" cy="201168"/>
          </a:xfrm>
          <a:prstGeom prst="ellipse">
            <a:avLst/>
          </a:prstGeom>
          <a:solidFill>
            <a:srgbClr val="1B5E20"/>
          </a:solidFill>
          <a:ln/>
        </p:spPr>
      </p:sp>
      <p:sp>
        <p:nvSpPr>
          <p:cNvPr id="18" name="Text 14"/>
          <p:cNvSpPr/>
          <p:nvPr/>
        </p:nvSpPr>
        <p:spPr>
          <a:xfrm>
            <a:off x="530352" y="363931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Services: Payment Gateway, SMS/Email Service, Maps/Location API, Push Notification, Cloud Storage.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228600" y="4370832"/>
            <a:ext cx="201168" cy="201168"/>
          </a:xfrm>
          <a:prstGeom prst="ellipse">
            <a:avLst/>
          </a:prstGeom>
          <a:solidFill>
            <a:srgbClr val="1B5E20"/>
          </a:solidFill>
          <a:ln/>
        </p:spPr>
      </p:sp>
      <p:sp>
        <p:nvSpPr>
          <p:cNvPr id="20" name="Text 16"/>
          <p:cNvSpPr/>
          <p:nvPr/>
        </p:nvSpPr>
        <p:spPr>
          <a:xfrm>
            <a:off x="530352" y="420624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&amp; Infrastructure: Docker, Kubernetes, CI/CD Pipeline, Monitoring (Prometheus/Grafana), Logging (ELK), Security (JWT/OAuth2), Cloud (AWS/GCP/Azure).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A148C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Diagram — Mixed Architecture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28600" y="67665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client, presentation, API gateway, microservices, data, and external services layers</a:t>
            </a:r>
            <a:endParaRPr lang="en-US" sz="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9728" y="914400"/>
            <a:ext cx="8924544" cy="415594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A148C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Diagram — Mixed Architecture — Description</a:t>
            </a:r>
            <a:endParaRPr lang="en-US" sz="1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60720" y="777240"/>
            <a:ext cx="3200400" cy="2011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0" y="749808"/>
            <a:ext cx="3291840" cy="2084832"/>
          </a:xfrm>
          <a:prstGeom prst="roundRect">
            <a:avLst>
              <a:gd name="adj" fmla="val 3509"/>
            </a:avLst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60720" y="777240"/>
            <a:ext cx="3200400" cy="20116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28600" y="969264"/>
            <a:ext cx="201168" cy="201168"/>
          </a:xfrm>
          <a:prstGeom prst="ellipse">
            <a:avLst/>
          </a:prstGeom>
          <a:solidFill>
            <a:srgbClr val="4A148C"/>
          </a:solidFill>
          <a:ln/>
        </p:spPr>
      </p:sp>
      <p:sp>
        <p:nvSpPr>
          <p:cNvPr id="8" name="Text 4"/>
          <p:cNvSpPr/>
          <p:nvPr/>
        </p:nvSpPr>
        <p:spPr>
          <a:xfrm>
            <a:off x="530352" y="80467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Layer: Customer App (Mobile), Restaurant App (Mobile), Admin Dashboard (Web).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228600" y="1536192"/>
            <a:ext cx="201168" cy="201168"/>
          </a:xfrm>
          <a:prstGeom prst="ellipse">
            <a:avLst/>
          </a:prstGeom>
          <a:solidFill>
            <a:srgbClr val="4A148C"/>
          </a:solidFill>
          <a:ln/>
        </p:spPr>
      </p:sp>
      <p:sp>
        <p:nvSpPr>
          <p:cNvPr id="10" name="Text 6"/>
          <p:cNvSpPr/>
          <p:nvPr/>
        </p:nvSpPr>
        <p:spPr>
          <a:xfrm>
            <a:off x="530352" y="137160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 uses Flutter/Web with REST API Calls connecting to the API Gateway/BFF.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228600" y="2103120"/>
            <a:ext cx="201168" cy="201168"/>
          </a:xfrm>
          <a:prstGeom prst="ellipse">
            <a:avLst/>
          </a:prstGeom>
          <a:solidFill>
            <a:srgbClr val="4A148C"/>
          </a:solidFill>
          <a:ln/>
        </p:spPr>
      </p:sp>
      <p:sp>
        <p:nvSpPr>
          <p:cNvPr id="12" name="Text 8"/>
          <p:cNvSpPr/>
          <p:nvPr/>
        </p:nvSpPr>
        <p:spPr>
          <a:xfrm>
            <a:off x="530352" y="1938528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Gateway/BFF handles Authentication, Rate Limiting, and Request Routing.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228600" y="2670048"/>
            <a:ext cx="201168" cy="201168"/>
          </a:xfrm>
          <a:prstGeom prst="ellipse">
            <a:avLst/>
          </a:prstGeom>
          <a:solidFill>
            <a:srgbClr val="4A148C"/>
          </a:solidFill>
          <a:ln/>
        </p:spPr>
      </p:sp>
      <p:sp>
        <p:nvSpPr>
          <p:cNvPr id="14" name="Text 10"/>
          <p:cNvSpPr/>
          <p:nvPr/>
        </p:nvSpPr>
        <p:spPr>
          <a:xfrm>
            <a:off x="530352" y="2505456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Layer: User Service, Restaurant Service, Menu Service, Order Service, Payment Service, Delivery Service, Notification Service, Review Service.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228600" y="3236976"/>
            <a:ext cx="201168" cy="201168"/>
          </a:xfrm>
          <a:prstGeom prst="ellipse">
            <a:avLst/>
          </a:prstGeom>
          <a:solidFill>
            <a:srgbClr val="4A148C"/>
          </a:solidFill>
          <a:ln/>
        </p:spPr>
      </p:sp>
      <p:sp>
        <p:nvSpPr>
          <p:cNvPr id="16" name="Text 12"/>
          <p:cNvSpPr/>
          <p:nvPr/>
        </p:nvSpPr>
        <p:spPr>
          <a:xfrm>
            <a:off x="530352" y="3072384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Layer: User DB, Restaurant DB, Order DB, Payment DB — all independently managed per service.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228600" y="3803904"/>
            <a:ext cx="201168" cy="201168"/>
          </a:xfrm>
          <a:prstGeom prst="ellipse">
            <a:avLst/>
          </a:prstGeom>
          <a:solidFill>
            <a:srgbClr val="4A148C"/>
          </a:solidFill>
          <a:ln/>
        </p:spPr>
      </p:sp>
      <p:sp>
        <p:nvSpPr>
          <p:cNvPr id="18" name="Text 14"/>
          <p:cNvSpPr/>
          <p:nvPr/>
        </p:nvSpPr>
        <p:spPr>
          <a:xfrm>
            <a:off x="530352" y="363931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Layer: Redis for fast data retrieval and session management.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228600" y="4370832"/>
            <a:ext cx="201168" cy="201168"/>
          </a:xfrm>
          <a:prstGeom prst="ellipse">
            <a:avLst/>
          </a:prstGeom>
          <a:solidFill>
            <a:srgbClr val="4A148C"/>
          </a:solidFill>
          <a:ln/>
        </p:spPr>
      </p:sp>
      <p:sp>
        <p:nvSpPr>
          <p:cNvPr id="20" name="Text 16"/>
          <p:cNvSpPr/>
          <p:nvPr/>
        </p:nvSpPr>
        <p:spPr>
          <a:xfrm>
            <a:off x="530352" y="420624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Services: Payment Gateway, Maps &amp; Location, SMS/Email Service, Push Notification.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6064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Diagram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28600" y="67665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Order flow — 34-step message sequence across Customer, App, API Gateway and 9 backend services</a:t>
            </a:r>
            <a:endParaRPr lang="en-US" sz="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9728" y="914400"/>
            <a:ext cx="8924544" cy="415594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6064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Diagram — Description</a:t>
            </a:r>
            <a:endParaRPr lang="en-US" sz="1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60720" y="777240"/>
            <a:ext cx="3200400" cy="2011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0" y="749808"/>
            <a:ext cx="3291840" cy="2084832"/>
          </a:xfrm>
          <a:prstGeom prst="roundRect">
            <a:avLst>
              <a:gd name="adj" fmla="val 3509"/>
            </a:avLst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60720" y="777240"/>
            <a:ext cx="3200400" cy="20116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28600" y="969264"/>
            <a:ext cx="201168" cy="201168"/>
          </a:xfrm>
          <a:prstGeom prst="ellipse">
            <a:avLst/>
          </a:prstGeom>
          <a:solidFill>
            <a:srgbClr val="006064"/>
          </a:solidFill>
          <a:ln/>
        </p:spPr>
      </p:sp>
      <p:sp>
        <p:nvSpPr>
          <p:cNvPr id="8" name="Text 4"/>
          <p:cNvSpPr/>
          <p:nvPr/>
        </p:nvSpPr>
        <p:spPr>
          <a:xfrm>
            <a:off x="530352" y="80467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Actors/Systems: Customer → Customer App → API Gateway → User Service → Restaurant Service → Menu Service → Order Service → Payment Service → Delivery Service → Notification Service → Database.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228600" y="1536192"/>
            <a:ext cx="201168" cy="201168"/>
          </a:xfrm>
          <a:prstGeom prst="ellipse">
            <a:avLst/>
          </a:prstGeom>
          <a:solidFill>
            <a:srgbClr val="006064"/>
          </a:solidFill>
          <a:ln/>
        </p:spPr>
      </p:sp>
      <p:sp>
        <p:nvSpPr>
          <p:cNvPr id="10" name="Text 6"/>
          <p:cNvSpPr/>
          <p:nvPr/>
        </p:nvSpPr>
        <p:spPr>
          <a:xfrm>
            <a:off x="530352" y="137160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Steps 1–7: Customer browses restaurants. App requests data via API Gateway → User Service validates → Restaurant Service returns list.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228600" y="2103120"/>
            <a:ext cx="201168" cy="201168"/>
          </a:xfrm>
          <a:prstGeom prst="ellipse">
            <a:avLst/>
          </a:prstGeom>
          <a:solidFill>
            <a:srgbClr val="006064"/>
          </a:solidFill>
          <a:ln/>
        </p:spPr>
      </p:sp>
      <p:sp>
        <p:nvSpPr>
          <p:cNvPr id="12" name="Text 8"/>
          <p:cNvSpPr/>
          <p:nvPr/>
        </p:nvSpPr>
        <p:spPr>
          <a:xfrm>
            <a:off x="530352" y="1938528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8–13: Customer selects restaurant; Menu Service fetches menu items from Database and returns list to App.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228600" y="2670048"/>
            <a:ext cx="201168" cy="201168"/>
          </a:xfrm>
          <a:prstGeom prst="ellipse">
            <a:avLst/>
          </a:prstGeom>
          <a:solidFill>
            <a:srgbClr val="006064"/>
          </a:solidFill>
          <a:ln/>
        </p:spPr>
      </p:sp>
      <p:sp>
        <p:nvSpPr>
          <p:cNvPr id="14" name="Text 10"/>
          <p:cNvSpPr/>
          <p:nvPr/>
        </p:nvSpPr>
        <p:spPr>
          <a:xfrm>
            <a:off x="530352" y="2505456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14–21: Customer adds items and places order. Order Service validates item availability with Menu Service, saves order to Database.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228600" y="3236976"/>
            <a:ext cx="201168" cy="201168"/>
          </a:xfrm>
          <a:prstGeom prst="ellipse">
            <a:avLst/>
          </a:prstGeom>
          <a:solidFill>
            <a:srgbClr val="006064"/>
          </a:solidFill>
          <a:ln/>
        </p:spPr>
      </p:sp>
      <p:sp>
        <p:nvSpPr>
          <p:cNvPr id="16" name="Text 12"/>
          <p:cNvSpPr/>
          <p:nvPr/>
        </p:nvSpPr>
        <p:spPr>
          <a:xfrm>
            <a:off x="530352" y="3072384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22–28: Order Confirmation sent to customer. Customer makes payment → Payment Service processes → Payment Gateway returns status → Payment success confirmed.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228600" y="3803904"/>
            <a:ext cx="201168" cy="201168"/>
          </a:xfrm>
          <a:prstGeom prst="ellipse">
            <a:avLst/>
          </a:prstGeom>
          <a:solidFill>
            <a:srgbClr val="006064"/>
          </a:solidFill>
          <a:ln/>
        </p:spPr>
      </p:sp>
      <p:sp>
        <p:nvSpPr>
          <p:cNvPr id="18" name="Text 14"/>
          <p:cNvSpPr/>
          <p:nvPr/>
        </p:nvSpPr>
        <p:spPr>
          <a:xfrm>
            <a:off x="530352" y="363931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29–31: Order Service assigns Delivery Partner via Delivery Service → Order status updated.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228600" y="4370832"/>
            <a:ext cx="201168" cy="201168"/>
          </a:xfrm>
          <a:prstGeom prst="ellipse">
            <a:avLst/>
          </a:prstGeom>
          <a:solidFill>
            <a:srgbClr val="006064"/>
          </a:solidFill>
          <a:ln/>
        </p:spPr>
      </p:sp>
      <p:sp>
        <p:nvSpPr>
          <p:cNvPr id="20" name="Text 16"/>
          <p:cNvSpPr/>
          <p:nvPr/>
        </p:nvSpPr>
        <p:spPr>
          <a:xfrm>
            <a:off x="530352" y="420624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32–34: Notification Service sends Order Confirmed notification to customer. Customer receives Order Tracking Updates.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Diagram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28600" y="67665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order flow across 5 swim lanes: Customer, System, Restaurant, Delivery Partner, Payment Gateway</a:t>
            </a:r>
            <a:endParaRPr lang="en-US" sz="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9728" y="914400"/>
            <a:ext cx="8924544" cy="415594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Diagram — Description</a:t>
            </a:r>
            <a:endParaRPr lang="en-US" sz="1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60720" y="777240"/>
            <a:ext cx="3200400" cy="2011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0" y="749808"/>
            <a:ext cx="3291840" cy="2084832"/>
          </a:xfrm>
          <a:prstGeom prst="roundRect">
            <a:avLst>
              <a:gd name="adj" fmla="val 3509"/>
            </a:avLst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60720" y="777240"/>
            <a:ext cx="3200400" cy="20116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28600" y="969264"/>
            <a:ext cx="201168" cy="201168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8" name="Text 4"/>
          <p:cNvSpPr/>
          <p:nvPr/>
        </p:nvSpPr>
        <p:spPr>
          <a:xfrm>
            <a:off x="530352" y="80467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swim lanes: Customer, System, Restaurant, Delivery Partner, Payment Gateway — showing parallel activities across all actors.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228600" y="1536192"/>
            <a:ext cx="201168" cy="201168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10" name="Text 6"/>
          <p:cNvSpPr/>
          <p:nvPr/>
        </p:nvSpPr>
        <p:spPr>
          <a:xfrm>
            <a:off x="530352" y="137160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Lane: Open App → Register/Login → Browse Restaurants → View Menu → Add to Cart → View Cart → Proceed to Checkout (decision) → Select Address → Choose Payment → Place Order.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228600" y="2103120"/>
            <a:ext cx="201168" cy="201168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12" name="Text 8"/>
          <p:cNvSpPr/>
          <p:nvPr/>
        </p:nvSpPr>
        <p:spPr>
          <a:xfrm>
            <a:off x="530352" y="1938528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Lane: Show Restaurants → Show Menu → Update Cart → Calculate Total → Validate Address &amp; Serviceability (decision: serviceable/error) → Create Order (Pending) → Send to Restaurant → Process Payment → Confirm Order → Update Status → Notify all parties.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228600" y="2670048"/>
            <a:ext cx="201168" cy="201168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14" name="Text 10"/>
          <p:cNvSpPr/>
          <p:nvPr/>
        </p:nvSpPr>
        <p:spPr>
          <a:xfrm>
            <a:off x="530352" y="2505456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Lane: Receive Order → View Details → Accept Order? (Yes/No decision) → Accept/Reject → Prepare Order → Order Ready → Assign Delivery Partner. Cancel flow: Cancel Order → Notify Customer.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228600" y="3236976"/>
            <a:ext cx="201168" cy="201168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16" name="Text 12"/>
          <p:cNvSpPr/>
          <p:nvPr/>
        </p:nvSpPr>
        <p:spPr>
          <a:xfrm>
            <a:off x="530352" y="3072384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Partner Lane: Receive Assignment → Go to Restaurant → Arrive → Pickup Order → Go to Customer → Arrive → Deliver Order → Order Delivered? → Update Status as Delivered.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228600" y="3803904"/>
            <a:ext cx="201168" cy="201168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18" name="Text 14"/>
          <p:cNvSpPr/>
          <p:nvPr/>
        </p:nvSpPr>
        <p:spPr>
          <a:xfrm>
            <a:off x="530352" y="363931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 Lane: Process Payment → Payment Successful? (Yes/No) → confirm success or return Payment Failed.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880E4F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 Diagram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28600" y="67665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Entity-Relationship model — 14 entities with primary keys, foreign keys, and cardinality relationships</a:t>
            </a:r>
            <a:endParaRPr lang="en-US" sz="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9728" y="914400"/>
            <a:ext cx="8924544" cy="415594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880E4F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 Diagram — Description</a:t>
            </a:r>
            <a:endParaRPr lang="en-US" sz="1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60720" y="777240"/>
            <a:ext cx="3200400" cy="2011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0" y="749808"/>
            <a:ext cx="3291840" cy="2084832"/>
          </a:xfrm>
          <a:prstGeom prst="roundRect">
            <a:avLst>
              <a:gd name="adj" fmla="val 3509"/>
            </a:avLst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60720" y="777240"/>
            <a:ext cx="3200400" cy="20116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28600" y="969264"/>
            <a:ext cx="201168" cy="201168"/>
          </a:xfrm>
          <a:prstGeom prst="ellipse">
            <a:avLst/>
          </a:prstGeom>
          <a:solidFill>
            <a:srgbClr val="880E4F"/>
          </a:solidFill>
          <a:ln/>
        </p:spPr>
      </p:sp>
      <p:sp>
        <p:nvSpPr>
          <p:cNvPr id="8" name="Text 4"/>
          <p:cNvSpPr/>
          <p:nvPr/>
        </p:nvSpPr>
        <p:spPr>
          <a:xfrm>
            <a:off x="530352" y="80467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Entities: USER, ADDRESS, RESTAURANT, CATEGORY, MENU, MENU_ITEM, ORDER, ORDER_ITEM, DELIVERY_PARTNER, DELIVERY_ADDRESS, PAYMENT, INVOICE, REVIEW, NOTIFICATION.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228600" y="1536192"/>
            <a:ext cx="201168" cy="201168"/>
          </a:xfrm>
          <a:prstGeom prst="ellipse">
            <a:avLst/>
          </a:prstGeom>
          <a:solidFill>
            <a:srgbClr val="880E4F"/>
          </a:solidFill>
          <a:ln/>
        </p:spPr>
      </p:sp>
      <p:sp>
        <p:nvSpPr>
          <p:cNvPr id="10" name="Text 6"/>
          <p:cNvSpPr/>
          <p:nvPr/>
        </p:nvSpPr>
        <p:spPr>
          <a:xfrm>
            <a:off x="530352" y="137160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has 1-to-N ADDRESS (HAS). RESTAURANT is LOCATED_AT ADDRESS (N-to-1). RESTAURANT HAS CATEGORY (1-to-N). CATEGORY HAS MENU (1-to-N).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228600" y="2103120"/>
            <a:ext cx="201168" cy="201168"/>
          </a:xfrm>
          <a:prstGeom prst="ellipse">
            <a:avLst/>
          </a:prstGeom>
          <a:solidFill>
            <a:srgbClr val="880E4F"/>
          </a:solidFill>
          <a:ln/>
        </p:spPr>
      </p:sp>
      <p:sp>
        <p:nvSpPr>
          <p:cNvPr id="12" name="Text 8"/>
          <p:cNvSpPr/>
          <p:nvPr/>
        </p:nvSpPr>
        <p:spPr>
          <a:xfrm>
            <a:off x="530352" y="1938528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CONTAINS MENU_ITEM (1-to-N). ORDER_ITEM INCLUDES MENU_ITEM (N-to-1). USER PLACES ORDER (1-to-N).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228600" y="2670048"/>
            <a:ext cx="201168" cy="201168"/>
          </a:xfrm>
          <a:prstGeom prst="ellipse">
            <a:avLst/>
          </a:prstGeom>
          <a:solidFill>
            <a:srgbClr val="880E4F"/>
          </a:solidFill>
          <a:ln/>
        </p:spPr>
      </p:sp>
      <p:sp>
        <p:nvSpPr>
          <p:cNvPr id="14" name="Text 10"/>
          <p:cNvSpPr/>
          <p:nvPr/>
        </p:nvSpPr>
        <p:spPr>
          <a:xfrm>
            <a:off x="530352" y="2505456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is ASSIGNED_TO DELIVERY_PARTNER (N-to-0..1). ORDER DELIVERS_TO DELIVERY_ADDRESS (N-to-1). ORDER HAS ORDER_ITEM (1-to-N).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228600" y="3236976"/>
            <a:ext cx="201168" cy="201168"/>
          </a:xfrm>
          <a:prstGeom prst="ellipse">
            <a:avLst/>
          </a:prstGeom>
          <a:solidFill>
            <a:srgbClr val="880E4F"/>
          </a:solidFill>
          <a:ln/>
        </p:spPr>
      </p:sp>
      <p:sp>
        <p:nvSpPr>
          <p:cNvPr id="16" name="Text 12"/>
          <p:cNvSpPr/>
          <p:nvPr/>
        </p:nvSpPr>
        <p:spPr>
          <a:xfrm>
            <a:off x="530352" y="3072384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is PAID_BY ORDER (N-to-1). PAYMENT GENERATES INVOICE (1-to-1). ORDER_ITEM REVIEWS MENU_ITEM — REVIEW FOR ORDER_ITEM.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228600" y="3803904"/>
            <a:ext cx="201168" cy="201168"/>
          </a:xfrm>
          <a:prstGeom prst="ellipse">
            <a:avLst/>
          </a:prstGeom>
          <a:solidFill>
            <a:srgbClr val="880E4F"/>
          </a:solidFill>
          <a:ln/>
        </p:spPr>
      </p:sp>
      <p:sp>
        <p:nvSpPr>
          <p:cNvPr id="18" name="Text 14"/>
          <p:cNvSpPr/>
          <p:nvPr/>
        </p:nvSpPr>
        <p:spPr>
          <a:xfrm>
            <a:off x="530352" y="363931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RECEIVES USER (N-to-1). Key fields include UUIDs as PKs/FKs, status enums, timestamps, and role-based user types.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Mockup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28600" y="67665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11-screen mobile UI design + Restaurant Owner Web Dashboard</a:t>
            </a:r>
            <a:endParaRPr lang="en-US" sz="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9728" y="914400"/>
            <a:ext cx="8924544" cy="415594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Mockup — Description</a:t>
            </a:r>
            <a:endParaRPr lang="en-US" sz="1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60720" y="777240"/>
            <a:ext cx="3200400" cy="2011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0" y="749808"/>
            <a:ext cx="3291840" cy="2084832"/>
          </a:xfrm>
          <a:prstGeom prst="roundRect">
            <a:avLst>
              <a:gd name="adj" fmla="val 3509"/>
            </a:avLst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60720" y="777240"/>
            <a:ext cx="3200400" cy="20116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28600" y="969264"/>
            <a:ext cx="201168" cy="201168"/>
          </a:xfrm>
          <a:prstGeom prst="ellipse">
            <a:avLst/>
          </a:prstGeom>
          <a:solidFill>
            <a:srgbClr val="37474F"/>
          </a:solidFill>
          <a:ln/>
        </p:spPr>
      </p:sp>
      <p:sp>
        <p:nvSpPr>
          <p:cNvPr id="8" name="Text 4"/>
          <p:cNvSpPr/>
          <p:nvPr/>
        </p:nvSpPr>
        <p:spPr>
          <a:xfrm>
            <a:off x="530352" y="80467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1 — Splash Screen: FOODIE logo with tagline 'Delicious Food, Delivered Fast' and Get Started / Login buttons.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228600" y="1536192"/>
            <a:ext cx="201168" cy="201168"/>
          </a:xfrm>
          <a:prstGeom prst="ellipse">
            <a:avLst/>
          </a:prstGeom>
          <a:solidFill>
            <a:srgbClr val="37474F"/>
          </a:solidFill>
          <a:ln/>
        </p:spPr>
      </p:sp>
      <p:sp>
        <p:nvSpPr>
          <p:cNvPr id="10" name="Text 6"/>
          <p:cNvSpPr/>
          <p:nvPr/>
        </p:nvSpPr>
        <p:spPr>
          <a:xfrm>
            <a:off x="530352" y="137160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2 — Onboarding: 'Your favorite food, delivered to your door' with carousel slides and Skip option.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228600" y="2103120"/>
            <a:ext cx="201168" cy="201168"/>
          </a:xfrm>
          <a:prstGeom prst="ellipse">
            <a:avLst/>
          </a:prstGeom>
          <a:solidFill>
            <a:srgbClr val="37474F"/>
          </a:solidFill>
          <a:ln/>
        </p:spPr>
      </p:sp>
      <p:sp>
        <p:nvSpPr>
          <p:cNvPr id="12" name="Text 8"/>
          <p:cNvSpPr/>
          <p:nvPr/>
        </p:nvSpPr>
        <p:spPr>
          <a:xfrm>
            <a:off x="530352" y="1938528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3 — Login/Sign Up: Email/phone, password, Forgot Password, Login button, Google/Apple sign-in, Sign Up link.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228600" y="2670048"/>
            <a:ext cx="201168" cy="201168"/>
          </a:xfrm>
          <a:prstGeom prst="ellipse">
            <a:avLst/>
          </a:prstGeom>
          <a:solidFill>
            <a:srgbClr val="37474F"/>
          </a:solidFill>
          <a:ln/>
        </p:spPr>
      </p:sp>
      <p:sp>
        <p:nvSpPr>
          <p:cNvPr id="14" name="Text 10"/>
          <p:cNvSpPr/>
          <p:nvPr/>
        </p:nvSpPr>
        <p:spPr>
          <a:xfrm>
            <a:off x="530352" y="2505456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4–5 — Home &amp; Restaurant: Location-based home with 50% OFF banner, categories (Pizza, Burger, Biryani...), popular restaurants. Restaurant screen shows menu, reviews, add-to-cart.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228600" y="3236976"/>
            <a:ext cx="201168" cy="201168"/>
          </a:xfrm>
          <a:prstGeom prst="ellipse">
            <a:avLst/>
          </a:prstGeom>
          <a:solidFill>
            <a:srgbClr val="37474F"/>
          </a:solidFill>
          <a:ln/>
        </p:spPr>
      </p:sp>
      <p:sp>
        <p:nvSpPr>
          <p:cNvPr id="16" name="Text 12"/>
          <p:cNvSpPr/>
          <p:nvPr/>
        </p:nvSpPr>
        <p:spPr>
          <a:xfrm>
            <a:off x="530352" y="3072384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6–8 — Cart, Checkout, Order Tracking: Cart with item quantities, subtotal/fees/total. Checkout with delivery address, time, payment method. Tracking screen with real-time order stages and delivery partner info.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228600" y="3803904"/>
            <a:ext cx="201168" cy="201168"/>
          </a:xfrm>
          <a:prstGeom prst="ellipse">
            <a:avLst/>
          </a:prstGeom>
          <a:solidFill>
            <a:srgbClr val="37474F"/>
          </a:solidFill>
          <a:ln/>
        </p:spPr>
      </p:sp>
      <p:sp>
        <p:nvSpPr>
          <p:cNvPr id="18" name="Text 14"/>
          <p:cNvSpPr/>
          <p:nvPr/>
        </p:nvSpPr>
        <p:spPr>
          <a:xfrm>
            <a:off x="530352" y="363931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9–10 — Orders &amp; Profile: Orders list with Ongoing/Completed/Cancelled tabs. Profile with addresses, payment methods, favourites, offers.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228600" y="4370832"/>
            <a:ext cx="201168" cy="201168"/>
          </a:xfrm>
          <a:prstGeom prst="ellipse">
            <a:avLst/>
          </a:prstGeom>
          <a:solidFill>
            <a:srgbClr val="37474F"/>
          </a:solidFill>
          <a:ln/>
        </p:spPr>
      </p:sp>
      <p:sp>
        <p:nvSpPr>
          <p:cNvPr id="20" name="Text 16"/>
          <p:cNvSpPr/>
          <p:nvPr/>
        </p:nvSpPr>
        <p:spPr>
          <a:xfrm>
            <a:off x="530352" y="420624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11 — Restaurant Owner Web Dashboard: KPIs (Total Orders, Revenue, Active Orders, Ratings), recent orders table, sales chart, top-selling items sidebar.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BF360C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Diagram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28600" y="67665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module breakdown across Client Layer, Application Layer (Backend), API Gateway, Data Layer and External Services</a:t>
            </a:r>
            <a:endParaRPr lang="en-US" sz="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9728" y="914400"/>
            <a:ext cx="8924544" cy="415594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BF360C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Diagram — Description</a:t>
            </a:r>
            <a:endParaRPr lang="en-US" sz="1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60720" y="777240"/>
            <a:ext cx="3200400" cy="2011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0" y="749808"/>
            <a:ext cx="3291840" cy="2084832"/>
          </a:xfrm>
          <a:prstGeom prst="roundRect">
            <a:avLst>
              <a:gd name="adj" fmla="val 3509"/>
            </a:avLst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60720" y="777240"/>
            <a:ext cx="3200400" cy="20116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28600" y="969264"/>
            <a:ext cx="201168" cy="201168"/>
          </a:xfrm>
          <a:prstGeom prst="ellipse">
            <a:avLst/>
          </a:prstGeom>
          <a:solidFill>
            <a:srgbClr val="BF360C"/>
          </a:solidFill>
          <a:ln/>
        </p:spPr>
      </p:sp>
      <p:sp>
        <p:nvSpPr>
          <p:cNvPr id="8" name="Text 4"/>
          <p:cNvSpPr/>
          <p:nvPr/>
        </p:nvSpPr>
        <p:spPr>
          <a:xfrm>
            <a:off x="530352" y="80467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Layer: Customer App (Register/Login, Browse, View Menu, Place Order, Track, Pay), Delivery Partner App (Login, View Assigned Orders, Accept/Reject, Pickup &amp; Deliver, Update Status), Restaurant Portal (Login, Manage Menu, Orders, Status, Earnings).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228600" y="1536192"/>
            <a:ext cx="201168" cy="201168"/>
          </a:xfrm>
          <a:prstGeom prst="ellipse">
            <a:avLst/>
          </a:prstGeom>
          <a:solidFill>
            <a:srgbClr val="BF360C"/>
          </a:solidFill>
          <a:ln/>
        </p:spPr>
      </p:sp>
      <p:sp>
        <p:nvSpPr>
          <p:cNvPr id="10" name="Text 6"/>
          <p:cNvSpPr/>
          <p:nvPr/>
        </p:nvSpPr>
        <p:spPr>
          <a:xfrm>
            <a:off x="530352" y="137160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 — 8 Modules: User Management (Registration, Profile, Role Management), Restaurant Management (Onboarding, Profile, Working Hours, Availability), Menu Management (Add/Update Menu, Categories, Prices, Item Availability), Order Management (Place Order, Assignment, Status, Tracking).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228600" y="2103120"/>
            <a:ext cx="201168" cy="201168"/>
          </a:xfrm>
          <a:prstGeom prst="ellipse">
            <a:avLst/>
          </a:prstGeom>
          <a:solidFill>
            <a:srgbClr val="BF360C"/>
          </a:solidFill>
          <a:ln/>
        </p:spPr>
      </p:sp>
      <p:sp>
        <p:nvSpPr>
          <p:cNvPr id="12" name="Text 8"/>
          <p:cNvSpPr/>
          <p:nvPr/>
        </p:nvSpPr>
        <p:spPr>
          <a:xfrm>
            <a:off x="530352" y="1938528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Management Module: Assign Delivery Partner, Route Optimization, Pickup &amp; Drop Tracking, Delivery Updates.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228600" y="2670048"/>
            <a:ext cx="201168" cy="201168"/>
          </a:xfrm>
          <a:prstGeom prst="ellipse">
            <a:avLst/>
          </a:prstGeom>
          <a:solidFill>
            <a:srgbClr val="BF360C"/>
          </a:solidFill>
          <a:ln/>
        </p:spPr>
      </p:sp>
      <p:sp>
        <p:nvSpPr>
          <p:cNvPr id="14" name="Text 10"/>
          <p:cNvSpPr/>
          <p:nvPr/>
        </p:nvSpPr>
        <p:spPr>
          <a:xfrm>
            <a:off x="530352" y="2505456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Management Module: Multiple Payment Options, Payment Processing, Refunds, Transaction History.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228600" y="3236976"/>
            <a:ext cx="201168" cy="201168"/>
          </a:xfrm>
          <a:prstGeom prst="ellipse">
            <a:avLst/>
          </a:prstGeom>
          <a:solidFill>
            <a:srgbClr val="BF360C"/>
          </a:solidFill>
          <a:ln/>
        </p:spPr>
      </p:sp>
      <p:sp>
        <p:nvSpPr>
          <p:cNvPr id="16" name="Text 12"/>
          <p:cNvSpPr/>
          <p:nvPr/>
        </p:nvSpPr>
        <p:spPr>
          <a:xfrm>
            <a:off x="530352" y="3072384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Module: Push Notifications, Email/SMS Alerts, Order &amp; Delivery Updates, Offers &amp; Promotions.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228600" y="3803904"/>
            <a:ext cx="201168" cy="201168"/>
          </a:xfrm>
          <a:prstGeom prst="ellipse">
            <a:avLst/>
          </a:prstGeom>
          <a:solidFill>
            <a:srgbClr val="BF360C"/>
          </a:solidFill>
          <a:ln/>
        </p:spPr>
      </p:sp>
      <p:sp>
        <p:nvSpPr>
          <p:cNvPr id="18" name="Text 14"/>
          <p:cNvSpPr/>
          <p:nvPr/>
        </p:nvSpPr>
        <p:spPr>
          <a:xfrm>
            <a:off x="530352" y="363931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Rating Module: Restaurant Ratings, Delivery Partner Ratings, Feedback, Review Management.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228600" y="4370832"/>
            <a:ext cx="201168" cy="201168"/>
          </a:xfrm>
          <a:prstGeom prst="ellipse">
            <a:avLst/>
          </a:prstGeom>
          <a:solidFill>
            <a:srgbClr val="BF360C"/>
          </a:solidFill>
          <a:ln/>
        </p:spPr>
      </p:sp>
      <p:sp>
        <p:nvSpPr>
          <p:cNvPr id="20" name="Text 16"/>
          <p:cNvSpPr/>
          <p:nvPr/>
        </p:nvSpPr>
        <p:spPr>
          <a:xfrm>
            <a:off x="530352" y="420624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Gateway: RESTful APIs, Authentication &amp; Authorization, Rate Limiting, Request Routing. Data Layer: 8 separate databases (User, Restaurant, Menu, Order, Delivery, Payment, Notification, Review DB). Admin Panel: Dashboard, Manage Users/Restaurants/Orders/Offers, Reports &amp; Analytics, System Settings.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Page Design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28600" y="676656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FOODIE web landing page — hero section, feature highlights, app store links</a:t>
            </a:r>
            <a:endParaRPr lang="en-US" sz="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9728" y="914400"/>
            <a:ext cx="8924544" cy="415594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Page Design — Description</a:t>
            </a:r>
            <a:endParaRPr lang="en-US" sz="1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60720" y="777240"/>
            <a:ext cx="3200400" cy="2011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0" y="749808"/>
            <a:ext cx="3291840" cy="2084832"/>
          </a:xfrm>
          <a:prstGeom prst="roundRect">
            <a:avLst>
              <a:gd name="adj" fmla="val 3509"/>
            </a:avLst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60720" y="777240"/>
            <a:ext cx="3200400" cy="20116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28600" y="969264"/>
            <a:ext cx="201168" cy="201168"/>
          </a:xfrm>
          <a:prstGeom prst="ellipse">
            <a:avLst/>
          </a:prstGeom>
          <a:solidFill>
            <a:srgbClr val="FF8F00"/>
          </a:solidFill>
          <a:ln/>
        </p:spPr>
      </p:sp>
      <p:sp>
        <p:nvSpPr>
          <p:cNvPr id="8" name="Text 4"/>
          <p:cNvSpPr/>
          <p:nvPr/>
        </p:nvSpPr>
        <p:spPr>
          <a:xfrm>
            <a:off x="530352" y="80467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Bar: FOODIE logo (with dish icon), links — Home, Restaurants, How It Works, Offers, About Us, Contact Us — and a Sign In button.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228600" y="1536192"/>
            <a:ext cx="201168" cy="201168"/>
          </a:xfrm>
          <a:prstGeom prst="ellipse">
            <a:avLst/>
          </a:prstGeom>
          <a:solidFill>
            <a:srgbClr val="FF8F00"/>
          </a:solidFill>
          <a:ln/>
        </p:spPr>
      </p:sp>
      <p:sp>
        <p:nvSpPr>
          <p:cNvPr id="10" name="Text 6"/>
          <p:cNvSpPr/>
          <p:nvPr/>
        </p:nvSpPr>
        <p:spPr>
          <a:xfrm>
            <a:off x="530352" y="137160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Section: Tag 'Delicious food, delivered fast'. Headline: 'Good Food, Great Mood.' Subtext: 'FOODIE brings your favorite meals from the best restaurants to your doorstep in no time.'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228600" y="2103120"/>
            <a:ext cx="201168" cy="201168"/>
          </a:xfrm>
          <a:prstGeom prst="ellipse">
            <a:avLst/>
          </a:prstGeom>
          <a:solidFill>
            <a:srgbClr val="FF8F00"/>
          </a:solidFill>
          <a:ln/>
        </p:spPr>
      </p:sp>
      <p:sp>
        <p:nvSpPr>
          <p:cNvPr id="12" name="Text 8"/>
          <p:cNvSpPr/>
          <p:nvPr/>
        </p:nvSpPr>
        <p:spPr>
          <a:xfrm>
            <a:off x="530352" y="1938528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Bar: 'Enter your delivery location' input with an orange 'Find Food' button for location-based restaurant discovery.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228600" y="2670048"/>
            <a:ext cx="201168" cy="201168"/>
          </a:xfrm>
          <a:prstGeom prst="ellipse">
            <a:avLst/>
          </a:prstGeom>
          <a:solidFill>
            <a:srgbClr val="FF8F00"/>
          </a:solidFill>
          <a:ln/>
        </p:spPr>
      </p:sp>
      <p:sp>
        <p:nvSpPr>
          <p:cNvPr id="14" name="Text 10"/>
          <p:cNvSpPr/>
          <p:nvPr/>
        </p:nvSpPr>
        <p:spPr>
          <a:xfrm>
            <a:off x="530352" y="2505456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Icons Row: Fast Delivery (On-time, every time), Top Restaurants (Best choices for you), Best Offers (Exciting deals daily), Safe &amp; Secure (Hygienic &amp; reliable).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228600" y="3236976"/>
            <a:ext cx="201168" cy="201168"/>
          </a:xfrm>
          <a:prstGeom prst="ellipse">
            <a:avLst/>
          </a:prstGeom>
          <a:solidFill>
            <a:srgbClr val="FF8F00"/>
          </a:solidFill>
          <a:ln/>
        </p:spPr>
      </p:sp>
      <p:sp>
        <p:nvSpPr>
          <p:cNvPr id="16" name="Text 12"/>
          <p:cNvSpPr/>
          <p:nvPr/>
        </p:nvSpPr>
        <p:spPr>
          <a:xfrm>
            <a:off x="530352" y="3072384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Download Section: 'Download the FOODIE App' with Google Play and Apple App Store download buttons.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228600" y="3803904"/>
            <a:ext cx="201168" cy="201168"/>
          </a:xfrm>
          <a:prstGeom prst="ellipse">
            <a:avLst/>
          </a:prstGeom>
          <a:solidFill>
            <a:srgbClr val="FF8F00"/>
          </a:solidFill>
          <a:ln/>
        </p:spPr>
      </p:sp>
      <p:sp>
        <p:nvSpPr>
          <p:cNvPr id="18" name="Text 14"/>
          <p:cNvSpPr/>
          <p:nvPr/>
        </p:nvSpPr>
        <p:spPr>
          <a:xfrm>
            <a:off x="530352" y="363931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Side Visual: Mobile app mockup showing Home screen with 50% OFF banner, Popular Categories (Pizza, Burger, Biryani, Sushi, Desserts), and Popular Restaurants (The Pizza House, Burger Nation). Surrounded by food photography (salad, grilled chicken, pasta).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GANTT CHART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FOODIE – Development Timeline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331720" y="841248"/>
            <a:ext cx="6492240" cy="347472"/>
          </a:xfrm>
          <a:prstGeom prst="rect">
            <a:avLst/>
          </a:prstGeom>
          <a:solidFill>
            <a:srgbClr val="2E2E2E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6" name="Text 4"/>
          <p:cNvSpPr/>
          <p:nvPr/>
        </p:nvSpPr>
        <p:spPr>
          <a:xfrm>
            <a:off x="2331720" y="841248"/>
            <a:ext cx="81153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Mar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143250" y="841248"/>
            <a:ext cx="81153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Mar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43250" y="841248"/>
            <a:ext cx="0" cy="347472"/>
          </a:xfrm>
          <a:prstGeom prst="line">
            <a:avLst/>
          </a:prstGeom>
          <a:noFill/>
          <a:ln w="6350">
            <a:solidFill>
              <a:srgbClr val="5555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54780" y="841248"/>
            <a:ext cx="81153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954780" y="841248"/>
            <a:ext cx="0" cy="347472"/>
          </a:xfrm>
          <a:prstGeom prst="line">
            <a:avLst/>
          </a:prstGeom>
          <a:noFill/>
          <a:ln w="6350">
            <a:solidFill>
              <a:srgbClr val="5555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66310" y="841248"/>
            <a:ext cx="81153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66310" y="841248"/>
            <a:ext cx="0" cy="347472"/>
          </a:xfrm>
          <a:prstGeom prst="line">
            <a:avLst/>
          </a:prstGeom>
          <a:noFill/>
          <a:ln w="6350">
            <a:solidFill>
              <a:srgbClr val="5555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77840" y="841248"/>
            <a:ext cx="81153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Apr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77840" y="841248"/>
            <a:ext cx="0" cy="347472"/>
          </a:xfrm>
          <a:prstGeom prst="line">
            <a:avLst/>
          </a:prstGeom>
          <a:noFill/>
          <a:ln w="6350">
            <a:solidFill>
              <a:srgbClr val="5555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9370" y="841248"/>
            <a:ext cx="81153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May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89370" y="841248"/>
            <a:ext cx="0" cy="347472"/>
          </a:xfrm>
          <a:prstGeom prst="line">
            <a:avLst/>
          </a:prstGeom>
          <a:noFill/>
          <a:ln w="6350">
            <a:solidFill>
              <a:srgbClr val="5555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00900" y="841248"/>
            <a:ext cx="81153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200900" y="841248"/>
            <a:ext cx="0" cy="347472"/>
          </a:xfrm>
          <a:prstGeom prst="line">
            <a:avLst/>
          </a:prstGeom>
          <a:noFill/>
          <a:ln w="6350">
            <a:solidFill>
              <a:srgbClr val="5555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12430" y="841248"/>
            <a:ext cx="81153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Jun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012430" y="841248"/>
            <a:ext cx="0" cy="347472"/>
          </a:xfrm>
          <a:prstGeom prst="line">
            <a:avLst/>
          </a:prstGeom>
          <a:noFill/>
          <a:ln w="6350">
            <a:solidFill>
              <a:srgbClr val="5555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188720"/>
            <a:ext cx="9144000" cy="365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" y="1234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Analysis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377440" y="1252728"/>
            <a:ext cx="1125855" cy="237744"/>
          </a:xfrm>
          <a:prstGeom prst="roundRect">
            <a:avLst>
              <a:gd name="adj" fmla="val 19231"/>
            </a:avLst>
          </a:prstGeom>
          <a:solidFill>
            <a:srgbClr val="B71C1C"/>
          </a:solidFill>
          <a:ln/>
        </p:spPr>
      </p:sp>
      <p:sp>
        <p:nvSpPr>
          <p:cNvPr id="24" name="Shape 22"/>
          <p:cNvSpPr/>
          <p:nvPr/>
        </p:nvSpPr>
        <p:spPr>
          <a:xfrm>
            <a:off x="0" y="1554480"/>
            <a:ext cx="91440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" y="1600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 Documentation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188970" y="1618488"/>
            <a:ext cx="1125855" cy="237744"/>
          </a:xfrm>
          <a:prstGeom prst="roundRect">
            <a:avLst>
              <a:gd name="adj" fmla="val 19231"/>
            </a:avLst>
          </a:prstGeom>
          <a:solidFill>
            <a:srgbClr val="B71C1C"/>
          </a:solidFill>
          <a:ln/>
        </p:spPr>
      </p:sp>
      <p:sp>
        <p:nvSpPr>
          <p:cNvPr id="27" name="Shape 25"/>
          <p:cNvSpPr/>
          <p:nvPr/>
        </p:nvSpPr>
        <p:spPr>
          <a:xfrm>
            <a:off x="0" y="1920240"/>
            <a:ext cx="9144000" cy="365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" y="1965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 &amp; Mockups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000500" y="1984248"/>
            <a:ext cx="1125855" cy="237744"/>
          </a:xfrm>
          <a:prstGeom prst="roundRect">
            <a:avLst>
              <a:gd name="adj" fmla="val 19231"/>
            </a:avLst>
          </a:prstGeom>
          <a:solidFill>
            <a:srgbClr val="FF8F0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2286000"/>
            <a:ext cx="91440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" y="2331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(ER)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406265" y="2350008"/>
            <a:ext cx="1125855" cy="237744"/>
          </a:xfrm>
          <a:prstGeom prst="roundRect">
            <a:avLst>
              <a:gd name="adj" fmla="val 19231"/>
            </a:avLst>
          </a:prstGeom>
          <a:solidFill>
            <a:srgbClr val="FF8F00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2651760"/>
            <a:ext cx="9144000" cy="365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4" name="Text 32"/>
          <p:cNvSpPr/>
          <p:nvPr/>
        </p:nvSpPr>
        <p:spPr>
          <a:xfrm>
            <a:off x="91440" y="2697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Design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000500" y="2715768"/>
            <a:ext cx="720090" cy="237744"/>
          </a:xfrm>
          <a:prstGeom prst="roundRect">
            <a:avLst>
              <a:gd name="adj" fmla="val 19231"/>
            </a:avLst>
          </a:prstGeom>
          <a:solidFill>
            <a:srgbClr val="FF8F00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3017520"/>
            <a:ext cx="91440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91440" y="3063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Development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217795" y="3081528"/>
            <a:ext cx="1937385" cy="237744"/>
          </a:xfrm>
          <a:prstGeom prst="roundRect">
            <a:avLst>
              <a:gd name="adj" fmla="val 19231"/>
            </a:avLst>
          </a:prstGeom>
          <a:solidFill>
            <a:srgbClr val="1565C0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3383280"/>
            <a:ext cx="9144000" cy="365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0" name="Text 38"/>
          <p:cNvSpPr/>
          <p:nvPr/>
        </p:nvSpPr>
        <p:spPr>
          <a:xfrm>
            <a:off x="91440" y="3429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Development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623560" y="3447288"/>
            <a:ext cx="1937385" cy="237744"/>
          </a:xfrm>
          <a:prstGeom prst="roundRect">
            <a:avLst>
              <a:gd name="adj" fmla="val 19231"/>
            </a:avLst>
          </a:prstGeom>
          <a:solidFill>
            <a:srgbClr val="1565C0"/>
          </a:solidFill>
          <a:ln/>
        </p:spPr>
      </p:sp>
      <p:sp>
        <p:nvSpPr>
          <p:cNvPr id="42" name="Shape 40"/>
          <p:cNvSpPr/>
          <p:nvPr/>
        </p:nvSpPr>
        <p:spPr>
          <a:xfrm>
            <a:off x="0" y="3749040"/>
            <a:ext cx="91440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91440" y="3794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435090" y="3813048"/>
            <a:ext cx="1125855" cy="237744"/>
          </a:xfrm>
          <a:prstGeom prst="roundRect">
            <a:avLst>
              <a:gd name="adj" fmla="val 19231"/>
            </a:avLst>
          </a:prstGeom>
          <a:solidFill>
            <a:srgbClr val="006064"/>
          </a:solidFill>
          <a:ln/>
        </p:spPr>
      </p:sp>
      <p:sp>
        <p:nvSpPr>
          <p:cNvPr id="45" name="Shape 43"/>
          <p:cNvSpPr/>
          <p:nvPr/>
        </p:nvSpPr>
        <p:spPr>
          <a:xfrm>
            <a:off x="0" y="4114800"/>
            <a:ext cx="9144000" cy="3657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6" name="Text 44"/>
          <p:cNvSpPr/>
          <p:nvPr/>
        </p:nvSpPr>
        <p:spPr>
          <a:xfrm>
            <a:off x="91440" y="4160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QA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246620" y="4178808"/>
            <a:ext cx="1125855" cy="237744"/>
          </a:xfrm>
          <a:prstGeom prst="roundRect">
            <a:avLst>
              <a:gd name="adj" fmla="val 19231"/>
            </a:avLst>
          </a:prstGeom>
          <a:solidFill>
            <a:srgbClr val="4A148C"/>
          </a:solidFill>
          <a:ln/>
        </p:spPr>
      </p:sp>
      <p:sp>
        <p:nvSpPr>
          <p:cNvPr id="48" name="Shape 46"/>
          <p:cNvSpPr/>
          <p:nvPr/>
        </p:nvSpPr>
        <p:spPr>
          <a:xfrm>
            <a:off x="0" y="4480560"/>
            <a:ext cx="91440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91440" y="4526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Launch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8058150" y="4544568"/>
            <a:ext cx="720090" cy="237744"/>
          </a:xfrm>
          <a:prstGeom prst="roundRect">
            <a:avLst>
              <a:gd name="adj" fmla="val 19231"/>
            </a:avLst>
          </a:prstGeom>
          <a:solidFill>
            <a:srgbClr val="2E7D32"/>
          </a:solidFill>
          <a:ln/>
        </p:spPr>
      </p:sp>
      <p:sp>
        <p:nvSpPr>
          <p:cNvPr id="51" name="Shape 49"/>
          <p:cNvSpPr/>
          <p:nvPr/>
        </p:nvSpPr>
        <p:spPr>
          <a:xfrm>
            <a:off x="3143250" y="1188720"/>
            <a:ext cx="0" cy="365760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954780" y="1188720"/>
            <a:ext cx="0" cy="365760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766310" y="1188720"/>
            <a:ext cx="0" cy="365760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577840" y="1188720"/>
            <a:ext cx="0" cy="365760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389370" y="1188720"/>
            <a:ext cx="0" cy="365760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200900" y="1188720"/>
            <a:ext cx="0" cy="365760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012430" y="1188720"/>
            <a:ext cx="0" cy="365760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331720" y="841248"/>
            <a:ext cx="0" cy="4005072"/>
          </a:xfrm>
          <a:prstGeom prst="line">
            <a:avLst/>
          </a:prstGeom>
          <a:noFill/>
          <a:ln w="12700">
            <a:solidFill>
              <a:srgbClr val="2E2E2E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57200" y="4937760"/>
            <a:ext cx="256032" cy="201168"/>
          </a:xfrm>
          <a:prstGeom prst="roundRect">
            <a:avLst>
              <a:gd name="adj" fmla="val 13636"/>
            </a:avLst>
          </a:prstGeom>
          <a:solidFill>
            <a:srgbClr val="B71C1C"/>
          </a:solidFill>
          <a:ln/>
        </p:spPr>
      </p:sp>
      <p:sp>
        <p:nvSpPr>
          <p:cNvPr id="60" name="Text 58"/>
          <p:cNvSpPr/>
          <p:nvPr/>
        </p:nvSpPr>
        <p:spPr>
          <a:xfrm>
            <a:off x="758952" y="49377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2148840" y="4937760"/>
            <a:ext cx="256032" cy="201168"/>
          </a:xfrm>
          <a:prstGeom prst="roundRect">
            <a:avLst>
              <a:gd name="adj" fmla="val 13636"/>
            </a:avLst>
          </a:prstGeom>
          <a:solidFill>
            <a:srgbClr val="FF8F00"/>
          </a:solidFill>
          <a:ln/>
        </p:spPr>
      </p:sp>
      <p:sp>
        <p:nvSpPr>
          <p:cNvPr id="62" name="Text 60"/>
          <p:cNvSpPr/>
          <p:nvPr/>
        </p:nvSpPr>
        <p:spPr>
          <a:xfrm>
            <a:off x="2450592" y="49377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3840480" y="4937760"/>
            <a:ext cx="256032" cy="201168"/>
          </a:xfrm>
          <a:prstGeom prst="roundRect">
            <a:avLst>
              <a:gd name="adj" fmla="val 13636"/>
            </a:avLst>
          </a:prstGeom>
          <a:solidFill>
            <a:srgbClr val="1565C0"/>
          </a:solidFill>
          <a:ln/>
        </p:spPr>
      </p:sp>
      <p:sp>
        <p:nvSpPr>
          <p:cNvPr id="64" name="Text 62"/>
          <p:cNvSpPr/>
          <p:nvPr/>
        </p:nvSpPr>
        <p:spPr>
          <a:xfrm>
            <a:off x="4142232" y="49377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532120" y="4937760"/>
            <a:ext cx="256032" cy="201168"/>
          </a:xfrm>
          <a:prstGeom prst="roundRect">
            <a:avLst>
              <a:gd name="adj" fmla="val 13636"/>
            </a:avLst>
          </a:prstGeom>
          <a:solidFill>
            <a:srgbClr val="4A148C"/>
          </a:solidFill>
          <a:ln/>
        </p:spPr>
      </p:sp>
      <p:sp>
        <p:nvSpPr>
          <p:cNvPr id="66" name="Text 64"/>
          <p:cNvSpPr/>
          <p:nvPr/>
        </p:nvSpPr>
        <p:spPr>
          <a:xfrm>
            <a:off x="5833872" y="49377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7223760" y="4937760"/>
            <a:ext cx="256032" cy="201168"/>
          </a:xfrm>
          <a:prstGeom prst="roundRect">
            <a:avLst>
              <a:gd name="adj" fmla="val 13636"/>
            </a:avLst>
          </a:prstGeom>
          <a:solidFill>
            <a:srgbClr val="2E7D32"/>
          </a:solidFill>
          <a:ln/>
        </p:spPr>
      </p:sp>
      <p:sp>
        <p:nvSpPr>
          <p:cNvPr id="68" name="Text 66"/>
          <p:cNvSpPr/>
          <p:nvPr/>
        </p:nvSpPr>
        <p:spPr>
          <a:xfrm>
            <a:off x="7525512" y="49377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sp3"/>
          <p:cNvSpPr/>
          <p:nvPr/>
        </p:nvSpPr>
        <p:spPr>
          <a:xfrm>
            <a:off x="228600" y="0"/>
            <a:ext cx="6858000" cy="658368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</a:rPr>
              <a:t>REQUIREMENTS TRACEABILITY MATRIX (RTM)</a:t>
            </a:r>
          </a:p>
        </p:txBody>
      </p:sp>
      <p:sp>
        <p:nvSpPr>
          <p:cNvPr id="4" name="sp4"/>
          <p:cNvSpPr/>
          <p:nvPr/>
        </p:nvSpPr>
        <p:spPr>
          <a:xfrm>
            <a:off x="6858000" y="0"/>
            <a:ext cx="2194560" cy="658368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r">
              <a:buNone/>
            </a:pPr>
            <a:r>
              <a:rPr lang="en-US" sz="800" b="0" dirty="0">
                <a:solidFill>
                  <a:srgbClr val="FFC107"/>
                </a:solidFill>
                <a:latin typeface="Arial" pitchFamily="34" charset="0"/>
              </a:rPr>
              <a:t>FOODIE  ·  Part 1 of 2  —  FR-01 to FR-20</a:t>
            </a:r>
          </a:p>
        </p:txBody>
      </p:sp>
      <p:sp>
        <p:nvSpPr>
          <p:cNvPr id="5" name="rect5"/>
          <p:cNvSpPr/>
          <p:nvPr/>
        </p:nvSpPr>
        <p:spPr>
          <a:xfrm>
            <a:off x="0" y="667512"/>
            <a:ext cx="9144000" cy="274320"/>
          </a:xfrm>
          <a:prstGeom prst="rect">
            <a:avLst/>
          </a:prstGeom>
          <a:solidFill>
            <a:srgbClr val="2E2E2E"/>
          </a:solidFill>
          <a:ln/>
        </p:spPr>
      </p:sp>
      <p:sp>
        <p:nvSpPr>
          <p:cNvPr id="6" name="sp6"/>
          <p:cNvSpPr/>
          <p:nvPr/>
        </p:nvSpPr>
        <p:spPr>
          <a:xfrm>
            <a:off x="45720" y="667512"/>
            <a:ext cx="566928" cy="274320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</a:rPr>
              <a:t>Req ID</a:t>
            </a:r>
          </a:p>
        </p:txBody>
      </p:sp>
      <p:sp>
        <p:nvSpPr>
          <p:cNvPr id="7" name="sp7"/>
          <p:cNvSpPr/>
          <p:nvPr/>
        </p:nvSpPr>
        <p:spPr>
          <a:xfrm>
            <a:off x="640080" y="667512"/>
            <a:ext cx="1900000" cy="274320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</a:rPr>
              <a:t>Requirement</a:t>
            </a:r>
          </a:p>
        </p:txBody>
      </p:sp>
      <p:sp>
        <p:nvSpPr>
          <p:cNvPr id="8" name="sp8"/>
          <p:cNvSpPr/>
          <p:nvPr/>
        </p:nvSpPr>
        <p:spPr>
          <a:xfrm>
            <a:off x="2600000" y="667512"/>
            <a:ext cx="2500000" cy="274320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</a:rPr>
              <a:t>Description</a:t>
            </a:r>
          </a:p>
        </p:txBody>
      </p:sp>
      <p:sp>
        <p:nvSpPr>
          <p:cNvPr id="9" name="sp9"/>
          <p:cNvSpPr/>
          <p:nvPr/>
        </p:nvSpPr>
        <p:spPr>
          <a:xfrm>
            <a:off x="5200000" y="667512"/>
            <a:ext cx="1300000" cy="274320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</a:rPr>
              <a:t>Module/Page</a:t>
            </a:r>
          </a:p>
        </p:txBody>
      </p:sp>
      <p:sp>
        <p:nvSpPr>
          <p:cNvPr id="10" name="sp10"/>
          <p:cNvSpPr/>
          <p:nvPr/>
        </p:nvSpPr>
        <p:spPr>
          <a:xfrm>
            <a:off x="6600000" y="667512"/>
            <a:ext cx="2100000" cy="274320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</a:rPr>
              <a:t>Status</a:t>
            </a:r>
          </a:p>
        </p:txBody>
      </p:sp>
      <p:sp>
        <p:nvSpPr>
          <p:cNvPr id="11" name="rect11"/>
          <p:cNvSpPr/>
          <p:nvPr/>
        </p:nvSpPr>
        <p:spPr>
          <a:xfrm>
            <a:off x="0" y="941832"/>
            <a:ext cx="9144000" cy="126187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2" name="rect12"/>
          <p:cNvSpPr/>
          <p:nvPr/>
        </p:nvSpPr>
        <p:spPr>
          <a:xfrm>
            <a:off x="36576" y="947832"/>
            <a:ext cx="585216" cy="114187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13" name="sp13"/>
          <p:cNvSpPr/>
          <p:nvPr/>
        </p:nvSpPr>
        <p:spPr>
          <a:xfrm>
            <a:off x="45720" y="941832"/>
            <a:ext cx="566928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FR-01</a:t>
            </a:r>
          </a:p>
        </p:txBody>
      </p:sp>
      <p:sp>
        <p:nvSpPr>
          <p:cNvPr id="14" name="sp14"/>
          <p:cNvSpPr/>
          <p:nvPr/>
        </p:nvSpPr>
        <p:spPr>
          <a:xfrm>
            <a:off x="640080" y="941832"/>
            <a:ext cx="19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User Registration</a:t>
            </a:r>
          </a:p>
        </p:txBody>
      </p:sp>
      <p:sp>
        <p:nvSpPr>
          <p:cNvPr id="15" name="sp15"/>
          <p:cNvSpPr/>
          <p:nvPr/>
        </p:nvSpPr>
        <p:spPr>
          <a:xfrm>
            <a:off x="2600000" y="941832"/>
            <a:ext cx="25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20" b="0" dirty="0">
                <a:solidFill>
                  <a:srgbClr val="455A64"/>
                </a:solidFill>
                <a:latin typeface="Arial" pitchFamily="34" charset="0"/>
              </a:rPr>
              <a:t>User can create a new account</a:t>
            </a:r>
          </a:p>
        </p:txBody>
      </p:sp>
      <p:sp>
        <p:nvSpPr>
          <p:cNvPr id="16" name="sp16"/>
          <p:cNvSpPr/>
          <p:nvPr/>
        </p:nvSpPr>
        <p:spPr>
          <a:xfrm>
            <a:off x="5200000" y="941832"/>
            <a:ext cx="13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Register</a:t>
            </a:r>
          </a:p>
        </p:txBody>
      </p:sp>
      <p:sp>
        <p:nvSpPr>
          <p:cNvPr id="17" name="rect17"/>
          <p:cNvSpPr/>
          <p:nvPr/>
        </p:nvSpPr>
        <p:spPr>
          <a:xfrm>
            <a:off x="6590856" y="947832"/>
            <a:ext cx="2118288" cy="11418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sp18"/>
          <p:cNvSpPr/>
          <p:nvPr/>
        </p:nvSpPr>
        <p:spPr>
          <a:xfrm>
            <a:off x="6600000" y="941832"/>
            <a:ext cx="21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Complete</a:t>
            </a:r>
          </a:p>
        </p:txBody>
      </p:sp>
      <p:sp>
        <p:nvSpPr>
          <p:cNvPr id="19" name="rect19"/>
          <p:cNvSpPr/>
          <p:nvPr/>
        </p:nvSpPr>
        <p:spPr>
          <a:xfrm>
            <a:off x="0" y="1068019"/>
            <a:ext cx="9144000" cy="126187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rect20"/>
          <p:cNvSpPr/>
          <p:nvPr/>
        </p:nvSpPr>
        <p:spPr>
          <a:xfrm>
            <a:off x="36576" y="1074019"/>
            <a:ext cx="585216" cy="114187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sp21"/>
          <p:cNvSpPr/>
          <p:nvPr/>
        </p:nvSpPr>
        <p:spPr>
          <a:xfrm>
            <a:off x="45720" y="1068019"/>
            <a:ext cx="566928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FR-02</a:t>
            </a:r>
          </a:p>
        </p:txBody>
      </p:sp>
      <p:sp>
        <p:nvSpPr>
          <p:cNvPr id="22" name="sp22"/>
          <p:cNvSpPr/>
          <p:nvPr/>
        </p:nvSpPr>
        <p:spPr>
          <a:xfrm>
            <a:off x="640080" y="1068019"/>
            <a:ext cx="19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User Login</a:t>
            </a:r>
          </a:p>
        </p:txBody>
      </p:sp>
      <p:sp>
        <p:nvSpPr>
          <p:cNvPr id="23" name="sp23"/>
          <p:cNvSpPr/>
          <p:nvPr/>
        </p:nvSpPr>
        <p:spPr>
          <a:xfrm>
            <a:off x="2600000" y="1068019"/>
            <a:ext cx="25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20" b="0" dirty="0">
                <a:solidFill>
                  <a:srgbClr val="455A64"/>
                </a:solidFill>
                <a:latin typeface="Arial" pitchFamily="34" charset="0"/>
              </a:rPr>
              <a:t>User can log in using registered credentials</a:t>
            </a:r>
          </a:p>
        </p:txBody>
      </p:sp>
      <p:sp>
        <p:nvSpPr>
          <p:cNvPr id="24" name="sp24"/>
          <p:cNvSpPr/>
          <p:nvPr/>
        </p:nvSpPr>
        <p:spPr>
          <a:xfrm>
            <a:off x="5200000" y="1068019"/>
            <a:ext cx="13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Login</a:t>
            </a:r>
          </a:p>
        </p:txBody>
      </p:sp>
      <p:sp>
        <p:nvSpPr>
          <p:cNvPr id="25" name="rect25"/>
          <p:cNvSpPr/>
          <p:nvPr/>
        </p:nvSpPr>
        <p:spPr>
          <a:xfrm>
            <a:off x="6590856" y="1074019"/>
            <a:ext cx="2118288" cy="11418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6" name="sp26"/>
          <p:cNvSpPr/>
          <p:nvPr/>
        </p:nvSpPr>
        <p:spPr>
          <a:xfrm>
            <a:off x="6600000" y="1068019"/>
            <a:ext cx="21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Complete</a:t>
            </a:r>
          </a:p>
        </p:txBody>
      </p:sp>
      <p:sp>
        <p:nvSpPr>
          <p:cNvPr id="27" name="rect27"/>
          <p:cNvSpPr/>
          <p:nvPr/>
        </p:nvSpPr>
        <p:spPr>
          <a:xfrm>
            <a:off x="0" y="1194206"/>
            <a:ext cx="9144000" cy="126187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8" name="rect28"/>
          <p:cNvSpPr/>
          <p:nvPr/>
        </p:nvSpPr>
        <p:spPr>
          <a:xfrm>
            <a:off x="36576" y="1200206"/>
            <a:ext cx="585216" cy="114187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9" name="sp29"/>
          <p:cNvSpPr/>
          <p:nvPr/>
        </p:nvSpPr>
        <p:spPr>
          <a:xfrm>
            <a:off x="45720" y="1194206"/>
            <a:ext cx="566928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FR-03</a:t>
            </a:r>
          </a:p>
        </p:txBody>
      </p:sp>
      <p:sp>
        <p:nvSpPr>
          <p:cNvPr id="30" name="sp30"/>
          <p:cNvSpPr/>
          <p:nvPr/>
        </p:nvSpPr>
        <p:spPr>
          <a:xfrm>
            <a:off x="640080" y="1194206"/>
            <a:ext cx="19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User Logout</a:t>
            </a:r>
          </a:p>
        </p:txBody>
      </p:sp>
      <p:sp>
        <p:nvSpPr>
          <p:cNvPr id="31" name="sp31"/>
          <p:cNvSpPr/>
          <p:nvPr/>
        </p:nvSpPr>
        <p:spPr>
          <a:xfrm>
            <a:off x="2600000" y="1194206"/>
            <a:ext cx="25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20" b="0" dirty="0">
                <a:solidFill>
                  <a:srgbClr val="455A64"/>
                </a:solidFill>
                <a:latin typeface="Arial" pitchFamily="34" charset="0"/>
              </a:rPr>
              <a:t>User can log out from the system</a:t>
            </a:r>
          </a:p>
        </p:txBody>
      </p:sp>
      <p:sp>
        <p:nvSpPr>
          <p:cNvPr id="32" name="sp32"/>
          <p:cNvSpPr/>
          <p:nvPr/>
        </p:nvSpPr>
        <p:spPr>
          <a:xfrm>
            <a:off x="5200000" y="1194206"/>
            <a:ext cx="13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Navbar</a:t>
            </a:r>
          </a:p>
        </p:txBody>
      </p:sp>
      <p:sp>
        <p:nvSpPr>
          <p:cNvPr id="33" name="rect33"/>
          <p:cNvSpPr/>
          <p:nvPr/>
        </p:nvSpPr>
        <p:spPr>
          <a:xfrm>
            <a:off x="6590856" y="1200206"/>
            <a:ext cx="2118288" cy="11418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4" name="sp34"/>
          <p:cNvSpPr/>
          <p:nvPr/>
        </p:nvSpPr>
        <p:spPr>
          <a:xfrm>
            <a:off x="6600000" y="1194206"/>
            <a:ext cx="21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Complete</a:t>
            </a:r>
          </a:p>
        </p:txBody>
      </p:sp>
      <p:sp>
        <p:nvSpPr>
          <p:cNvPr id="35" name="rect35"/>
          <p:cNvSpPr/>
          <p:nvPr/>
        </p:nvSpPr>
        <p:spPr>
          <a:xfrm>
            <a:off x="0" y="1320393"/>
            <a:ext cx="9144000" cy="126187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6" name="rect36"/>
          <p:cNvSpPr/>
          <p:nvPr/>
        </p:nvSpPr>
        <p:spPr>
          <a:xfrm>
            <a:off x="36576" y="1326393"/>
            <a:ext cx="585216" cy="114187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37" name="sp37"/>
          <p:cNvSpPr/>
          <p:nvPr/>
        </p:nvSpPr>
        <p:spPr>
          <a:xfrm>
            <a:off x="45720" y="1320393"/>
            <a:ext cx="566928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FR-04</a:t>
            </a:r>
          </a:p>
        </p:txBody>
      </p:sp>
      <p:sp>
        <p:nvSpPr>
          <p:cNvPr id="38" name="sp38"/>
          <p:cNvSpPr/>
          <p:nvPr/>
        </p:nvSpPr>
        <p:spPr>
          <a:xfrm>
            <a:off x="640080" y="1320393"/>
            <a:ext cx="19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Session Management</a:t>
            </a:r>
          </a:p>
        </p:txBody>
      </p:sp>
      <p:sp>
        <p:nvSpPr>
          <p:cNvPr id="39" name="sp39"/>
          <p:cNvSpPr/>
          <p:nvPr/>
        </p:nvSpPr>
        <p:spPr>
          <a:xfrm>
            <a:off x="2600000" y="1320393"/>
            <a:ext cx="25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20" b="0" dirty="0">
                <a:solidFill>
                  <a:srgbClr val="455A64"/>
                </a:solidFill>
                <a:latin typeface="Arial" pitchFamily="34" charset="0"/>
              </a:rPr>
              <a:t>Logged-in user stored in Local Storage</a:t>
            </a:r>
          </a:p>
        </p:txBody>
      </p:sp>
      <p:sp>
        <p:nvSpPr>
          <p:cNvPr id="40" name="sp40"/>
          <p:cNvSpPr/>
          <p:nvPr/>
        </p:nvSpPr>
        <p:spPr>
          <a:xfrm>
            <a:off x="5200000" y="1320393"/>
            <a:ext cx="13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Login/Navbar</a:t>
            </a:r>
          </a:p>
        </p:txBody>
      </p:sp>
      <p:sp>
        <p:nvSpPr>
          <p:cNvPr id="41" name="rect41"/>
          <p:cNvSpPr/>
          <p:nvPr/>
        </p:nvSpPr>
        <p:spPr>
          <a:xfrm>
            <a:off x="6590856" y="1326393"/>
            <a:ext cx="2118288" cy="11418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2" name="sp42"/>
          <p:cNvSpPr/>
          <p:nvPr/>
        </p:nvSpPr>
        <p:spPr>
          <a:xfrm>
            <a:off x="6600000" y="1320393"/>
            <a:ext cx="21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Complete</a:t>
            </a:r>
          </a:p>
        </p:txBody>
      </p:sp>
      <p:sp>
        <p:nvSpPr>
          <p:cNvPr id="43" name="rect43"/>
          <p:cNvSpPr/>
          <p:nvPr/>
        </p:nvSpPr>
        <p:spPr>
          <a:xfrm>
            <a:off x="0" y="1446580"/>
            <a:ext cx="9144000" cy="126187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44" name="rect44"/>
          <p:cNvSpPr/>
          <p:nvPr/>
        </p:nvSpPr>
        <p:spPr>
          <a:xfrm>
            <a:off x="36576" y="1452580"/>
            <a:ext cx="585216" cy="114187"/>
          </a:xfrm>
          <a:prstGeom prst="rect">
            <a:avLst/>
          </a:prstGeom>
          <a:solidFill>
            <a:srgbClr val="4A148C"/>
          </a:solidFill>
          <a:ln/>
        </p:spPr>
      </p:sp>
      <p:sp>
        <p:nvSpPr>
          <p:cNvPr id="45" name="sp45"/>
          <p:cNvSpPr/>
          <p:nvPr/>
        </p:nvSpPr>
        <p:spPr>
          <a:xfrm>
            <a:off x="45720" y="1446580"/>
            <a:ext cx="566928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FR-05</a:t>
            </a:r>
          </a:p>
        </p:txBody>
      </p:sp>
      <p:sp>
        <p:nvSpPr>
          <p:cNvPr id="46" name="sp46"/>
          <p:cNvSpPr/>
          <p:nvPr/>
        </p:nvSpPr>
        <p:spPr>
          <a:xfrm>
            <a:off x="640080" y="1446580"/>
            <a:ext cx="19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Browse Foods</a:t>
            </a:r>
          </a:p>
        </p:txBody>
      </p:sp>
      <p:sp>
        <p:nvSpPr>
          <p:cNvPr id="47" name="sp47"/>
          <p:cNvSpPr/>
          <p:nvPr/>
        </p:nvSpPr>
        <p:spPr>
          <a:xfrm>
            <a:off x="2600000" y="1446580"/>
            <a:ext cx="25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20" b="0" dirty="0">
                <a:solidFill>
                  <a:srgbClr val="455A64"/>
                </a:solidFill>
                <a:latin typeface="Arial" pitchFamily="34" charset="0"/>
              </a:rPr>
              <a:t>User can view available foods</a:t>
            </a:r>
          </a:p>
        </p:txBody>
      </p:sp>
      <p:sp>
        <p:nvSpPr>
          <p:cNvPr id="48" name="sp48"/>
          <p:cNvSpPr/>
          <p:nvPr/>
        </p:nvSpPr>
        <p:spPr>
          <a:xfrm>
            <a:off x="5200000" y="1446580"/>
            <a:ext cx="13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Home</a:t>
            </a:r>
          </a:p>
        </p:txBody>
      </p:sp>
      <p:sp>
        <p:nvSpPr>
          <p:cNvPr id="49" name="rect49"/>
          <p:cNvSpPr/>
          <p:nvPr/>
        </p:nvSpPr>
        <p:spPr>
          <a:xfrm>
            <a:off x="6590856" y="1452580"/>
            <a:ext cx="2118288" cy="11418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50" name="sp50"/>
          <p:cNvSpPr/>
          <p:nvPr/>
        </p:nvSpPr>
        <p:spPr>
          <a:xfrm>
            <a:off x="6600000" y="1446580"/>
            <a:ext cx="21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Complete</a:t>
            </a:r>
          </a:p>
        </p:txBody>
      </p:sp>
      <p:sp>
        <p:nvSpPr>
          <p:cNvPr id="51" name="rect51"/>
          <p:cNvSpPr/>
          <p:nvPr/>
        </p:nvSpPr>
        <p:spPr>
          <a:xfrm>
            <a:off x="0" y="1572767"/>
            <a:ext cx="9144000" cy="126187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2" name="rect52"/>
          <p:cNvSpPr/>
          <p:nvPr/>
        </p:nvSpPr>
        <p:spPr>
          <a:xfrm>
            <a:off x="36576" y="1578767"/>
            <a:ext cx="585216" cy="114187"/>
          </a:xfrm>
          <a:prstGeom prst="rect">
            <a:avLst/>
          </a:prstGeom>
          <a:solidFill>
            <a:srgbClr val="006064"/>
          </a:solidFill>
          <a:ln/>
        </p:spPr>
      </p:sp>
      <p:sp>
        <p:nvSpPr>
          <p:cNvPr id="53" name="sp53"/>
          <p:cNvSpPr/>
          <p:nvPr/>
        </p:nvSpPr>
        <p:spPr>
          <a:xfrm>
            <a:off x="45720" y="1572767"/>
            <a:ext cx="566928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FR-06</a:t>
            </a:r>
          </a:p>
        </p:txBody>
      </p:sp>
      <p:sp>
        <p:nvSpPr>
          <p:cNvPr id="54" name="sp54"/>
          <p:cNvSpPr/>
          <p:nvPr/>
        </p:nvSpPr>
        <p:spPr>
          <a:xfrm>
            <a:off x="640080" y="1572767"/>
            <a:ext cx="19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Search Foods</a:t>
            </a:r>
          </a:p>
        </p:txBody>
      </p:sp>
      <p:sp>
        <p:nvSpPr>
          <p:cNvPr id="55" name="sp55"/>
          <p:cNvSpPr/>
          <p:nvPr/>
        </p:nvSpPr>
        <p:spPr>
          <a:xfrm>
            <a:off x="2600000" y="1572767"/>
            <a:ext cx="25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20" b="0" dirty="0">
                <a:solidFill>
                  <a:srgbClr val="455A64"/>
                </a:solidFill>
                <a:latin typeface="Arial" pitchFamily="34" charset="0"/>
              </a:rPr>
              <a:t>User can search foods by name</a:t>
            </a:r>
          </a:p>
        </p:txBody>
      </p:sp>
      <p:sp>
        <p:nvSpPr>
          <p:cNvPr id="56" name="sp56"/>
          <p:cNvSpPr/>
          <p:nvPr/>
        </p:nvSpPr>
        <p:spPr>
          <a:xfrm>
            <a:off x="5200000" y="1572767"/>
            <a:ext cx="13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Home</a:t>
            </a:r>
          </a:p>
        </p:txBody>
      </p:sp>
      <p:sp>
        <p:nvSpPr>
          <p:cNvPr id="57" name="rect57"/>
          <p:cNvSpPr/>
          <p:nvPr/>
        </p:nvSpPr>
        <p:spPr>
          <a:xfrm>
            <a:off x="6590856" y="1578767"/>
            <a:ext cx="2118288" cy="11418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58" name="sp58"/>
          <p:cNvSpPr/>
          <p:nvPr/>
        </p:nvSpPr>
        <p:spPr>
          <a:xfrm>
            <a:off x="6600000" y="1572767"/>
            <a:ext cx="21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Complete</a:t>
            </a:r>
          </a:p>
        </p:txBody>
      </p:sp>
      <p:sp>
        <p:nvSpPr>
          <p:cNvPr id="59" name="rect59"/>
          <p:cNvSpPr/>
          <p:nvPr/>
        </p:nvSpPr>
        <p:spPr>
          <a:xfrm>
            <a:off x="0" y="1698954"/>
            <a:ext cx="9144000" cy="126187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0" name="rect60"/>
          <p:cNvSpPr/>
          <p:nvPr/>
        </p:nvSpPr>
        <p:spPr>
          <a:xfrm>
            <a:off x="36576" y="1704954"/>
            <a:ext cx="585216" cy="114187"/>
          </a:xfrm>
          <a:prstGeom prst="rect">
            <a:avLst/>
          </a:prstGeom>
          <a:solidFill>
            <a:srgbClr val="4E342E"/>
          </a:solidFill>
          <a:ln/>
        </p:spPr>
      </p:sp>
      <p:sp>
        <p:nvSpPr>
          <p:cNvPr id="61" name="sp61"/>
          <p:cNvSpPr/>
          <p:nvPr/>
        </p:nvSpPr>
        <p:spPr>
          <a:xfrm>
            <a:off x="45720" y="1698954"/>
            <a:ext cx="566928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FR-07</a:t>
            </a:r>
          </a:p>
        </p:txBody>
      </p:sp>
      <p:sp>
        <p:nvSpPr>
          <p:cNvPr id="62" name="sp62"/>
          <p:cNvSpPr/>
          <p:nvPr/>
        </p:nvSpPr>
        <p:spPr>
          <a:xfrm>
            <a:off x="640080" y="1698954"/>
            <a:ext cx="19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Category Filter</a:t>
            </a:r>
          </a:p>
        </p:txBody>
      </p:sp>
      <p:sp>
        <p:nvSpPr>
          <p:cNvPr id="63" name="sp63"/>
          <p:cNvSpPr/>
          <p:nvPr/>
        </p:nvSpPr>
        <p:spPr>
          <a:xfrm>
            <a:off x="2600000" y="1698954"/>
            <a:ext cx="25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20" b="0" dirty="0">
                <a:solidFill>
                  <a:srgbClr val="455A64"/>
                </a:solidFill>
                <a:latin typeface="Arial" pitchFamily="34" charset="0"/>
              </a:rPr>
              <a:t>User can filter foods by category</a:t>
            </a:r>
          </a:p>
        </p:txBody>
      </p:sp>
      <p:sp>
        <p:nvSpPr>
          <p:cNvPr id="64" name="sp64"/>
          <p:cNvSpPr/>
          <p:nvPr/>
        </p:nvSpPr>
        <p:spPr>
          <a:xfrm>
            <a:off x="5200000" y="1698954"/>
            <a:ext cx="13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Home</a:t>
            </a:r>
          </a:p>
        </p:txBody>
      </p:sp>
      <p:sp>
        <p:nvSpPr>
          <p:cNvPr id="65" name="rect65"/>
          <p:cNvSpPr/>
          <p:nvPr/>
        </p:nvSpPr>
        <p:spPr>
          <a:xfrm>
            <a:off x="6590856" y="1704954"/>
            <a:ext cx="2118288" cy="11418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6" name="sp66"/>
          <p:cNvSpPr/>
          <p:nvPr/>
        </p:nvSpPr>
        <p:spPr>
          <a:xfrm>
            <a:off x="6600000" y="1698954"/>
            <a:ext cx="21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Complete</a:t>
            </a:r>
          </a:p>
        </p:txBody>
      </p:sp>
      <p:sp>
        <p:nvSpPr>
          <p:cNvPr id="67" name="rect67"/>
          <p:cNvSpPr/>
          <p:nvPr/>
        </p:nvSpPr>
        <p:spPr>
          <a:xfrm>
            <a:off x="0" y="1825141"/>
            <a:ext cx="9144000" cy="126187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8" name="rect68"/>
          <p:cNvSpPr/>
          <p:nvPr/>
        </p:nvSpPr>
        <p:spPr>
          <a:xfrm>
            <a:off x="36576" y="1831141"/>
            <a:ext cx="585216" cy="114187"/>
          </a:xfrm>
          <a:prstGeom prst="rect">
            <a:avLst/>
          </a:prstGeom>
          <a:solidFill>
            <a:srgbClr val="263238"/>
          </a:solidFill>
          <a:ln/>
        </p:spPr>
      </p:sp>
      <p:sp>
        <p:nvSpPr>
          <p:cNvPr id="69" name="sp69"/>
          <p:cNvSpPr/>
          <p:nvPr/>
        </p:nvSpPr>
        <p:spPr>
          <a:xfrm>
            <a:off x="45720" y="1825141"/>
            <a:ext cx="566928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FR-08</a:t>
            </a:r>
          </a:p>
        </p:txBody>
      </p:sp>
      <p:sp>
        <p:nvSpPr>
          <p:cNvPr id="70" name="sp70"/>
          <p:cNvSpPr/>
          <p:nvPr/>
        </p:nvSpPr>
        <p:spPr>
          <a:xfrm>
            <a:off x="640080" y="1825141"/>
            <a:ext cx="19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View Food Details</a:t>
            </a:r>
          </a:p>
        </p:txBody>
      </p:sp>
      <p:sp>
        <p:nvSpPr>
          <p:cNvPr id="71" name="sp71"/>
          <p:cNvSpPr/>
          <p:nvPr/>
        </p:nvSpPr>
        <p:spPr>
          <a:xfrm>
            <a:off x="2600000" y="1825141"/>
            <a:ext cx="25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20" b="0" dirty="0">
                <a:solidFill>
                  <a:srgbClr val="455A64"/>
                </a:solidFill>
                <a:latin typeface="Arial" pitchFamily="34" charset="0"/>
              </a:rPr>
              <a:t>User can see image, name and price</a:t>
            </a:r>
          </a:p>
        </p:txBody>
      </p:sp>
      <p:sp>
        <p:nvSpPr>
          <p:cNvPr id="72" name="sp72"/>
          <p:cNvSpPr/>
          <p:nvPr/>
        </p:nvSpPr>
        <p:spPr>
          <a:xfrm>
            <a:off x="5200000" y="1825141"/>
            <a:ext cx="13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Home</a:t>
            </a:r>
          </a:p>
        </p:txBody>
      </p:sp>
      <p:sp>
        <p:nvSpPr>
          <p:cNvPr id="73" name="rect73"/>
          <p:cNvSpPr/>
          <p:nvPr/>
        </p:nvSpPr>
        <p:spPr>
          <a:xfrm>
            <a:off x="6590856" y="1831141"/>
            <a:ext cx="2118288" cy="11418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4" name="sp74"/>
          <p:cNvSpPr/>
          <p:nvPr/>
        </p:nvSpPr>
        <p:spPr>
          <a:xfrm>
            <a:off x="6600000" y="1825141"/>
            <a:ext cx="21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Complete</a:t>
            </a:r>
          </a:p>
        </p:txBody>
      </p:sp>
      <p:sp>
        <p:nvSpPr>
          <p:cNvPr id="75" name="rect75"/>
          <p:cNvSpPr/>
          <p:nvPr/>
        </p:nvSpPr>
        <p:spPr>
          <a:xfrm>
            <a:off x="0" y="1951328"/>
            <a:ext cx="9144000" cy="126187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6" name="rect76"/>
          <p:cNvSpPr/>
          <p:nvPr/>
        </p:nvSpPr>
        <p:spPr>
          <a:xfrm>
            <a:off x="36576" y="1957328"/>
            <a:ext cx="585216" cy="114187"/>
          </a:xfrm>
          <a:prstGeom prst="rect">
            <a:avLst/>
          </a:prstGeom>
          <a:solidFill>
            <a:srgbClr val="880E4F"/>
          </a:solidFill>
          <a:ln/>
        </p:spPr>
      </p:sp>
      <p:sp>
        <p:nvSpPr>
          <p:cNvPr id="77" name="sp77"/>
          <p:cNvSpPr/>
          <p:nvPr/>
        </p:nvSpPr>
        <p:spPr>
          <a:xfrm>
            <a:off x="45720" y="1951328"/>
            <a:ext cx="566928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FR-09</a:t>
            </a:r>
          </a:p>
        </p:txBody>
      </p:sp>
      <p:sp>
        <p:nvSpPr>
          <p:cNvPr id="78" name="sp78"/>
          <p:cNvSpPr/>
          <p:nvPr/>
        </p:nvSpPr>
        <p:spPr>
          <a:xfrm>
            <a:off x="640080" y="1951328"/>
            <a:ext cx="19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Add to Cart</a:t>
            </a:r>
          </a:p>
        </p:txBody>
      </p:sp>
      <p:sp>
        <p:nvSpPr>
          <p:cNvPr id="79" name="sp79"/>
          <p:cNvSpPr/>
          <p:nvPr/>
        </p:nvSpPr>
        <p:spPr>
          <a:xfrm>
            <a:off x="2600000" y="1951328"/>
            <a:ext cx="25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20" b="0" dirty="0">
                <a:solidFill>
                  <a:srgbClr val="455A64"/>
                </a:solidFill>
                <a:latin typeface="Arial" pitchFamily="34" charset="0"/>
              </a:rPr>
              <a:t>User can add food items to cart</a:t>
            </a:r>
          </a:p>
        </p:txBody>
      </p:sp>
      <p:sp>
        <p:nvSpPr>
          <p:cNvPr id="80" name="sp80"/>
          <p:cNvSpPr/>
          <p:nvPr/>
        </p:nvSpPr>
        <p:spPr>
          <a:xfrm>
            <a:off x="5200000" y="1951328"/>
            <a:ext cx="13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Home</a:t>
            </a:r>
          </a:p>
        </p:txBody>
      </p:sp>
      <p:sp>
        <p:nvSpPr>
          <p:cNvPr id="81" name="rect81"/>
          <p:cNvSpPr/>
          <p:nvPr/>
        </p:nvSpPr>
        <p:spPr>
          <a:xfrm>
            <a:off x="6590856" y="1957328"/>
            <a:ext cx="2118288" cy="11418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82" name="sp82"/>
          <p:cNvSpPr/>
          <p:nvPr/>
        </p:nvSpPr>
        <p:spPr>
          <a:xfrm>
            <a:off x="6600000" y="1951328"/>
            <a:ext cx="21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Complete</a:t>
            </a:r>
          </a:p>
        </p:txBody>
      </p:sp>
      <p:sp>
        <p:nvSpPr>
          <p:cNvPr id="83" name="rect83"/>
          <p:cNvSpPr/>
          <p:nvPr/>
        </p:nvSpPr>
        <p:spPr>
          <a:xfrm>
            <a:off x="0" y="2077515"/>
            <a:ext cx="9144000" cy="126187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84" name="rect84"/>
          <p:cNvSpPr/>
          <p:nvPr/>
        </p:nvSpPr>
        <p:spPr>
          <a:xfrm>
            <a:off x="36576" y="2083515"/>
            <a:ext cx="585216" cy="114187"/>
          </a:xfrm>
          <a:prstGeom prst="rect">
            <a:avLst/>
          </a:prstGeom>
          <a:solidFill>
            <a:srgbClr val="33691E"/>
          </a:solidFill>
          <a:ln/>
        </p:spPr>
      </p:sp>
      <p:sp>
        <p:nvSpPr>
          <p:cNvPr id="85" name="sp85"/>
          <p:cNvSpPr/>
          <p:nvPr/>
        </p:nvSpPr>
        <p:spPr>
          <a:xfrm>
            <a:off x="45720" y="2077515"/>
            <a:ext cx="566928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FR-10</a:t>
            </a:r>
          </a:p>
        </p:txBody>
      </p:sp>
      <p:sp>
        <p:nvSpPr>
          <p:cNvPr id="86" name="sp86"/>
          <p:cNvSpPr/>
          <p:nvPr/>
        </p:nvSpPr>
        <p:spPr>
          <a:xfrm>
            <a:off x="640080" y="2077515"/>
            <a:ext cx="19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View Cart</a:t>
            </a:r>
          </a:p>
        </p:txBody>
      </p:sp>
      <p:sp>
        <p:nvSpPr>
          <p:cNvPr id="87" name="sp87"/>
          <p:cNvSpPr/>
          <p:nvPr/>
        </p:nvSpPr>
        <p:spPr>
          <a:xfrm>
            <a:off x="2600000" y="2077515"/>
            <a:ext cx="25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20" b="0" dirty="0">
                <a:solidFill>
                  <a:srgbClr val="455A64"/>
                </a:solidFill>
                <a:latin typeface="Arial" pitchFamily="34" charset="0"/>
              </a:rPr>
              <a:t>User can view selected items</a:t>
            </a:r>
          </a:p>
        </p:txBody>
      </p:sp>
      <p:sp>
        <p:nvSpPr>
          <p:cNvPr id="88" name="sp88"/>
          <p:cNvSpPr/>
          <p:nvPr/>
        </p:nvSpPr>
        <p:spPr>
          <a:xfrm>
            <a:off x="5200000" y="2077515"/>
            <a:ext cx="13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Cart</a:t>
            </a:r>
          </a:p>
        </p:txBody>
      </p:sp>
      <p:sp>
        <p:nvSpPr>
          <p:cNvPr id="89" name="rect89"/>
          <p:cNvSpPr/>
          <p:nvPr/>
        </p:nvSpPr>
        <p:spPr>
          <a:xfrm>
            <a:off x="6590856" y="2083515"/>
            <a:ext cx="2118288" cy="11418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0" name="sp90"/>
          <p:cNvSpPr/>
          <p:nvPr/>
        </p:nvSpPr>
        <p:spPr>
          <a:xfrm>
            <a:off x="6600000" y="2077515"/>
            <a:ext cx="21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Complete</a:t>
            </a:r>
          </a:p>
        </p:txBody>
      </p:sp>
      <p:sp>
        <p:nvSpPr>
          <p:cNvPr id="91" name="rect91"/>
          <p:cNvSpPr/>
          <p:nvPr/>
        </p:nvSpPr>
        <p:spPr>
          <a:xfrm>
            <a:off x="0" y="2203702"/>
            <a:ext cx="9144000" cy="126187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92" name="rect92"/>
          <p:cNvSpPr/>
          <p:nvPr/>
        </p:nvSpPr>
        <p:spPr>
          <a:xfrm>
            <a:off x="36576" y="2209702"/>
            <a:ext cx="585216" cy="114187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93" name="sp93"/>
          <p:cNvSpPr/>
          <p:nvPr/>
        </p:nvSpPr>
        <p:spPr>
          <a:xfrm>
            <a:off x="45720" y="2203702"/>
            <a:ext cx="566928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FR-11</a:t>
            </a:r>
          </a:p>
        </p:txBody>
      </p:sp>
      <p:sp>
        <p:nvSpPr>
          <p:cNvPr id="94" name="sp94"/>
          <p:cNvSpPr/>
          <p:nvPr/>
        </p:nvSpPr>
        <p:spPr>
          <a:xfrm>
            <a:off x="640080" y="2203702"/>
            <a:ext cx="19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Increase Quantity</a:t>
            </a:r>
          </a:p>
        </p:txBody>
      </p:sp>
      <p:sp>
        <p:nvSpPr>
          <p:cNvPr id="95" name="sp95"/>
          <p:cNvSpPr/>
          <p:nvPr/>
        </p:nvSpPr>
        <p:spPr>
          <a:xfrm>
            <a:off x="2600000" y="2203702"/>
            <a:ext cx="25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20" b="0" dirty="0">
                <a:solidFill>
                  <a:srgbClr val="455A64"/>
                </a:solidFill>
                <a:latin typeface="Arial" pitchFamily="34" charset="0"/>
              </a:rPr>
              <a:t>User can increase item quantity</a:t>
            </a:r>
          </a:p>
        </p:txBody>
      </p:sp>
      <p:sp>
        <p:nvSpPr>
          <p:cNvPr id="96" name="sp96"/>
          <p:cNvSpPr/>
          <p:nvPr/>
        </p:nvSpPr>
        <p:spPr>
          <a:xfrm>
            <a:off x="5200000" y="2203702"/>
            <a:ext cx="13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Cart</a:t>
            </a:r>
          </a:p>
        </p:txBody>
      </p:sp>
      <p:sp>
        <p:nvSpPr>
          <p:cNvPr id="97" name="rect97"/>
          <p:cNvSpPr/>
          <p:nvPr/>
        </p:nvSpPr>
        <p:spPr>
          <a:xfrm>
            <a:off x="6590856" y="2209702"/>
            <a:ext cx="2118288" cy="11418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8" name="sp98"/>
          <p:cNvSpPr/>
          <p:nvPr/>
        </p:nvSpPr>
        <p:spPr>
          <a:xfrm>
            <a:off x="6600000" y="2203702"/>
            <a:ext cx="21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Complete</a:t>
            </a:r>
          </a:p>
        </p:txBody>
      </p:sp>
      <p:sp>
        <p:nvSpPr>
          <p:cNvPr id="99" name="rect99"/>
          <p:cNvSpPr/>
          <p:nvPr/>
        </p:nvSpPr>
        <p:spPr>
          <a:xfrm>
            <a:off x="0" y="2329889"/>
            <a:ext cx="9144000" cy="126187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00" name="rect100"/>
          <p:cNvSpPr/>
          <p:nvPr/>
        </p:nvSpPr>
        <p:spPr>
          <a:xfrm>
            <a:off x="36576" y="2335889"/>
            <a:ext cx="585216" cy="114187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01" name="sp101"/>
          <p:cNvSpPr/>
          <p:nvPr/>
        </p:nvSpPr>
        <p:spPr>
          <a:xfrm>
            <a:off x="45720" y="2329889"/>
            <a:ext cx="566928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FR-12</a:t>
            </a:r>
          </a:p>
        </p:txBody>
      </p:sp>
      <p:sp>
        <p:nvSpPr>
          <p:cNvPr id="102" name="sp102"/>
          <p:cNvSpPr/>
          <p:nvPr/>
        </p:nvSpPr>
        <p:spPr>
          <a:xfrm>
            <a:off x="640080" y="2329889"/>
            <a:ext cx="19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Decrease Quantity</a:t>
            </a:r>
          </a:p>
        </p:txBody>
      </p:sp>
      <p:sp>
        <p:nvSpPr>
          <p:cNvPr id="103" name="sp103"/>
          <p:cNvSpPr/>
          <p:nvPr/>
        </p:nvSpPr>
        <p:spPr>
          <a:xfrm>
            <a:off x="2600000" y="2329889"/>
            <a:ext cx="25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20" b="0" dirty="0">
                <a:solidFill>
                  <a:srgbClr val="455A64"/>
                </a:solidFill>
                <a:latin typeface="Arial" pitchFamily="34" charset="0"/>
              </a:rPr>
              <a:t>User can decrease item quantity</a:t>
            </a:r>
          </a:p>
        </p:txBody>
      </p:sp>
      <p:sp>
        <p:nvSpPr>
          <p:cNvPr id="104" name="sp104"/>
          <p:cNvSpPr/>
          <p:nvPr/>
        </p:nvSpPr>
        <p:spPr>
          <a:xfrm>
            <a:off x="5200000" y="2329889"/>
            <a:ext cx="13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Cart</a:t>
            </a:r>
          </a:p>
        </p:txBody>
      </p:sp>
      <p:sp>
        <p:nvSpPr>
          <p:cNvPr id="105" name="rect105"/>
          <p:cNvSpPr/>
          <p:nvPr/>
        </p:nvSpPr>
        <p:spPr>
          <a:xfrm>
            <a:off x="6590856" y="2335889"/>
            <a:ext cx="2118288" cy="11418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6" name="sp106"/>
          <p:cNvSpPr/>
          <p:nvPr/>
        </p:nvSpPr>
        <p:spPr>
          <a:xfrm>
            <a:off x="6600000" y="2329889"/>
            <a:ext cx="21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Complete</a:t>
            </a:r>
          </a:p>
        </p:txBody>
      </p:sp>
      <p:sp>
        <p:nvSpPr>
          <p:cNvPr id="107" name="rect107"/>
          <p:cNvSpPr/>
          <p:nvPr/>
        </p:nvSpPr>
        <p:spPr>
          <a:xfrm>
            <a:off x="0" y="2456076"/>
            <a:ext cx="9144000" cy="126187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08" name="rect108"/>
          <p:cNvSpPr/>
          <p:nvPr/>
        </p:nvSpPr>
        <p:spPr>
          <a:xfrm>
            <a:off x="36576" y="2462076"/>
            <a:ext cx="585216" cy="114187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09" name="sp109"/>
          <p:cNvSpPr/>
          <p:nvPr/>
        </p:nvSpPr>
        <p:spPr>
          <a:xfrm>
            <a:off x="45720" y="2456076"/>
            <a:ext cx="566928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FR-13</a:t>
            </a:r>
          </a:p>
        </p:txBody>
      </p:sp>
      <p:sp>
        <p:nvSpPr>
          <p:cNvPr id="110" name="sp110"/>
          <p:cNvSpPr/>
          <p:nvPr/>
        </p:nvSpPr>
        <p:spPr>
          <a:xfrm>
            <a:off x="640080" y="2456076"/>
            <a:ext cx="19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Remove Item</a:t>
            </a:r>
          </a:p>
        </p:txBody>
      </p:sp>
      <p:sp>
        <p:nvSpPr>
          <p:cNvPr id="111" name="sp111"/>
          <p:cNvSpPr/>
          <p:nvPr/>
        </p:nvSpPr>
        <p:spPr>
          <a:xfrm>
            <a:off x="2600000" y="2456076"/>
            <a:ext cx="25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20" b="0" dirty="0">
                <a:solidFill>
                  <a:srgbClr val="455A64"/>
                </a:solidFill>
                <a:latin typeface="Arial" pitchFamily="34" charset="0"/>
              </a:rPr>
              <a:t>User can remove cart items</a:t>
            </a:r>
          </a:p>
        </p:txBody>
      </p:sp>
      <p:sp>
        <p:nvSpPr>
          <p:cNvPr id="112" name="sp112"/>
          <p:cNvSpPr/>
          <p:nvPr/>
        </p:nvSpPr>
        <p:spPr>
          <a:xfrm>
            <a:off x="5200000" y="2456076"/>
            <a:ext cx="13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Cart</a:t>
            </a:r>
          </a:p>
        </p:txBody>
      </p:sp>
      <p:sp>
        <p:nvSpPr>
          <p:cNvPr id="113" name="rect113"/>
          <p:cNvSpPr/>
          <p:nvPr/>
        </p:nvSpPr>
        <p:spPr>
          <a:xfrm>
            <a:off x="6590856" y="2462076"/>
            <a:ext cx="2118288" cy="11418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14" name="sp114"/>
          <p:cNvSpPr/>
          <p:nvPr/>
        </p:nvSpPr>
        <p:spPr>
          <a:xfrm>
            <a:off x="6600000" y="2456076"/>
            <a:ext cx="21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Complete</a:t>
            </a:r>
          </a:p>
        </p:txBody>
      </p:sp>
      <p:sp>
        <p:nvSpPr>
          <p:cNvPr id="115" name="rect115"/>
          <p:cNvSpPr/>
          <p:nvPr/>
        </p:nvSpPr>
        <p:spPr>
          <a:xfrm>
            <a:off x="0" y="2582263"/>
            <a:ext cx="9144000" cy="126187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16" name="rect116"/>
          <p:cNvSpPr/>
          <p:nvPr/>
        </p:nvSpPr>
        <p:spPr>
          <a:xfrm>
            <a:off x="36576" y="2588263"/>
            <a:ext cx="585216" cy="114187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17" name="sp117"/>
          <p:cNvSpPr/>
          <p:nvPr/>
        </p:nvSpPr>
        <p:spPr>
          <a:xfrm>
            <a:off x="45720" y="2582263"/>
            <a:ext cx="566928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FR-14</a:t>
            </a:r>
          </a:p>
        </p:txBody>
      </p:sp>
      <p:sp>
        <p:nvSpPr>
          <p:cNvPr id="118" name="sp118"/>
          <p:cNvSpPr/>
          <p:nvPr/>
        </p:nvSpPr>
        <p:spPr>
          <a:xfrm>
            <a:off x="640080" y="2582263"/>
            <a:ext cx="19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Cart Persistence</a:t>
            </a:r>
          </a:p>
        </p:txBody>
      </p:sp>
      <p:sp>
        <p:nvSpPr>
          <p:cNvPr id="119" name="sp119"/>
          <p:cNvSpPr/>
          <p:nvPr/>
        </p:nvSpPr>
        <p:spPr>
          <a:xfrm>
            <a:off x="2600000" y="2582263"/>
            <a:ext cx="25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20" b="0" dirty="0">
                <a:solidFill>
                  <a:srgbClr val="455A64"/>
                </a:solidFill>
                <a:latin typeface="Arial" pitchFamily="34" charset="0"/>
              </a:rPr>
              <a:t>Cart data saved in Local Storage</a:t>
            </a:r>
          </a:p>
        </p:txBody>
      </p:sp>
      <p:sp>
        <p:nvSpPr>
          <p:cNvPr id="120" name="sp120"/>
          <p:cNvSpPr/>
          <p:nvPr/>
        </p:nvSpPr>
        <p:spPr>
          <a:xfrm>
            <a:off x="5200000" y="2582263"/>
            <a:ext cx="13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App.js</a:t>
            </a:r>
          </a:p>
        </p:txBody>
      </p:sp>
      <p:sp>
        <p:nvSpPr>
          <p:cNvPr id="121" name="rect121"/>
          <p:cNvSpPr/>
          <p:nvPr/>
        </p:nvSpPr>
        <p:spPr>
          <a:xfrm>
            <a:off x="6590856" y="2588263"/>
            <a:ext cx="2118288" cy="11418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2" name="sp122"/>
          <p:cNvSpPr/>
          <p:nvPr/>
        </p:nvSpPr>
        <p:spPr>
          <a:xfrm>
            <a:off x="6600000" y="2582263"/>
            <a:ext cx="21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Complete</a:t>
            </a:r>
          </a:p>
        </p:txBody>
      </p:sp>
      <p:sp>
        <p:nvSpPr>
          <p:cNvPr id="123" name="rect123"/>
          <p:cNvSpPr/>
          <p:nvPr/>
        </p:nvSpPr>
        <p:spPr>
          <a:xfrm>
            <a:off x="0" y="2708450"/>
            <a:ext cx="9144000" cy="126187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24" name="rect124"/>
          <p:cNvSpPr/>
          <p:nvPr/>
        </p:nvSpPr>
        <p:spPr>
          <a:xfrm>
            <a:off x="36576" y="2714450"/>
            <a:ext cx="585216" cy="114187"/>
          </a:xfrm>
          <a:prstGeom prst="rect">
            <a:avLst/>
          </a:prstGeom>
          <a:solidFill>
            <a:srgbClr val="4A148C"/>
          </a:solidFill>
          <a:ln/>
        </p:spPr>
      </p:sp>
      <p:sp>
        <p:nvSpPr>
          <p:cNvPr id="125" name="sp125"/>
          <p:cNvSpPr/>
          <p:nvPr/>
        </p:nvSpPr>
        <p:spPr>
          <a:xfrm>
            <a:off x="45720" y="2708450"/>
            <a:ext cx="566928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FR-15</a:t>
            </a:r>
          </a:p>
        </p:txBody>
      </p:sp>
      <p:sp>
        <p:nvSpPr>
          <p:cNvPr id="126" name="sp126"/>
          <p:cNvSpPr/>
          <p:nvPr/>
        </p:nvSpPr>
        <p:spPr>
          <a:xfrm>
            <a:off x="640080" y="2708450"/>
            <a:ext cx="19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Checkout</a:t>
            </a:r>
          </a:p>
        </p:txBody>
      </p:sp>
      <p:sp>
        <p:nvSpPr>
          <p:cNvPr id="127" name="sp127"/>
          <p:cNvSpPr/>
          <p:nvPr/>
        </p:nvSpPr>
        <p:spPr>
          <a:xfrm>
            <a:off x="2600000" y="2708450"/>
            <a:ext cx="25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20" b="0" dirty="0">
                <a:solidFill>
                  <a:srgbClr val="455A64"/>
                </a:solidFill>
                <a:latin typeface="Arial" pitchFamily="34" charset="0"/>
              </a:rPr>
              <a:t>User can place an order</a:t>
            </a:r>
          </a:p>
        </p:txBody>
      </p:sp>
      <p:sp>
        <p:nvSpPr>
          <p:cNvPr id="128" name="sp128"/>
          <p:cNvSpPr/>
          <p:nvPr/>
        </p:nvSpPr>
        <p:spPr>
          <a:xfrm>
            <a:off x="5200000" y="2708450"/>
            <a:ext cx="13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Checkout</a:t>
            </a:r>
          </a:p>
        </p:txBody>
      </p:sp>
      <p:sp>
        <p:nvSpPr>
          <p:cNvPr id="129" name="rect129"/>
          <p:cNvSpPr/>
          <p:nvPr/>
        </p:nvSpPr>
        <p:spPr>
          <a:xfrm>
            <a:off x="6590856" y="2714450"/>
            <a:ext cx="2118288" cy="11418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30" name="sp130"/>
          <p:cNvSpPr/>
          <p:nvPr/>
        </p:nvSpPr>
        <p:spPr>
          <a:xfrm>
            <a:off x="6600000" y="2708450"/>
            <a:ext cx="21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Complete</a:t>
            </a:r>
          </a:p>
        </p:txBody>
      </p:sp>
      <p:sp>
        <p:nvSpPr>
          <p:cNvPr id="131" name="rect131"/>
          <p:cNvSpPr/>
          <p:nvPr/>
        </p:nvSpPr>
        <p:spPr>
          <a:xfrm>
            <a:off x="0" y="2834637"/>
            <a:ext cx="9144000" cy="126187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2" name="rect132"/>
          <p:cNvSpPr/>
          <p:nvPr/>
        </p:nvSpPr>
        <p:spPr>
          <a:xfrm>
            <a:off x="36576" y="2840637"/>
            <a:ext cx="585216" cy="114187"/>
          </a:xfrm>
          <a:prstGeom prst="rect">
            <a:avLst/>
          </a:prstGeom>
          <a:solidFill>
            <a:srgbClr val="006064"/>
          </a:solidFill>
          <a:ln/>
        </p:spPr>
      </p:sp>
      <p:sp>
        <p:nvSpPr>
          <p:cNvPr id="133" name="sp133"/>
          <p:cNvSpPr/>
          <p:nvPr/>
        </p:nvSpPr>
        <p:spPr>
          <a:xfrm>
            <a:off x="45720" y="2834637"/>
            <a:ext cx="566928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FR-16</a:t>
            </a:r>
          </a:p>
        </p:txBody>
      </p:sp>
      <p:sp>
        <p:nvSpPr>
          <p:cNvPr id="134" name="sp134"/>
          <p:cNvSpPr/>
          <p:nvPr/>
        </p:nvSpPr>
        <p:spPr>
          <a:xfrm>
            <a:off x="640080" y="2834637"/>
            <a:ext cx="19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Payment Selection</a:t>
            </a:r>
          </a:p>
        </p:txBody>
      </p:sp>
      <p:sp>
        <p:nvSpPr>
          <p:cNvPr id="135" name="sp135"/>
          <p:cNvSpPr/>
          <p:nvPr/>
        </p:nvSpPr>
        <p:spPr>
          <a:xfrm>
            <a:off x="2600000" y="2834637"/>
            <a:ext cx="25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20" b="0" dirty="0">
                <a:solidFill>
                  <a:srgbClr val="455A64"/>
                </a:solidFill>
                <a:latin typeface="Arial" pitchFamily="34" charset="0"/>
              </a:rPr>
              <a:t>User selects payment method</a:t>
            </a:r>
          </a:p>
        </p:txBody>
      </p:sp>
      <p:sp>
        <p:nvSpPr>
          <p:cNvPr id="136" name="sp136"/>
          <p:cNvSpPr/>
          <p:nvPr/>
        </p:nvSpPr>
        <p:spPr>
          <a:xfrm>
            <a:off x="5200000" y="2834637"/>
            <a:ext cx="13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Checkout</a:t>
            </a:r>
          </a:p>
        </p:txBody>
      </p:sp>
      <p:sp>
        <p:nvSpPr>
          <p:cNvPr id="137" name="rect137"/>
          <p:cNvSpPr/>
          <p:nvPr/>
        </p:nvSpPr>
        <p:spPr>
          <a:xfrm>
            <a:off x="6590856" y="2840637"/>
            <a:ext cx="2118288" cy="11418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38" name="sp138"/>
          <p:cNvSpPr/>
          <p:nvPr/>
        </p:nvSpPr>
        <p:spPr>
          <a:xfrm>
            <a:off x="6600000" y="2834637"/>
            <a:ext cx="21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Complete</a:t>
            </a:r>
          </a:p>
        </p:txBody>
      </p:sp>
      <p:sp>
        <p:nvSpPr>
          <p:cNvPr id="139" name="rect139"/>
          <p:cNvSpPr/>
          <p:nvPr/>
        </p:nvSpPr>
        <p:spPr>
          <a:xfrm>
            <a:off x="0" y="2960824"/>
            <a:ext cx="9144000" cy="126187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40" name="rect140"/>
          <p:cNvSpPr/>
          <p:nvPr/>
        </p:nvSpPr>
        <p:spPr>
          <a:xfrm>
            <a:off x="36576" y="2966824"/>
            <a:ext cx="585216" cy="114187"/>
          </a:xfrm>
          <a:prstGeom prst="rect">
            <a:avLst/>
          </a:prstGeom>
          <a:solidFill>
            <a:srgbClr val="4E342E"/>
          </a:solidFill>
          <a:ln/>
        </p:spPr>
      </p:sp>
      <p:sp>
        <p:nvSpPr>
          <p:cNvPr id="141" name="sp141"/>
          <p:cNvSpPr/>
          <p:nvPr/>
        </p:nvSpPr>
        <p:spPr>
          <a:xfrm>
            <a:off x="45720" y="2960824"/>
            <a:ext cx="566928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FR-17</a:t>
            </a:r>
          </a:p>
        </p:txBody>
      </p:sp>
      <p:sp>
        <p:nvSpPr>
          <p:cNvPr id="142" name="sp142"/>
          <p:cNvSpPr/>
          <p:nvPr/>
        </p:nvSpPr>
        <p:spPr>
          <a:xfrm>
            <a:off x="640080" y="2960824"/>
            <a:ext cx="19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Order Success</a:t>
            </a:r>
          </a:p>
        </p:txBody>
      </p:sp>
      <p:sp>
        <p:nvSpPr>
          <p:cNvPr id="143" name="sp143"/>
          <p:cNvSpPr/>
          <p:nvPr/>
        </p:nvSpPr>
        <p:spPr>
          <a:xfrm>
            <a:off x="2600000" y="2960824"/>
            <a:ext cx="25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20" b="0" dirty="0">
                <a:solidFill>
                  <a:srgbClr val="455A64"/>
                </a:solidFill>
                <a:latin typeface="Arial" pitchFamily="34" charset="0"/>
              </a:rPr>
              <a:t>Order confirmation page displayed</a:t>
            </a:r>
          </a:p>
        </p:txBody>
      </p:sp>
      <p:sp>
        <p:nvSpPr>
          <p:cNvPr id="144" name="sp144"/>
          <p:cNvSpPr/>
          <p:nvPr/>
        </p:nvSpPr>
        <p:spPr>
          <a:xfrm>
            <a:off x="5200000" y="2960824"/>
            <a:ext cx="13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OrderSuccess</a:t>
            </a:r>
          </a:p>
        </p:txBody>
      </p:sp>
      <p:sp>
        <p:nvSpPr>
          <p:cNvPr id="145" name="rect145"/>
          <p:cNvSpPr/>
          <p:nvPr/>
        </p:nvSpPr>
        <p:spPr>
          <a:xfrm>
            <a:off x="6590856" y="2966824"/>
            <a:ext cx="2118288" cy="11418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46" name="sp146"/>
          <p:cNvSpPr/>
          <p:nvPr/>
        </p:nvSpPr>
        <p:spPr>
          <a:xfrm>
            <a:off x="6600000" y="2960824"/>
            <a:ext cx="21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Complete</a:t>
            </a:r>
          </a:p>
        </p:txBody>
      </p:sp>
      <p:sp>
        <p:nvSpPr>
          <p:cNvPr id="147" name="rect147"/>
          <p:cNvSpPr/>
          <p:nvPr/>
        </p:nvSpPr>
        <p:spPr>
          <a:xfrm>
            <a:off x="0" y="3087011"/>
            <a:ext cx="9144000" cy="126187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48" name="rect148"/>
          <p:cNvSpPr/>
          <p:nvPr/>
        </p:nvSpPr>
        <p:spPr>
          <a:xfrm>
            <a:off x="36576" y="3093011"/>
            <a:ext cx="585216" cy="114187"/>
          </a:xfrm>
          <a:prstGeom prst="rect">
            <a:avLst/>
          </a:prstGeom>
          <a:solidFill>
            <a:srgbClr val="263238"/>
          </a:solidFill>
          <a:ln/>
        </p:spPr>
      </p:sp>
      <p:sp>
        <p:nvSpPr>
          <p:cNvPr id="149" name="sp149"/>
          <p:cNvSpPr/>
          <p:nvPr/>
        </p:nvSpPr>
        <p:spPr>
          <a:xfrm>
            <a:off x="45720" y="3087011"/>
            <a:ext cx="566928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FR-18</a:t>
            </a:r>
          </a:p>
        </p:txBody>
      </p:sp>
      <p:sp>
        <p:nvSpPr>
          <p:cNvPr id="150" name="sp150"/>
          <p:cNvSpPr/>
          <p:nvPr/>
        </p:nvSpPr>
        <p:spPr>
          <a:xfrm>
            <a:off x="640080" y="3087011"/>
            <a:ext cx="19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Order History</a:t>
            </a:r>
          </a:p>
        </p:txBody>
      </p:sp>
      <p:sp>
        <p:nvSpPr>
          <p:cNvPr id="151" name="sp151"/>
          <p:cNvSpPr/>
          <p:nvPr/>
        </p:nvSpPr>
        <p:spPr>
          <a:xfrm>
            <a:off x="2600000" y="3087011"/>
            <a:ext cx="25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20" b="0" dirty="0">
                <a:solidFill>
                  <a:srgbClr val="455A64"/>
                </a:solidFill>
                <a:latin typeface="Arial" pitchFamily="34" charset="0"/>
              </a:rPr>
              <a:t>User can view previous orders</a:t>
            </a:r>
          </a:p>
        </p:txBody>
      </p:sp>
      <p:sp>
        <p:nvSpPr>
          <p:cNvPr id="152" name="sp152"/>
          <p:cNvSpPr/>
          <p:nvPr/>
        </p:nvSpPr>
        <p:spPr>
          <a:xfrm>
            <a:off x="5200000" y="3087011"/>
            <a:ext cx="13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Orders</a:t>
            </a:r>
          </a:p>
        </p:txBody>
      </p:sp>
      <p:sp>
        <p:nvSpPr>
          <p:cNvPr id="153" name="rect153"/>
          <p:cNvSpPr/>
          <p:nvPr/>
        </p:nvSpPr>
        <p:spPr>
          <a:xfrm>
            <a:off x="6590856" y="3093011"/>
            <a:ext cx="2118288" cy="11418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4" name="sp154"/>
          <p:cNvSpPr/>
          <p:nvPr/>
        </p:nvSpPr>
        <p:spPr>
          <a:xfrm>
            <a:off x="6600000" y="3087011"/>
            <a:ext cx="21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Complete</a:t>
            </a:r>
          </a:p>
        </p:txBody>
      </p:sp>
      <p:sp>
        <p:nvSpPr>
          <p:cNvPr id="155" name="rect155"/>
          <p:cNvSpPr/>
          <p:nvPr/>
        </p:nvSpPr>
        <p:spPr>
          <a:xfrm>
            <a:off x="0" y="3213198"/>
            <a:ext cx="9144000" cy="126187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56" name="rect156"/>
          <p:cNvSpPr/>
          <p:nvPr/>
        </p:nvSpPr>
        <p:spPr>
          <a:xfrm>
            <a:off x="36576" y="3219198"/>
            <a:ext cx="585216" cy="114187"/>
          </a:xfrm>
          <a:prstGeom prst="rect">
            <a:avLst/>
          </a:prstGeom>
          <a:solidFill>
            <a:srgbClr val="880E4F"/>
          </a:solidFill>
          <a:ln/>
        </p:spPr>
      </p:sp>
      <p:sp>
        <p:nvSpPr>
          <p:cNvPr id="157" name="sp157"/>
          <p:cNvSpPr/>
          <p:nvPr/>
        </p:nvSpPr>
        <p:spPr>
          <a:xfrm>
            <a:off x="45720" y="3213198"/>
            <a:ext cx="566928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FR-19</a:t>
            </a:r>
          </a:p>
        </p:txBody>
      </p:sp>
      <p:sp>
        <p:nvSpPr>
          <p:cNvPr id="158" name="sp158"/>
          <p:cNvSpPr/>
          <p:nvPr/>
        </p:nvSpPr>
        <p:spPr>
          <a:xfrm>
            <a:off x="640080" y="3213198"/>
            <a:ext cx="19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Admin Dashboard</a:t>
            </a:r>
          </a:p>
        </p:txBody>
      </p:sp>
      <p:sp>
        <p:nvSpPr>
          <p:cNvPr id="159" name="sp159"/>
          <p:cNvSpPr/>
          <p:nvPr/>
        </p:nvSpPr>
        <p:spPr>
          <a:xfrm>
            <a:off x="2600000" y="3213198"/>
            <a:ext cx="25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20" b="0" dirty="0">
                <a:solidFill>
                  <a:srgbClr val="455A64"/>
                </a:solidFill>
                <a:latin typeface="Arial" pitchFamily="34" charset="0"/>
              </a:rPr>
              <a:t>Admin page available</a:t>
            </a:r>
          </a:p>
        </p:txBody>
      </p:sp>
      <p:sp>
        <p:nvSpPr>
          <p:cNvPr id="160" name="sp160"/>
          <p:cNvSpPr/>
          <p:nvPr/>
        </p:nvSpPr>
        <p:spPr>
          <a:xfrm>
            <a:off x="5200000" y="3213198"/>
            <a:ext cx="13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Admin</a:t>
            </a:r>
          </a:p>
        </p:txBody>
      </p:sp>
      <p:sp>
        <p:nvSpPr>
          <p:cNvPr id="161" name="rect161"/>
          <p:cNvSpPr/>
          <p:nvPr/>
        </p:nvSpPr>
        <p:spPr>
          <a:xfrm>
            <a:off x="6590856" y="3219198"/>
            <a:ext cx="2118288" cy="11418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62" name="sp162"/>
          <p:cNvSpPr/>
          <p:nvPr/>
        </p:nvSpPr>
        <p:spPr>
          <a:xfrm>
            <a:off x="6600000" y="3213198"/>
            <a:ext cx="21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Complete</a:t>
            </a:r>
          </a:p>
        </p:txBody>
      </p:sp>
      <p:sp>
        <p:nvSpPr>
          <p:cNvPr id="163" name="rect163"/>
          <p:cNvSpPr/>
          <p:nvPr/>
        </p:nvSpPr>
        <p:spPr>
          <a:xfrm>
            <a:off x="0" y="3339385"/>
            <a:ext cx="9144000" cy="126187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4" name="rect164"/>
          <p:cNvSpPr/>
          <p:nvPr/>
        </p:nvSpPr>
        <p:spPr>
          <a:xfrm>
            <a:off x="36576" y="3345385"/>
            <a:ext cx="585216" cy="114187"/>
          </a:xfrm>
          <a:prstGeom prst="rect">
            <a:avLst/>
          </a:prstGeom>
          <a:solidFill>
            <a:srgbClr val="33691E"/>
          </a:solidFill>
          <a:ln/>
        </p:spPr>
      </p:sp>
      <p:sp>
        <p:nvSpPr>
          <p:cNvPr id="165" name="sp165"/>
          <p:cNvSpPr/>
          <p:nvPr/>
        </p:nvSpPr>
        <p:spPr>
          <a:xfrm>
            <a:off x="45720" y="3339385"/>
            <a:ext cx="566928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FR-20</a:t>
            </a:r>
          </a:p>
        </p:txBody>
      </p:sp>
      <p:sp>
        <p:nvSpPr>
          <p:cNvPr id="166" name="sp166"/>
          <p:cNvSpPr/>
          <p:nvPr/>
        </p:nvSpPr>
        <p:spPr>
          <a:xfrm>
            <a:off x="640080" y="3339385"/>
            <a:ext cx="19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Add Food</a:t>
            </a:r>
          </a:p>
        </p:txBody>
      </p:sp>
      <p:sp>
        <p:nvSpPr>
          <p:cNvPr id="167" name="sp167"/>
          <p:cNvSpPr/>
          <p:nvPr/>
        </p:nvSpPr>
        <p:spPr>
          <a:xfrm>
            <a:off x="2600000" y="3339385"/>
            <a:ext cx="25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20" b="0" dirty="0">
                <a:solidFill>
                  <a:srgbClr val="455A64"/>
                </a:solidFill>
                <a:latin typeface="Arial" pitchFamily="34" charset="0"/>
              </a:rPr>
              <a:t>Admin can add food items</a:t>
            </a:r>
          </a:p>
        </p:txBody>
      </p:sp>
      <p:sp>
        <p:nvSpPr>
          <p:cNvPr id="168" name="sp168"/>
          <p:cNvSpPr/>
          <p:nvPr/>
        </p:nvSpPr>
        <p:spPr>
          <a:xfrm>
            <a:off x="5200000" y="3339385"/>
            <a:ext cx="13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Admin</a:t>
            </a:r>
          </a:p>
        </p:txBody>
      </p:sp>
      <p:sp>
        <p:nvSpPr>
          <p:cNvPr id="169" name="rect169"/>
          <p:cNvSpPr/>
          <p:nvPr/>
        </p:nvSpPr>
        <p:spPr>
          <a:xfrm>
            <a:off x="6590856" y="3345385"/>
            <a:ext cx="2118288" cy="11418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70" name="sp170"/>
          <p:cNvSpPr/>
          <p:nvPr/>
        </p:nvSpPr>
        <p:spPr>
          <a:xfrm>
            <a:off x="6600000" y="3339385"/>
            <a:ext cx="21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Complete</a:t>
            </a:r>
          </a:p>
        </p:txBody>
      </p:sp>
      <p:sp>
        <p:nvSpPr>
          <p:cNvPr id="171" name="rect171"/>
          <p:cNvSpPr/>
          <p:nvPr/>
        </p:nvSpPr>
        <p:spPr>
          <a:xfrm>
            <a:off x="0" y="5404104"/>
            <a:ext cx="9144000" cy="1371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72" name="rect172"/>
          <p:cNvSpPr/>
          <p:nvPr/>
        </p:nvSpPr>
        <p:spPr>
          <a:xfrm>
            <a:off x="228600" y="5422392"/>
            <a:ext cx="91440" cy="10058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73" name="sp173"/>
          <p:cNvSpPr/>
          <p:nvPr/>
        </p:nvSpPr>
        <p:spPr>
          <a:xfrm>
            <a:off x="342900" y="5404104"/>
            <a:ext cx="685800" cy="137160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FFFFFF"/>
                </a:solidFill>
                <a:latin typeface="Arial" pitchFamily="34" charset="0"/>
              </a:rPr>
              <a:t>Complete</a:t>
            </a:r>
          </a:p>
        </p:txBody>
      </p:sp>
      <p:sp>
        <p:nvSpPr>
          <p:cNvPr id="174" name="rect174"/>
          <p:cNvSpPr/>
          <p:nvPr/>
        </p:nvSpPr>
        <p:spPr>
          <a:xfrm>
            <a:off x="1143000" y="5422392"/>
            <a:ext cx="91440" cy="100584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175" name="sp175"/>
          <p:cNvSpPr/>
          <p:nvPr/>
        </p:nvSpPr>
        <p:spPr>
          <a:xfrm>
            <a:off x="1257300" y="5404104"/>
            <a:ext cx="685800" cy="137160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FFFFFF"/>
                </a:solidFill>
                <a:latin typeface="Arial" pitchFamily="34" charset="0"/>
              </a:rPr>
              <a:t>Partial</a:t>
            </a:r>
          </a:p>
        </p:txBody>
      </p:sp>
      <p:sp>
        <p:nvSpPr>
          <p:cNvPr id="176" name="rect176"/>
          <p:cNvSpPr/>
          <p:nvPr/>
        </p:nvSpPr>
        <p:spPr>
          <a:xfrm>
            <a:off x="2057400" y="5422392"/>
            <a:ext cx="91440" cy="10058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77" name="sp177"/>
          <p:cNvSpPr/>
          <p:nvPr/>
        </p:nvSpPr>
        <p:spPr>
          <a:xfrm>
            <a:off x="2171700" y="5404104"/>
            <a:ext cx="685800" cy="137160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FFFFFF"/>
                </a:solidFill>
                <a:latin typeface="Arial" pitchFamily="34" charset="0"/>
              </a:rPr>
              <a:t>Planned</a:t>
            </a:r>
          </a:p>
        </p:txBody>
      </p:sp>
      <p:sp>
        <p:nvSpPr>
          <p:cNvPr id="178" name="sp178"/>
          <p:cNvSpPr/>
          <p:nvPr/>
        </p:nvSpPr>
        <p:spPr>
          <a:xfrm>
            <a:off x="6858000" y="5404104"/>
            <a:ext cx="2194560" cy="137160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FC107"/>
                </a:solidFill>
                <a:latin typeface="Arial" pitchFamily="34" charset="0"/>
              </a:rPr>
              <a:t>Total: 37 Requirements</a:t>
            </a:r>
          </a:p>
        </p:txBody>
      </p:sp>
      <p:sp>
        <p:nvSpPr>
          <p:cNvPr id="179" name="rect179"/>
          <p:cNvSpPr/>
          <p:nvPr/>
        </p:nvSpPr>
        <p:spPr>
          <a:xfrm>
            <a:off x="630936" y="667512"/>
            <a:ext cx="9144" cy="469087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80" name="rect180"/>
          <p:cNvSpPr/>
          <p:nvPr/>
        </p:nvSpPr>
        <p:spPr>
          <a:xfrm>
            <a:off x="2590856" y="667512"/>
            <a:ext cx="9144" cy="469087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81" name="rect181"/>
          <p:cNvSpPr/>
          <p:nvPr/>
        </p:nvSpPr>
        <p:spPr>
          <a:xfrm>
            <a:off x="5190856" y="667512"/>
            <a:ext cx="9144" cy="469087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82" name="rect182"/>
          <p:cNvSpPr/>
          <p:nvPr/>
        </p:nvSpPr>
        <p:spPr>
          <a:xfrm>
            <a:off x="6590856" y="667512"/>
            <a:ext cx="9144" cy="4690872"/>
          </a:xfrm>
          <a:prstGeom prst="rect">
            <a:avLst/>
          </a:prstGeom>
          <a:solidFill>
            <a:srgbClr val="DDDDDD"/>
          </a:solidFill>
          <a:ln/>
        </p:spPr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sp3"/>
          <p:cNvSpPr/>
          <p:nvPr/>
        </p:nvSpPr>
        <p:spPr>
          <a:xfrm>
            <a:off x="228600" y="0"/>
            <a:ext cx="6858000" cy="658368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</a:rPr>
              <a:t>REQUIREMENTS TRACEABILITY MATRIX (RTM)</a:t>
            </a:r>
          </a:p>
        </p:txBody>
      </p:sp>
      <p:sp>
        <p:nvSpPr>
          <p:cNvPr id="4" name="sp4"/>
          <p:cNvSpPr/>
          <p:nvPr/>
        </p:nvSpPr>
        <p:spPr>
          <a:xfrm>
            <a:off x="6858000" y="0"/>
            <a:ext cx="2194560" cy="658368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r">
              <a:buNone/>
            </a:pPr>
            <a:r>
              <a:rPr lang="en-US" sz="800" b="0" dirty="0">
                <a:solidFill>
                  <a:srgbClr val="FFC107"/>
                </a:solidFill>
                <a:latin typeface="Arial" pitchFamily="34" charset="0"/>
              </a:rPr>
              <a:t>FOODIE  ·  Part 2 of 2  —  FR-21 to FR-30 + NFR</a:t>
            </a:r>
          </a:p>
        </p:txBody>
      </p:sp>
      <p:sp>
        <p:nvSpPr>
          <p:cNvPr id="5" name="rect5"/>
          <p:cNvSpPr/>
          <p:nvPr/>
        </p:nvSpPr>
        <p:spPr>
          <a:xfrm>
            <a:off x="0" y="667512"/>
            <a:ext cx="9144000" cy="274320"/>
          </a:xfrm>
          <a:prstGeom prst="rect">
            <a:avLst/>
          </a:prstGeom>
          <a:solidFill>
            <a:srgbClr val="2E2E2E"/>
          </a:solidFill>
          <a:ln/>
        </p:spPr>
      </p:sp>
      <p:sp>
        <p:nvSpPr>
          <p:cNvPr id="6" name="sp6"/>
          <p:cNvSpPr/>
          <p:nvPr/>
        </p:nvSpPr>
        <p:spPr>
          <a:xfrm>
            <a:off x="45720" y="667512"/>
            <a:ext cx="566928" cy="274320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</a:rPr>
              <a:t>Req ID</a:t>
            </a:r>
          </a:p>
        </p:txBody>
      </p:sp>
      <p:sp>
        <p:nvSpPr>
          <p:cNvPr id="7" name="sp7"/>
          <p:cNvSpPr/>
          <p:nvPr/>
        </p:nvSpPr>
        <p:spPr>
          <a:xfrm>
            <a:off x="640080" y="667512"/>
            <a:ext cx="1900000" cy="274320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</a:rPr>
              <a:t>Requirement</a:t>
            </a:r>
          </a:p>
        </p:txBody>
      </p:sp>
      <p:sp>
        <p:nvSpPr>
          <p:cNvPr id="8" name="sp8"/>
          <p:cNvSpPr/>
          <p:nvPr/>
        </p:nvSpPr>
        <p:spPr>
          <a:xfrm>
            <a:off x="2600000" y="667512"/>
            <a:ext cx="2500000" cy="274320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</a:rPr>
              <a:t>Description</a:t>
            </a:r>
          </a:p>
        </p:txBody>
      </p:sp>
      <p:sp>
        <p:nvSpPr>
          <p:cNvPr id="9" name="sp9"/>
          <p:cNvSpPr/>
          <p:nvPr/>
        </p:nvSpPr>
        <p:spPr>
          <a:xfrm>
            <a:off x="5200000" y="667512"/>
            <a:ext cx="1300000" cy="274320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</a:rPr>
              <a:t>Module/Page</a:t>
            </a:r>
          </a:p>
        </p:txBody>
      </p:sp>
      <p:sp>
        <p:nvSpPr>
          <p:cNvPr id="10" name="sp10"/>
          <p:cNvSpPr/>
          <p:nvPr/>
        </p:nvSpPr>
        <p:spPr>
          <a:xfrm>
            <a:off x="6600000" y="667512"/>
            <a:ext cx="2100000" cy="274320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</a:rPr>
              <a:t>Status</a:t>
            </a:r>
          </a:p>
        </p:txBody>
      </p:sp>
      <p:sp>
        <p:nvSpPr>
          <p:cNvPr id="11" name="rect11"/>
          <p:cNvSpPr/>
          <p:nvPr/>
        </p:nvSpPr>
        <p:spPr>
          <a:xfrm>
            <a:off x="0" y="941832"/>
            <a:ext cx="9144000" cy="126187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12" name="rect12"/>
          <p:cNvSpPr/>
          <p:nvPr/>
        </p:nvSpPr>
        <p:spPr>
          <a:xfrm>
            <a:off x="36576" y="947832"/>
            <a:ext cx="585216" cy="114187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13" name="sp13"/>
          <p:cNvSpPr/>
          <p:nvPr/>
        </p:nvSpPr>
        <p:spPr>
          <a:xfrm>
            <a:off x="45720" y="941832"/>
            <a:ext cx="566928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FR-21</a:t>
            </a:r>
          </a:p>
        </p:txBody>
      </p:sp>
      <p:sp>
        <p:nvSpPr>
          <p:cNvPr id="14" name="sp14"/>
          <p:cNvSpPr/>
          <p:nvPr/>
        </p:nvSpPr>
        <p:spPr>
          <a:xfrm>
            <a:off x="640080" y="941832"/>
            <a:ext cx="19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Edit Food</a:t>
            </a:r>
          </a:p>
        </p:txBody>
      </p:sp>
      <p:sp>
        <p:nvSpPr>
          <p:cNvPr id="15" name="sp15"/>
          <p:cNvSpPr/>
          <p:nvPr/>
        </p:nvSpPr>
        <p:spPr>
          <a:xfrm>
            <a:off x="2600000" y="941832"/>
            <a:ext cx="25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20" b="0" dirty="0">
                <a:solidFill>
                  <a:srgbClr val="455A64"/>
                </a:solidFill>
                <a:latin typeface="Arial" pitchFamily="34" charset="0"/>
              </a:rPr>
              <a:t>Admin can modify food details</a:t>
            </a:r>
          </a:p>
        </p:txBody>
      </p:sp>
      <p:sp>
        <p:nvSpPr>
          <p:cNvPr id="16" name="sp16"/>
          <p:cNvSpPr/>
          <p:nvPr/>
        </p:nvSpPr>
        <p:spPr>
          <a:xfrm>
            <a:off x="5200000" y="941832"/>
            <a:ext cx="13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Admin</a:t>
            </a:r>
          </a:p>
        </p:txBody>
      </p:sp>
      <p:sp>
        <p:nvSpPr>
          <p:cNvPr id="17" name="rect17"/>
          <p:cNvSpPr/>
          <p:nvPr/>
        </p:nvSpPr>
        <p:spPr>
          <a:xfrm>
            <a:off x="6590856" y="947832"/>
            <a:ext cx="2118288" cy="11418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sp18"/>
          <p:cNvSpPr/>
          <p:nvPr/>
        </p:nvSpPr>
        <p:spPr>
          <a:xfrm>
            <a:off x="6600000" y="941832"/>
            <a:ext cx="21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Complete</a:t>
            </a:r>
          </a:p>
        </p:txBody>
      </p:sp>
      <p:sp>
        <p:nvSpPr>
          <p:cNvPr id="19" name="rect19"/>
          <p:cNvSpPr/>
          <p:nvPr/>
        </p:nvSpPr>
        <p:spPr>
          <a:xfrm>
            <a:off x="0" y="1068019"/>
            <a:ext cx="9144000" cy="126187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rect20"/>
          <p:cNvSpPr/>
          <p:nvPr/>
        </p:nvSpPr>
        <p:spPr>
          <a:xfrm>
            <a:off x="36576" y="1074019"/>
            <a:ext cx="585216" cy="114187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sp21"/>
          <p:cNvSpPr/>
          <p:nvPr/>
        </p:nvSpPr>
        <p:spPr>
          <a:xfrm>
            <a:off x="45720" y="1068019"/>
            <a:ext cx="566928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FR-22</a:t>
            </a:r>
          </a:p>
        </p:txBody>
      </p:sp>
      <p:sp>
        <p:nvSpPr>
          <p:cNvPr id="22" name="sp22"/>
          <p:cNvSpPr/>
          <p:nvPr/>
        </p:nvSpPr>
        <p:spPr>
          <a:xfrm>
            <a:off x="640080" y="1068019"/>
            <a:ext cx="19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Delete Food</a:t>
            </a:r>
          </a:p>
        </p:txBody>
      </p:sp>
      <p:sp>
        <p:nvSpPr>
          <p:cNvPr id="23" name="sp23"/>
          <p:cNvSpPr/>
          <p:nvPr/>
        </p:nvSpPr>
        <p:spPr>
          <a:xfrm>
            <a:off x="2600000" y="1068019"/>
            <a:ext cx="25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20" b="0" dirty="0">
                <a:solidFill>
                  <a:srgbClr val="455A64"/>
                </a:solidFill>
                <a:latin typeface="Arial" pitchFamily="34" charset="0"/>
              </a:rPr>
              <a:t>Admin can remove food items</a:t>
            </a:r>
          </a:p>
        </p:txBody>
      </p:sp>
      <p:sp>
        <p:nvSpPr>
          <p:cNvPr id="24" name="sp24"/>
          <p:cNvSpPr/>
          <p:nvPr/>
        </p:nvSpPr>
        <p:spPr>
          <a:xfrm>
            <a:off x="5200000" y="1068019"/>
            <a:ext cx="13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Admin</a:t>
            </a:r>
          </a:p>
        </p:txBody>
      </p:sp>
      <p:sp>
        <p:nvSpPr>
          <p:cNvPr id="25" name="rect25"/>
          <p:cNvSpPr/>
          <p:nvPr/>
        </p:nvSpPr>
        <p:spPr>
          <a:xfrm>
            <a:off x="6590856" y="1074019"/>
            <a:ext cx="2118288" cy="11418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6" name="sp26"/>
          <p:cNvSpPr/>
          <p:nvPr/>
        </p:nvSpPr>
        <p:spPr>
          <a:xfrm>
            <a:off x="6600000" y="1068019"/>
            <a:ext cx="21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Complete</a:t>
            </a:r>
          </a:p>
        </p:txBody>
      </p:sp>
      <p:sp>
        <p:nvSpPr>
          <p:cNvPr id="27" name="rect27"/>
          <p:cNvSpPr/>
          <p:nvPr/>
        </p:nvSpPr>
        <p:spPr>
          <a:xfrm>
            <a:off x="0" y="1194206"/>
            <a:ext cx="9144000" cy="126187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28" name="rect28"/>
          <p:cNvSpPr/>
          <p:nvPr/>
        </p:nvSpPr>
        <p:spPr>
          <a:xfrm>
            <a:off x="36576" y="1200206"/>
            <a:ext cx="585216" cy="114187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9" name="sp29"/>
          <p:cNvSpPr/>
          <p:nvPr/>
        </p:nvSpPr>
        <p:spPr>
          <a:xfrm>
            <a:off x="45720" y="1194206"/>
            <a:ext cx="566928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FR-23</a:t>
            </a:r>
          </a:p>
        </p:txBody>
      </p:sp>
      <p:sp>
        <p:nvSpPr>
          <p:cNvPr id="30" name="sp30"/>
          <p:cNvSpPr/>
          <p:nvPr/>
        </p:nvSpPr>
        <p:spPr>
          <a:xfrm>
            <a:off x="640080" y="1194206"/>
            <a:ext cx="19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Food Persistence</a:t>
            </a:r>
          </a:p>
        </p:txBody>
      </p:sp>
      <p:sp>
        <p:nvSpPr>
          <p:cNvPr id="31" name="sp31"/>
          <p:cNvSpPr/>
          <p:nvPr/>
        </p:nvSpPr>
        <p:spPr>
          <a:xfrm>
            <a:off x="2600000" y="1194206"/>
            <a:ext cx="25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20" b="0" dirty="0">
                <a:solidFill>
                  <a:srgbClr val="455A64"/>
                </a:solidFill>
                <a:latin typeface="Arial" pitchFamily="34" charset="0"/>
              </a:rPr>
              <a:t>Food data saved in Local Storage</a:t>
            </a:r>
          </a:p>
        </p:txBody>
      </p:sp>
      <p:sp>
        <p:nvSpPr>
          <p:cNvPr id="32" name="sp32"/>
          <p:cNvSpPr/>
          <p:nvPr/>
        </p:nvSpPr>
        <p:spPr>
          <a:xfrm>
            <a:off x="5200000" y="1194206"/>
            <a:ext cx="13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Admin/Home</a:t>
            </a:r>
          </a:p>
        </p:txBody>
      </p:sp>
      <p:sp>
        <p:nvSpPr>
          <p:cNvPr id="33" name="rect33"/>
          <p:cNvSpPr/>
          <p:nvPr/>
        </p:nvSpPr>
        <p:spPr>
          <a:xfrm>
            <a:off x="6590856" y="1200206"/>
            <a:ext cx="2118288" cy="11418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4" name="sp34"/>
          <p:cNvSpPr/>
          <p:nvPr/>
        </p:nvSpPr>
        <p:spPr>
          <a:xfrm>
            <a:off x="6600000" y="1194206"/>
            <a:ext cx="21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Complete</a:t>
            </a:r>
          </a:p>
        </p:txBody>
      </p:sp>
      <p:sp>
        <p:nvSpPr>
          <p:cNvPr id="35" name="rect35"/>
          <p:cNvSpPr/>
          <p:nvPr/>
        </p:nvSpPr>
        <p:spPr>
          <a:xfrm>
            <a:off x="0" y="1320393"/>
            <a:ext cx="9144000" cy="126187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6" name="rect36"/>
          <p:cNvSpPr/>
          <p:nvPr/>
        </p:nvSpPr>
        <p:spPr>
          <a:xfrm>
            <a:off x="36576" y="1326393"/>
            <a:ext cx="585216" cy="114187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37" name="sp37"/>
          <p:cNvSpPr/>
          <p:nvPr/>
        </p:nvSpPr>
        <p:spPr>
          <a:xfrm>
            <a:off x="45720" y="1320393"/>
            <a:ext cx="566928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FR-24</a:t>
            </a:r>
          </a:p>
        </p:txBody>
      </p:sp>
      <p:sp>
        <p:nvSpPr>
          <p:cNvPr id="38" name="sp38"/>
          <p:cNvSpPr/>
          <p:nvPr/>
        </p:nvSpPr>
        <p:spPr>
          <a:xfrm>
            <a:off x="640080" y="1320393"/>
            <a:ext cx="19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Dynamic Food Display</a:t>
            </a:r>
          </a:p>
        </p:txBody>
      </p:sp>
      <p:sp>
        <p:nvSpPr>
          <p:cNvPr id="39" name="sp39"/>
          <p:cNvSpPr/>
          <p:nvPr/>
        </p:nvSpPr>
        <p:spPr>
          <a:xfrm>
            <a:off x="2600000" y="1320393"/>
            <a:ext cx="25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20" b="0" dirty="0">
                <a:solidFill>
                  <a:srgbClr val="455A64"/>
                </a:solidFill>
                <a:latin typeface="Arial" pitchFamily="34" charset="0"/>
              </a:rPr>
              <a:t>New foods appear automatically on Home page</a:t>
            </a:r>
          </a:p>
        </p:txBody>
      </p:sp>
      <p:sp>
        <p:nvSpPr>
          <p:cNvPr id="40" name="sp40"/>
          <p:cNvSpPr/>
          <p:nvPr/>
        </p:nvSpPr>
        <p:spPr>
          <a:xfrm>
            <a:off x="5200000" y="1320393"/>
            <a:ext cx="13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Home/Admin</a:t>
            </a:r>
          </a:p>
        </p:txBody>
      </p:sp>
      <p:sp>
        <p:nvSpPr>
          <p:cNvPr id="41" name="rect41"/>
          <p:cNvSpPr/>
          <p:nvPr/>
        </p:nvSpPr>
        <p:spPr>
          <a:xfrm>
            <a:off x="6590856" y="1326393"/>
            <a:ext cx="2118288" cy="11418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2" name="sp42"/>
          <p:cNvSpPr/>
          <p:nvPr/>
        </p:nvSpPr>
        <p:spPr>
          <a:xfrm>
            <a:off x="6600000" y="1320393"/>
            <a:ext cx="21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Complete</a:t>
            </a:r>
          </a:p>
        </p:txBody>
      </p:sp>
      <p:sp>
        <p:nvSpPr>
          <p:cNvPr id="43" name="rect43"/>
          <p:cNvSpPr/>
          <p:nvPr/>
        </p:nvSpPr>
        <p:spPr>
          <a:xfrm>
            <a:off x="0" y="1446580"/>
            <a:ext cx="9144000" cy="126187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44" name="rect44"/>
          <p:cNvSpPr/>
          <p:nvPr/>
        </p:nvSpPr>
        <p:spPr>
          <a:xfrm>
            <a:off x="36576" y="1452580"/>
            <a:ext cx="585216" cy="114187"/>
          </a:xfrm>
          <a:prstGeom prst="rect">
            <a:avLst/>
          </a:prstGeom>
          <a:solidFill>
            <a:srgbClr val="4A148C"/>
          </a:solidFill>
          <a:ln/>
        </p:spPr>
      </p:sp>
      <p:sp>
        <p:nvSpPr>
          <p:cNvPr id="45" name="sp45"/>
          <p:cNvSpPr/>
          <p:nvPr/>
        </p:nvSpPr>
        <p:spPr>
          <a:xfrm>
            <a:off x="45720" y="1446580"/>
            <a:ext cx="566928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FR-25</a:t>
            </a:r>
          </a:p>
        </p:txBody>
      </p:sp>
      <p:sp>
        <p:nvSpPr>
          <p:cNvPr id="46" name="sp46"/>
          <p:cNvSpPr/>
          <p:nvPr/>
        </p:nvSpPr>
        <p:spPr>
          <a:xfrm>
            <a:off x="640080" y="1446580"/>
            <a:ext cx="19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Restaurant Browsing</a:t>
            </a:r>
          </a:p>
        </p:txBody>
      </p:sp>
      <p:sp>
        <p:nvSpPr>
          <p:cNvPr id="47" name="sp47"/>
          <p:cNvSpPr/>
          <p:nvPr/>
        </p:nvSpPr>
        <p:spPr>
          <a:xfrm>
            <a:off x="2600000" y="1446580"/>
            <a:ext cx="25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20" b="0" dirty="0">
                <a:solidFill>
                  <a:srgbClr val="455A64"/>
                </a:solidFill>
                <a:latin typeface="Arial" pitchFamily="34" charset="0"/>
              </a:rPr>
              <a:t>User can browse restaurants</a:t>
            </a:r>
          </a:p>
        </p:txBody>
      </p:sp>
      <p:sp>
        <p:nvSpPr>
          <p:cNvPr id="48" name="sp48"/>
          <p:cNvSpPr/>
          <p:nvPr/>
        </p:nvSpPr>
        <p:spPr>
          <a:xfrm>
            <a:off x="5200000" y="1446580"/>
            <a:ext cx="13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Home</a:t>
            </a:r>
          </a:p>
        </p:txBody>
      </p:sp>
      <p:sp>
        <p:nvSpPr>
          <p:cNvPr id="49" name="rect49"/>
          <p:cNvSpPr/>
          <p:nvPr/>
        </p:nvSpPr>
        <p:spPr>
          <a:xfrm>
            <a:off x="6590856" y="1452580"/>
            <a:ext cx="2118288" cy="11418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50" name="sp50"/>
          <p:cNvSpPr/>
          <p:nvPr/>
        </p:nvSpPr>
        <p:spPr>
          <a:xfrm>
            <a:off x="6600000" y="1446580"/>
            <a:ext cx="21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Complete</a:t>
            </a:r>
          </a:p>
        </p:txBody>
      </p:sp>
      <p:sp>
        <p:nvSpPr>
          <p:cNvPr id="51" name="rect51"/>
          <p:cNvSpPr/>
          <p:nvPr/>
        </p:nvSpPr>
        <p:spPr>
          <a:xfrm>
            <a:off x="0" y="1572767"/>
            <a:ext cx="9144000" cy="126187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2" name="rect52"/>
          <p:cNvSpPr/>
          <p:nvPr/>
        </p:nvSpPr>
        <p:spPr>
          <a:xfrm>
            <a:off x="36576" y="1578767"/>
            <a:ext cx="585216" cy="114187"/>
          </a:xfrm>
          <a:prstGeom prst="rect">
            <a:avLst/>
          </a:prstGeom>
          <a:solidFill>
            <a:srgbClr val="006064"/>
          </a:solidFill>
          <a:ln/>
        </p:spPr>
      </p:sp>
      <p:sp>
        <p:nvSpPr>
          <p:cNvPr id="53" name="sp53"/>
          <p:cNvSpPr/>
          <p:nvPr/>
        </p:nvSpPr>
        <p:spPr>
          <a:xfrm>
            <a:off x="45720" y="1572767"/>
            <a:ext cx="566928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FR-26</a:t>
            </a:r>
          </a:p>
        </p:txBody>
      </p:sp>
      <p:sp>
        <p:nvSpPr>
          <p:cNvPr id="54" name="sp54"/>
          <p:cNvSpPr/>
          <p:nvPr/>
        </p:nvSpPr>
        <p:spPr>
          <a:xfrm>
            <a:off x="640080" y="1572767"/>
            <a:ext cx="19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Delivery Services</a:t>
            </a:r>
          </a:p>
        </p:txBody>
      </p:sp>
      <p:sp>
        <p:nvSpPr>
          <p:cNvPr id="55" name="sp55"/>
          <p:cNvSpPr/>
          <p:nvPr/>
        </p:nvSpPr>
        <p:spPr>
          <a:xfrm>
            <a:off x="2600000" y="1572767"/>
            <a:ext cx="25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20" b="0" dirty="0">
                <a:solidFill>
                  <a:srgbClr val="455A64"/>
                </a:solidFill>
                <a:latin typeface="Arial" pitchFamily="34" charset="0"/>
              </a:rPr>
              <a:t>User can view delivery services</a:t>
            </a:r>
          </a:p>
        </p:txBody>
      </p:sp>
      <p:sp>
        <p:nvSpPr>
          <p:cNvPr id="56" name="sp56"/>
          <p:cNvSpPr/>
          <p:nvPr/>
        </p:nvSpPr>
        <p:spPr>
          <a:xfrm>
            <a:off x="5200000" y="1572767"/>
            <a:ext cx="13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Home</a:t>
            </a:r>
          </a:p>
        </p:txBody>
      </p:sp>
      <p:sp>
        <p:nvSpPr>
          <p:cNvPr id="57" name="rect57"/>
          <p:cNvSpPr/>
          <p:nvPr/>
        </p:nvSpPr>
        <p:spPr>
          <a:xfrm>
            <a:off x="6590856" y="1578767"/>
            <a:ext cx="2118288" cy="11418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58" name="sp58"/>
          <p:cNvSpPr/>
          <p:nvPr/>
        </p:nvSpPr>
        <p:spPr>
          <a:xfrm>
            <a:off x="6600000" y="1572767"/>
            <a:ext cx="21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Complete</a:t>
            </a:r>
          </a:p>
        </p:txBody>
      </p:sp>
      <p:sp>
        <p:nvSpPr>
          <p:cNvPr id="59" name="rect59"/>
          <p:cNvSpPr/>
          <p:nvPr/>
        </p:nvSpPr>
        <p:spPr>
          <a:xfrm>
            <a:off x="0" y="1698954"/>
            <a:ext cx="9144000" cy="126187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60" name="rect60"/>
          <p:cNvSpPr/>
          <p:nvPr/>
        </p:nvSpPr>
        <p:spPr>
          <a:xfrm>
            <a:off x="36576" y="1704954"/>
            <a:ext cx="585216" cy="114187"/>
          </a:xfrm>
          <a:prstGeom prst="rect">
            <a:avLst/>
          </a:prstGeom>
          <a:solidFill>
            <a:srgbClr val="4E342E"/>
          </a:solidFill>
          <a:ln/>
        </p:spPr>
      </p:sp>
      <p:sp>
        <p:nvSpPr>
          <p:cNvPr id="61" name="sp61"/>
          <p:cNvSpPr/>
          <p:nvPr/>
        </p:nvSpPr>
        <p:spPr>
          <a:xfrm>
            <a:off x="45720" y="1698954"/>
            <a:ext cx="566928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FR-27</a:t>
            </a:r>
          </a:p>
        </p:txBody>
      </p:sp>
      <p:sp>
        <p:nvSpPr>
          <p:cNvPr id="62" name="sp62"/>
          <p:cNvSpPr/>
          <p:nvPr/>
        </p:nvSpPr>
        <p:spPr>
          <a:xfrm>
            <a:off x="640080" y="1698954"/>
            <a:ext cx="19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Delivery Partners</a:t>
            </a:r>
          </a:p>
        </p:txBody>
      </p:sp>
      <p:sp>
        <p:nvSpPr>
          <p:cNvPr id="63" name="sp63"/>
          <p:cNvSpPr/>
          <p:nvPr/>
        </p:nvSpPr>
        <p:spPr>
          <a:xfrm>
            <a:off x="2600000" y="1698954"/>
            <a:ext cx="25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20" b="0" dirty="0">
                <a:solidFill>
                  <a:srgbClr val="455A64"/>
                </a:solidFill>
                <a:latin typeface="Arial" pitchFamily="34" charset="0"/>
              </a:rPr>
              <a:t>User can view delivery network information</a:t>
            </a:r>
          </a:p>
        </p:txBody>
      </p:sp>
      <p:sp>
        <p:nvSpPr>
          <p:cNvPr id="64" name="sp64"/>
          <p:cNvSpPr/>
          <p:nvPr/>
        </p:nvSpPr>
        <p:spPr>
          <a:xfrm>
            <a:off x="5200000" y="1698954"/>
            <a:ext cx="13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Home</a:t>
            </a:r>
          </a:p>
        </p:txBody>
      </p:sp>
      <p:sp>
        <p:nvSpPr>
          <p:cNvPr id="65" name="rect65"/>
          <p:cNvSpPr/>
          <p:nvPr/>
        </p:nvSpPr>
        <p:spPr>
          <a:xfrm>
            <a:off x="6590856" y="1704954"/>
            <a:ext cx="2118288" cy="11418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6" name="sp66"/>
          <p:cNvSpPr/>
          <p:nvPr/>
        </p:nvSpPr>
        <p:spPr>
          <a:xfrm>
            <a:off x="6600000" y="1698954"/>
            <a:ext cx="21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Complete</a:t>
            </a:r>
          </a:p>
        </p:txBody>
      </p:sp>
      <p:sp>
        <p:nvSpPr>
          <p:cNvPr id="67" name="rect67"/>
          <p:cNvSpPr/>
          <p:nvPr/>
        </p:nvSpPr>
        <p:spPr>
          <a:xfrm>
            <a:off x="0" y="1825141"/>
            <a:ext cx="9144000" cy="126187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8" name="rect68"/>
          <p:cNvSpPr/>
          <p:nvPr/>
        </p:nvSpPr>
        <p:spPr>
          <a:xfrm>
            <a:off x="36576" y="1831141"/>
            <a:ext cx="585216" cy="114187"/>
          </a:xfrm>
          <a:prstGeom prst="rect">
            <a:avLst/>
          </a:prstGeom>
          <a:solidFill>
            <a:srgbClr val="263238"/>
          </a:solidFill>
          <a:ln/>
        </p:spPr>
      </p:sp>
      <p:sp>
        <p:nvSpPr>
          <p:cNvPr id="69" name="sp69"/>
          <p:cNvSpPr/>
          <p:nvPr/>
        </p:nvSpPr>
        <p:spPr>
          <a:xfrm>
            <a:off x="45720" y="1825141"/>
            <a:ext cx="566928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FR-28</a:t>
            </a:r>
          </a:p>
        </p:txBody>
      </p:sp>
      <p:sp>
        <p:nvSpPr>
          <p:cNvPr id="70" name="sp70"/>
          <p:cNvSpPr/>
          <p:nvPr/>
        </p:nvSpPr>
        <p:spPr>
          <a:xfrm>
            <a:off x="640080" y="1825141"/>
            <a:ext cx="19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Special Offers</a:t>
            </a:r>
          </a:p>
        </p:txBody>
      </p:sp>
      <p:sp>
        <p:nvSpPr>
          <p:cNvPr id="71" name="sp71"/>
          <p:cNvSpPr/>
          <p:nvPr/>
        </p:nvSpPr>
        <p:spPr>
          <a:xfrm>
            <a:off x="2600000" y="1825141"/>
            <a:ext cx="25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20" b="0" dirty="0">
                <a:solidFill>
                  <a:srgbClr val="455A64"/>
                </a:solidFill>
                <a:latin typeface="Arial" pitchFamily="34" charset="0"/>
              </a:rPr>
              <a:t>User can view promotional offers</a:t>
            </a:r>
          </a:p>
        </p:txBody>
      </p:sp>
      <p:sp>
        <p:nvSpPr>
          <p:cNvPr id="72" name="sp72"/>
          <p:cNvSpPr/>
          <p:nvPr/>
        </p:nvSpPr>
        <p:spPr>
          <a:xfrm>
            <a:off x="5200000" y="1825141"/>
            <a:ext cx="13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Home</a:t>
            </a:r>
          </a:p>
        </p:txBody>
      </p:sp>
      <p:sp>
        <p:nvSpPr>
          <p:cNvPr id="73" name="rect73"/>
          <p:cNvSpPr/>
          <p:nvPr/>
        </p:nvSpPr>
        <p:spPr>
          <a:xfrm>
            <a:off x="6590856" y="1831141"/>
            <a:ext cx="2118288" cy="11418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4" name="sp74"/>
          <p:cNvSpPr/>
          <p:nvPr/>
        </p:nvSpPr>
        <p:spPr>
          <a:xfrm>
            <a:off x="6600000" y="1825141"/>
            <a:ext cx="21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Complete</a:t>
            </a:r>
          </a:p>
        </p:txBody>
      </p:sp>
      <p:sp>
        <p:nvSpPr>
          <p:cNvPr id="75" name="rect75"/>
          <p:cNvSpPr/>
          <p:nvPr/>
        </p:nvSpPr>
        <p:spPr>
          <a:xfrm>
            <a:off x="0" y="1951328"/>
            <a:ext cx="9144000" cy="126187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6" name="rect76"/>
          <p:cNvSpPr/>
          <p:nvPr/>
        </p:nvSpPr>
        <p:spPr>
          <a:xfrm>
            <a:off x="36576" y="1957328"/>
            <a:ext cx="585216" cy="114187"/>
          </a:xfrm>
          <a:prstGeom prst="rect">
            <a:avLst/>
          </a:prstGeom>
          <a:solidFill>
            <a:srgbClr val="880E4F"/>
          </a:solidFill>
          <a:ln/>
        </p:spPr>
      </p:sp>
      <p:sp>
        <p:nvSpPr>
          <p:cNvPr id="77" name="sp77"/>
          <p:cNvSpPr/>
          <p:nvPr/>
        </p:nvSpPr>
        <p:spPr>
          <a:xfrm>
            <a:off x="45720" y="1951328"/>
            <a:ext cx="566928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FR-29</a:t>
            </a:r>
          </a:p>
        </p:txBody>
      </p:sp>
      <p:sp>
        <p:nvSpPr>
          <p:cNvPr id="78" name="sp78"/>
          <p:cNvSpPr/>
          <p:nvPr/>
        </p:nvSpPr>
        <p:spPr>
          <a:xfrm>
            <a:off x="640080" y="1951328"/>
            <a:ext cx="19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Customer Reviews</a:t>
            </a:r>
          </a:p>
        </p:txBody>
      </p:sp>
      <p:sp>
        <p:nvSpPr>
          <p:cNvPr id="79" name="sp79"/>
          <p:cNvSpPr/>
          <p:nvPr/>
        </p:nvSpPr>
        <p:spPr>
          <a:xfrm>
            <a:off x="2600000" y="1951328"/>
            <a:ext cx="25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20" b="0" dirty="0">
                <a:solidFill>
                  <a:srgbClr val="455A64"/>
                </a:solidFill>
                <a:latin typeface="Arial" pitchFamily="34" charset="0"/>
              </a:rPr>
              <a:t>User can view testimonials</a:t>
            </a:r>
          </a:p>
        </p:txBody>
      </p:sp>
      <p:sp>
        <p:nvSpPr>
          <p:cNvPr id="80" name="sp80"/>
          <p:cNvSpPr/>
          <p:nvPr/>
        </p:nvSpPr>
        <p:spPr>
          <a:xfrm>
            <a:off x="5200000" y="1951328"/>
            <a:ext cx="13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Home</a:t>
            </a:r>
          </a:p>
        </p:txBody>
      </p:sp>
      <p:sp>
        <p:nvSpPr>
          <p:cNvPr id="81" name="rect81"/>
          <p:cNvSpPr/>
          <p:nvPr/>
        </p:nvSpPr>
        <p:spPr>
          <a:xfrm>
            <a:off x="6590856" y="1957328"/>
            <a:ext cx="2118288" cy="11418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82" name="sp82"/>
          <p:cNvSpPr/>
          <p:nvPr/>
        </p:nvSpPr>
        <p:spPr>
          <a:xfrm>
            <a:off x="6600000" y="1951328"/>
            <a:ext cx="21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Complete</a:t>
            </a:r>
          </a:p>
        </p:txBody>
      </p:sp>
      <p:sp>
        <p:nvSpPr>
          <p:cNvPr id="83" name="rect83"/>
          <p:cNvSpPr/>
          <p:nvPr/>
        </p:nvSpPr>
        <p:spPr>
          <a:xfrm>
            <a:off x="0" y="2077515"/>
            <a:ext cx="9144000" cy="126187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84" name="rect84"/>
          <p:cNvSpPr/>
          <p:nvPr/>
        </p:nvSpPr>
        <p:spPr>
          <a:xfrm>
            <a:off x="36576" y="2083515"/>
            <a:ext cx="585216" cy="114187"/>
          </a:xfrm>
          <a:prstGeom prst="rect">
            <a:avLst/>
          </a:prstGeom>
          <a:solidFill>
            <a:srgbClr val="33691E"/>
          </a:solidFill>
          <a:ln/>
        </p:spPr>
      </p:sp>
      <p:sp>
        <p:nvSpPr>
          <p:cNvPr id="85" name="sp85"/>
          <p:cNvSpPr/>
          <p:nvPr/>
        </p:nvSpPr>
        <p:spPr>
          <a:xfrm>
            <a:off x="45720" y="2077515"/>
            <a:ext cx="566928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FR-30</a:t>
            </a:r>
          </a:p>
        </p:txBody>
      </p:sp>
      <p:sp>
        <p:nvSpPr>
          <p:cNvPr id="86" name="sp86"/>
          <p:cNvSpPr/>
          <p:nvPr/>
        </p:nvSpPr>
        <p:spPr>
          <a:xfrm>
            <a:off x="640080" y="2077515"/>
            <a:ext cx="19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Responsive Design</a:t>
            </a:r>
          </a:p>
        </p:txBody>
      </p:sp>
      <p:sp>
        <p:nvSpPr>
          <p:cNvPr id="87" name="sp87"/>
          <p:cNvSpPr/>
          <p:nvPr/>
        </p:nvSpPr>
        <p:spPr>
          <a:xfrm>
            <a:off x="2600000" y="2077515"/>
            <a:ext cx="25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20" b="0" dirty="0">
                <a:solidFill>
                  <a:srgbClr val="455A64"/>
                </a:solidFill>
                <a:latin typeface="Arial" pitchFamily="34" charset="0"/>
              </a:rPr>
              <a:t>Website adapts to mobile and desktop screens</a:t>
            </a:r>
          </a:p>
        </p:txBody>
      </p:sp>
      <p:sp>
        <p:nvSpPr>
          <p:cNvPr id="88" name="sp88"/>
          <p:cNvSpPr/>
          <p:nvPr/>
        </p:nvSpPr>
        <p:spPr>
          <a:xfrm>
            <a:off x="5200000" y="2077515"/>
            <a:ext cx="13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All Pages</a:t>
            </a:r>
          </a:p>
        </p:txBody>
      </p:sp>
      <p:sp>
        <p:nvSpPr>
          <p:cNvPr id="89" name="rect89"/>
          <p:cNvSpPr/>
          <p:nvPr/>
        </p:nvSpPr>
        <p:spPr>
          <a:xfrm>
            <a:off x="6590856" y="2083515"/>
            <a:ext cx="2118288" cy="11418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0" name="sp90"/>
          <p:cNvSpPr/>
          <p:nvPr/>
        </p:nvSpPr>
        <p:spPr>
          <a:xfrm>
            <a:off x="6600000" y="2077515"/>
            <a:ext cx="21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Complete</a:t>
            </a:r>
          </a:p>
        </p:txBody>
      </p:sp>
      <p:sp>
        <p:nvSpPr>
          <p:cNvPr id="91" name="rect91"/>
          <p:cNvSpPr/>
          <p:nvPr/>
        </p:nvSpPr>
        <p:spPr>
          <a:xfrm>
            <a:off x="0" y="2203702"/>
            <a:ext cx="9144000" cy="274320"/>
          </a:xfrm>
          <a:prstGeom prst="rect">
            <a:avLst/>
          </a:prstGeom>
          <a:solidFill>
            <a:srgbClr val="006064"/>
          </a:solidFill>
          <a:ln/>
        </p:spPr>
      </p:sp>
      <p:sp>
        <p:nvSpPr>
          <p:cNvPr id="92" name="sp92"/>
          <p:cNvSpPr/>
          <p:nvPr/>
        </p:nvSpPr>
        <p:spPr>
          <a:xfrm>
            <a:off x="45720" y="2203702"/>
            <a:ext cx="566928" cy="274320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</a:rPr>
              <a:t>NFR ID</a:t>
            </a:r>
          </a:p>
        </p:txBody>
      </p:sp>
      <p:sp>
        <p:nvSpPr>
          <p:cNvPr id="93" name="sp93"/>
          <p:cNvSpPr/>
          <p:nvPr/>
        </p:nvSpPr>
        <p:spPr>
          <a:xfrm>
            <a:off x="640080" y="2203702"/>
            <a:ext cx="1900000" cy="274320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</a:rPr>
              <a:t>Requirement</a:t>
            </a:r>
          </a:p>
        </p:txBody>
      </p:sp>
      <p:sp>
        <p:nvSpPr>
          <p:cNvPr id="94" name="sp94"/>
          <p:cNvSpPr/>
          <p:nvPr/>
        </p:nvSpPr>
        <p:spPr>
          <a:xfrm>
            <a:off x="2600000" y="2203702"/>
            <a:ext cx="3900000" cy="274320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</a:rPr>
              <a:t>Description</a:t>
            </a:r>
          </a:p>
        </p:txBody>
      </p:sp>
      <p:sp>
        <p:nvSpPr>
          <p:cNvPr id="95" name="sp95"/>
          <p:cNvSpPr/>
          <p:nvPr/>
        </p:nvSpPr>
        <p:spPr>
          <a:xfrm>
            <a:off x="6600000" y="2203702"/>
            <a:ext cx="2100000" cy="274320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</a:rPr>
              <a:t>Status</a:t>
            </a:r>
          </a:p>
        </p:txBody>
      </p:sp>
      <p:sp>
        <p:nvSpPr>
          <p:cNvPr id="96" name="rect96"/>
          <p:cNvSpPr/>
          <p:nvPr/>
        </p:nvSpPr>
        <p:spPr>
          <a:xfrm>
            <a:off x="0" y="2478022"/>
            <a:ext cx="9144000" cy="126187"/>
          </a:xfrm>
          <a:prstGeom prst="rect">
            <a:avLst/>
          </a:prstGeom>
          <a:solidFill>
            <a:srgbClr val="E0F2F1"/>
          </a:solidFill>
          <a:ln/>
        </p:spPr>
      </p:sp>
      <p:sp>
        <p:nvSpPr>
          <p:cNvPr id="97" name="rect97"/>
          <p:cNvSpPr/>
          <p:nvPr/>
        </p:nvSpPr>
        <p:spPr>
          <a:xfrm>
            <a:off x="36576" y="2484022"/>
            <a:ext cx="585216" cy="114187"/>
          </a:xfrm>
          <a:prstGeom prst="rect">
            <a:avLst/>
          </a:prstGeom>
          <a:solidFill>
            <a:srgbClr val="006064"/>
          </a:solidFill>
          <a:ln/>
        </p:spPr>
      </p:sp>
      <p:sp>
        <p:nvSpPr>
          <p:cNvPr id="98" name="sp98"/>
          <p:cNvSpPr/>
          <p:nvPr/>
        </p:nvSpPr>
        <p:spPr>
          <a:xfrm>
            <a:off x="45720" y="2478022"/>
            <a:ext cx="566928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NFR-01</a:t>
            </a:r>
          </a:p>
        </p:txBody>
      </p:sp>
      <p:sp>
        <p:nvSpPr>
          <p:cNvPr id="99" name="sp99"/>
          <p:cNvSpPr/>
          <p:nvPr/>
        </p:nvSpPr>
        <p:spPr>
          <a:xfrm>
            <a:off x="640080" y="2478022"/>
            <a:ext cx="19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Usability</a:t>
            </a:r>
          </a:p>
        </p:txBody>
      </p:sp>
      <p:sp>
        <p:nvSpPr>
          <p:cNvPr id="100" name="sp100"/>
          <p:cNvSpPr/>
          <p:nvPr/>
        </p:nvSpPr>
        <p:spPr>
          <a:xfrm>
            <a:off x="2600000" y="2478022"/>
            <a:ext cx="39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20" b="0" dirty="0">
                <a:solidFill>
                  <a:srgbClr val="455A64"/>
                </a:solidFill>
                <a:latin typeface="Arial" pitchFamily="34" charset="0"/>
              </a:rPr>
              <a:t>Easy-to-use user interface</a:t>
            </a:r>
          </a:p>
        </p:txBody>
      </p:sp>
      <p:sp>
        <p:nvSpPr>
          <p:cNvPr id="101" name="rect101"/>
          <p:cNvSpPr/>
          <p:nvPr/>
        </p:nvSpPr>
        <p:spPr>
          <a:xfrm>
            <a:off x="6590856" y="2484022"/>
            <a:ext cx="2118288" cy="11418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2" name="sp102"/>
          <p:cNvSpPr/>
          <p:nvPr/>
        </p:nvSpPr>
        <p:spPr>
          <a:xfrm>
            <a:off x="6600000" y="2478022"/>
            <a:ext cx="21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Complete</a:t>
            </a:r>
          </a:p>
        </p:txBody>
      </p:sp>
      <p:sp>
        <p:nvSpPr>
          <p:cNvPr id="103" name="rect103"/>
          <p:cNvSpPr/>
          <p:nvPr/>
        </p:nvSpPr>
        <p:spPr>
          <a:xfrm>
            <a:off x="0" y="2604209"/>
            <a:ext cx="9144000" cy="126187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4" name="rect104"/>
          <p:cNvSpPr/>
          <p:nvPr/>
        </p:nvSpPr>
        <p:spPr>
          <a:xfrm>
            <a:off x="36576" y="2610209"/>
            <a:ext cx="585216" cy="114187"/>
          </a:xfrm>
          <a:prstGeom prst="rect">
            <a:avLst/>
          </a:prstGeom>
          <a:solidFill>
            <a:srgbClr val="006064"/>
          </a:solidFill>
          <a:ln/>
        </p:spPr>
      </p:sp>
      <p:sp>
        <p:nvSpPr>
          <p:cNvPr id="105" name="sp105"/>
          <p:cNvSpPr/>
          <p:nvPr/>
        </p:nvSpPr>
        <p:spPr>
          <a:xfrm>
            <a:off x="45720" y="2604209"/>
            <a:ext cx="566928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NFR-02</a:t>
            </a:r>
          </a:p>
        </p:txBody>
      </p:sp>
      <p:sp>
        <p:nvSpPr>
          <p:cNvPr id="106" name="sp106"/>
          <p:cNvSpPr/>
          <p:nvPr/>
        </p:nvSpPr>
        <p:spPr>
          <a:xfrm>
            <a:off x="640080" y="2604209"/>
            <a:ext cx="19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Performance</a:t>
            </a:r>
          </a:p>
        </p:txBody>
      </p:sp>
      <p:sp>
        <p:nvSpPr>
          <p:cNvPr id="107" name="sp107"/>
          <p:cNvSpPr/>
          <p:nvPr/>
        </p:nvSpPr>
        <p:spPr>
          <a:xfrm>
            <a:off x="2600000" y="2604209"/>
            <a:ext cx="39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20" b="0" dirty="0">
                <a:solidFill>
                  <a:srgbClr val="455A64"/>
                </a:solidFill>
                <a:latin typeface="Arial" pitchFamily="34" charset="0"/>
              </a:rPr>
              <a:t>Fast rendering using React</a:t>
            </a:r>
          </a:p>
        </p:txBody>
      </p:sp>
      <p:sp>
        <p:nvSpPr>
          <p:cNvPr id="108" name="rect108"/>
          <p:cNvSpPr/>
          <p:nvPr/>
        </p:nvSpPr>
        <p:spPr>
          <a:xfrm>
            <a:off x="6590856" y="2610209"/>
            <a:ext cx="2118288" cy="11418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9" name="sp109"/>
          <p:cNvSpPr/>
          <p:nvPr/>
        </p:nvSpPr>
        <p:spPr>
          <a:xfrm>
            <a:off x="6600000" y="2604209"/>
            <a:ext cx="21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Complete</a:t>
            </a:r>
          </a:p>
        </p:txBody>
      </p:sp>
      <p:sp>
        <p:nvSpPr>
          <p:cNvPr id="110" name="rect110"/>
          <p:cNvSpPr/>
          <p:nvPr/>
        </p:nvSpPr>
        <p:spPr>
          <a:xfrm>
            <a:off x="0" y="2730396"/>
            <a:ext cx="9144000" cy="126187"/>
          </a:xfrm>
          <a:prstGeom prst="rect">
            <a:avLst/>
          </a:prstGeom>
          <a:solidFill>
            <a:srgbClr val="E0F2F1"/>
          </a:solidFill>
          <a:ln/>
        </p:spPr>
      </p:sp>
      <p:sp>
        <p:nvSpPr>
          <p:cNvPr id="111" name="rect111"/>
          <p:cNvSpPr/>
          <p:nvPr/>
        </p:nvSpPr>
        <p:spPr>
          <a:xfrm>
            <a:off x="36576" y="2736396"/>
            <a:ext cx="585216" cy="114187"/>
          </a:xfrm>
          <a:prstGeom prst="rect">
            <a:avLst/>
          </a:prstGeom>
          <a:solidFill>
            <a:srgbClr val="006064"/>
          </a:solidFill>
          <a:ln/>
        </p:spPr>
      </p:sp>
      <p:sp>
        <p:nvSpPr>
          <p:cNvPr id="112" name="sp112"/>
          <p:cNvSpPr/>
          <p:nvPr/>
        </p:nvSpPr>
        <p:spPr>
          <a:xfrm>
            <a:off x="45720" y="2730396"/>
            <a:ext cx="566928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NFR-03</a:t>
            </a:r>
          </a:p>
        </p:txBody>
      </p:sp>
      <p:sp>
        <p:nvSpPr>
          <p:cNvPr id="113" name="sp113"/>
          <p:cNvSpPr/>
          <p:nvPr/>
        </p:nvSpPr>
        <p:spPr>
          <a:xfrm>
            <a:off x="640080" y="2730396"/>
            <a:ext cx="19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Reliability</a:t>
            </a:r>
          </a:p>
        </p:txBody>
      </p:sp>
      <p:sp>
        <p:nvSpPr>
          <p:cNvPr id="114" name="sp114"/>
          <p:cNvSpPr/>
          <p:nvPr/>
        </p:nvSpPr>
        <p:spPr>
          <a:xfrm>
            <a:off x="2600000" y="2730396"/>
            <a:ext cx="39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20" b="0" dirty="0">
                <a:solidFill>
                  <a:srgbClr val="455A64"/>
                </a:solidFill>
                <a:latin typeface="Arial" pitchFamily="34" charset="0"/>
              </a:rPr>
              <a:t>Data persists through Local Storage</a:t>
            </a:r>
          </a:p>
        </p:txBody>
      </p:sp>
      <p:sp>
        <p:nvSpPr>
          <p:cNvPr id="115" name="rect115"/>
          <p:cNvSpPr/>
          <p:nvPr/>
        </p:nvSpPr>
        <p:spPr>
          <a:xfrm>
            <a:off x="6590856" y="2736396"/>
            <a:ext cx="2118288" cy="11418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16" name="sp116"/>
          <p:cNvSpPr/>
          <p:nvPr/>
        </p:nvSpPr>
        <p:spPr>
          <a:xfrm>
            <a:off x="6600000" y="2730396"/>
            <a:ext cx="21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Complete</a:t>
            </a:r>
          </a:p>
        </p:txBody>
      </p:sp>
      <p:sp>
        <p:nvSpPr>
          <p:cNvPr id="117" name="rect117"/>
          <p:cNvSpPr/>
          <p:nvPr/>
        </p:nvSpPr>
        <p:spPr>
          <a:xfrm>
            <a:off x="0" y="2856583"/>
            <a:ext cx="9144000" cy="126187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18" name="rect118"/>
          <p:cNvSpPr/>
          <p:nvPr/>
        </p:nvSpPr>
        <p:spPr>
          <a:xfrm>
            <a:off x="36576" y="2862583"/>
            <a:ext cx="585216" cy="114187"/>
          </a:xfrm>
          <a:prstGeom prst="rect">
            <a:avLst/>
          </a:prstGeom>
          <a:solidFill>
            <a:srgbClr val="006064"/>
          </a:solidFill>
          <a:ln/>
        </p:spPr>
      </p:sp>
      <p:sp>
        <p:nvSpPr>
          <p:cNvPr id="119" name="sp119"/>
          <p:cNvSpPr/>
          <p:nvPr/>
        </p:nvSpPr>
        <p:spPr>
          <a:xfrm>
            <a:off x="45720" y="2856583"/>
            <a:ext cx="566928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NFR-04</a:t>
            </a:r>
          </a:p>
        </p:txBody>
      </p:sp>
      <p:sp>
        <p:nvSpPr>
          <p:cNvPr id="120" name="sp120"/>
          <p:cNvSpPr/>
          <p:nvPr/>
        </p:nvSpPr>
        <p:spPr>
          <a:xfrm>
            <a:off x="640080" y="2856583"/>
            <a:ext cx="19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Maintainability</a:t>
            </a:r>
          </a:p>
        </p:txBody>
      </p:sp>
      <p:sp>
        <p:nvSpPr>
          <p:cNvPr id="121" name="sp121"/>
          <p:cNvSpPr/>
          <p:nvPr/>
        </p:nvSpPr>
        <p:spPr>
          <a:xfrm>
            <a:off x="2600000" y="2856583"/>
            <a:ext cx="39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20" b="0" dirty="0">
                <a:solidFill>
                  <a:srgbClr val="455A64"/>
                </a:solidFill>
                <a:latin typeface="Arial" pitchFamily="34" charset="0"/>
              </a:rPr>
              <a:t>Modular component-based structure</a:t>
            </a:r>
          </a:p>
        </p:txBody>
      </p:sp>
      <p:sp>
        <p:nvSpPr>
          <p:cNvPr id="122" name="rect122"/>
          <p:cNvSpPr/>
          <p:nvPr/>
        </p:nvSpPr>
        <p:spPr>
          <a:xfrm>
            <a:off x="6590856" y="2862583"/>
            <a:ext cx="2118288" cy="11418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3" name="sp123"/>
          <p:cNvSpPr/>
          <p:nvPr/>
        </p:nvSpPr>
        <p:spPr>
          <a:xfrm>
            <a:off x="6600000" y="2856583"/>
            <a:ext cx="21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Complete</a:t>
            </a:r>
          </a:p>
        </p:txBody>
      </p:sp>
      <p:sp>
        <p:nvSpPr>
          <p:cNvPr id="124" name="rect124"/>
          <p:cNvSpPr/>
          <p:nvPr/>
        </p:nvSpPr>
        <p:spPr>
          <a:xfrm>
            <a:off x="0" y="2982770"/>
            <a:ext cx="9144000" cy="126187"/>
          </a:xfrm>
          <a:prstGeom prst="rect">
            <a:avLst/>
          </a:prstGeom>
          <a:solidFill>
            <a:srgbClr val="E0F2F1"/>
          </a:solidFill>
          <a:ln/>
        </p:spPr>
      </p:sp>
      <p:sp>
        <p:nvSpPr>
          <p:cNvPr id="125" name="rect125"/>
          <p:cNvSpPr/>
          <p:nvPr/>
        </p:nvSpPr>
        <p:spPr>
          <a:xfrm>
            <a:off x="36576" y="2988770"/>
            <a:ext cx="585216" cy="114187"/>
          </a:xfrm>
          <a:prstGeom prst="rect">
            <a:avLst/>
          </a:prstGeom>
          <a:solidFill>
            <a:srgbClr val="006064"/>
          </a:solidFill>
          <a:ln/>
        </p:spPr>
      </p:sp>
      <p:sp>
        <p:nvSpPr>
          <p:cNvPr id="126" name="sp126"/>
          <p:cNvSpPr/>
          <p:nvPr/>
        </p:nvSpPr>
        <p:spPr>
          <a:xfrm>
            <a:off x="45720" y="2982770"/>
            <a:ext cx="566928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NFR-05</a:t>
            </a:r>
          </a:p>
        </p:txBody>
      </p:sp>
      <p:sp>
        <p:nvSpPr>
          <p:cNvPr id="127" name="sp127"/>
          <p:cNvSpPr/>
          <p:nvPr/>
        </p:nvSpPr>
        <p:spPr>
          <a:xfrm>
            <a:off x="640080" y="2982770"/>
            <a:ext cx="19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Scalability</a:t>
            </a:r>
          </a:p>
        </p:txBody>
      </p:sp>
      <p:sp>
        <p:nvSpPr>
          <p:cNvPr id="128" name="sp128"/>
          <p:cNvSpPr/>
          <p:nvPr/>
        </p:nvSpPr>
        <p:spPr>
          <a:xfrm>
            <a:off x="2600000" y="2982770"/>
            <a:ext cx="39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20" b="0" dirty="0">
                <a:solidFill>
                  <a:srgbClr val="455A64"/>
                </a:solidFill>
                <a:latin typeface="Arial" pitchFamily="34" charset="0"/>
              </a:rPr>
              <a:t>Can be connected to backend APIs later</a:t>
            </a:r>
          </a:p>
        </p:txBody>
      </p:sp>
      <p:sp>
        <p:nvSpPr>
          <p:cNvPr id="129" name="rect129"/>
          <p:cNvSpPr/>
          <p:nvPr/>
        </p:nvSpPr>
        <p:spPr>
          <a:xfrm>
            <a:off x="6590856" y="2988770"/>
            <a:ext cx="2118288" cy="11418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30" name="sp130"/>
          <p:cNvSpPr/>
          <p:nvPr/>
        </p:nvSpPr>
        <p:spPr>
          <a:xfrm>
            <a:off x="6600000" y="2982770"/>
            <a:ext cx="21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Complete</a:t>
            </a:r>
          </a:p>
        </p:txBody>
      </p:sp>
      <p:sp>
        <p:nvSpPr>
          <p:cNvPr id="131" name="rect131"/>
          <p:cNvSpPr/>
          <p:nvPr/>
        </p:nvSpPr>
        <p:spPr>
          <a:xfrm>
            <a:off x="0" y="3108957"/>
            <a:ext cx="9144000" cy="126187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2" name="rect132"/>
          <p:cNvSpPr/>
          <p:nvPr/>
        </p:nvSpPr>
        <p:spPr>
          <a:xfrm>
            <a:off x="36576" y="3114957"/>
            <a:ext cx="585216" cy="114187"/>
          </a:xfrm>
          <a:prstGeom prst="rect">
            <a:avLst/>
          </a:prstGeom>
          <a:solidFill>
            <a:srgbClr val="006064"/>
          </a:solidFill>
          <a:ln/>
        </p:spPr>
      </p:sp>
      <p:sp>
        <p:nvSpPr>
          <p:cNvPr id="133" name="sp133"/>
          <p:cNvSpPr/>
          <p:nvPr/>
        </p:nvSpPr>
        <p:spPr>
          <a:xfrm>
            <a:off x="45720" y="3108957"/>
            <a:ext cx="566928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NFR-06</a:t>
            </a:r>
          </a:p>
        </p:txBody>
      </p:sp>
      <p:sp>
        <p:nvSpPr>
          <p:cNvPr id="134" name="sp134"/>
          <p:cNvSpPr/>
          <p:nvPr/>
        </p:nvSpPr>
        <p:spPr>
          <a:xfrm>
            <a:off x="640080" y="3108957"/>
            <a:ext cx="19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Security</a:t>
            </a:r>
          </a:p>
        </p:txBody>
      </p:sp>
      <p:sp>
        <p:nvSpPr>
          <p:cNvPr id="135" name="sp135"/>
          <p:cNvSpPr/>
          <p:nvPr/>
        </p:nvSpPr>
        <p:spPr>
          <a:xfrm>
            <a:off x="2600000" y="3108957"/>
            <a:ext cx="39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20" b="0" dirty="0">
                <a:solidFill>
                  <a:srgbClr val="455A64"/>
                </a:solidFill>
                <a:latin typeface="Arial" pitchFamily="34" charset="0"/>
              </a:rPr>
              <a:t>Basic authentication implemented</a:t>
            </a:r>
          </a:p>
        </p:txBody>
      </p:sp>
      <p:sp>
        <p:nvSpPr>
          <p:cNvPr id="136" name="rect136"/>
          <p:cNvSpPr/>
          <p:nvPr/>
        </p:nvSpPr>
        <p:spPr>
          <a:xfrm>
            <a:off x="6590856" y="3114957"/>
            <a:ext cx="2118288" cy="114187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137" name="sp137"/>
          <p:cNvSpPr/>
          <p:nvPr/>
        </p:nvSpPr>
        <p:spPr>
          <a:xfrm>
            <a:off x="6600000" y="3108957"/>
            <a:ext cx="21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Partial</a:t>
            </a:r>
          </a:p>
        </p:txBody>
      </p:sp>
      <p:sp>
        <p:nvSpPr>
          <p:cNvPr id="138" name="rect138"/>
          <p:cNvSpPr/>
          <p:nvPr/>
        </p:nvSpPr>
        <p:spPr>
          <a:xfrm>
            <a:off x="0" y="3235144"/>
            <a:ext cx="9144000" cy="126187"/>
          </a:xfrm>
          <a:prstGeom prst="rect">
            <a:avLst/>
          </a:prstGeom>
          <a:solidFill>
            <a:srgbClr val="E0F2F1"/>
          </a:solidFill>
          <a:ln/>
        </p:spPr>
      </p:sp>
      <p:sp>
        <p:nvSpPr>
          <p:cNvPr id="139" name="rect139"/>
          <p:cNvSpPr/>
          <p:nvPr/>
        </p:nvSpPr>
        <p:spPr>
          <a:xfrm>
            <a:off x="36576" y="3241144"/>
            <a:ext cx="585216" cy="114187"/>
          </a:xfrm>
          <a:prstGeom prst="rect">
            <a:avLst/>
          </a:prstGeom>
          <a:solidFill>
            <a:srgbClr val="006064"/>
          </a:solidFill>
          <a:ln/>
        </p:spPr>
      </p:sp>
      <p:sp>
        <p:nvSpPr>
          <p:cNvPr id="140" name="sp140"/>
          <p:cNvSpPr/>
          <p:nvPr/>
        </p:nvSpPr>
        <p:spPr>
          <a:xfrm>
            <a:off x="45720" y="3235144"/>
            <a:ext cx="566928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NFR-07</a:t>
            </a:r>
          </a:p>
        </p:txBody>
      </p:sp>
      <p:sp>
        <p:nvSpPr>
          <p:cNvPr id="141" name="sp141"/>
          <p:cNvSpPr/>
          <p:nvPr/>
        </p:nvSpPr>
        <p:spPr>
          <a:xfrm>
            <a:off x="640080" y="3235144"/>
            <a:ext cx="19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1A1A1A"/>
                </a:solidFill>
                <a:latin typeface="Arial" pitchFamily="34" charset="0"/>
              </a:rPr>
              <a:t>Accessibility</a:t>
            </a:r>
          </a:p>
        </p:txBody>
      </p:sp>
      <p:sp>
        <p:nvSpPr>
          <p:cNvPr id="142" name="sp142"/>
          <p:cNvSpPr/>
          <p:nvPr/>
        </p:nvSpPr>
        <p:spPr>
          <a:xfrm>
            <a:off x="2600000" y="3235144"/>
            <a:ext cx="39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20" b="0" dirty="0">
                <a:solidFill>
                  <a:srgbClr val="455A64"/>
                </a:solidFill>
                <a:latin typeface="Arial" pitchFamily="34" charset="0"/>
              </a:rPr>
              <a:t>Responsive Bootstrap layout</a:t>
            </a:r>
          </a:p>
        </p:txBody>
      </p:sp>
      <p:sp>
        <p:nvSpPr>
          <p:cNvPr id="143" name="rect143"/>
          <p:cNvSpPr/>
          <p:nvPr/>
        </p:nvSpPr>
        <p:spPr>
          <a:xfrm>
            <a:off x="6590856" y="3241144"/>
            <a:ext cx="2118288" cy="11418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44" name="sp144"/>
          <p:cNvSpPr/>
          <p:nvPr/>
        </p:nvSpPr>
        <p:spPr>
          <a:xfrm>
            <a:off x="6600000" y="3235144"/>
            <a:ext cx="2100000" cy="126187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</a:rPr>
              <a:t>Complete</a:t>
            </a:r>
          </a:p>
        </p:txBody>
      </p:sp>
      <p:sp>
        <p:nvSpPr>
          <p:cNvPr id="145" name="rect145"/>
          <p:cNvSpPr/>
          <p:nvPr/>
        </p:nvSpPr>
        <p:spPr>
          <a:xfrm>
            <a:off x="0" y="5404104"/>
            <a:ext cx="9144000" cy="1371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46" name="rect146"/>
          <p:cNvSpPr/>
          <p:nvPr/>
        </p:nvSpPr>
        <p:spPr>
          <a:xfrm>
            <a:off x="228600" y="5422392"/>
            <a:ext cx="91440" cy="10058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47" name="sp147"/>
          <p:cNvSpPr/>
          <p:nvPr/>
        </p:nvSpPr>
        <p:spPr>
          <a:xfrm>
            <a:off x="342900" y="5404104"/>
            <a:ext cx="685800" cy="137160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FFFFFF"/>
                </a:solidFill>
                <a:latin typeface="Arial" pitchFamily="34" charset="0"/>
              </a:rPr>
              <a:t>Complete</a:t>
            </a:r>
          </a:p>
        </p:txBody>
      </p:sp>
      <p:sp>
        <p:nvSpPr>
          <p:cNvPr id="148" name="rect148"/>
          <p:cNvSpPr/>
          <p:nvPr/>
        </p:nvSpPr>
        <p:spPr>
          <a:xfrm>
            <a:off x="1143000" y="5422392"/>
            <a:ext cx="91440" cy="100584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149" name="sp149"/>
          <p:cNvSpPr/>
          <p:nvPr/>
        </p:nvSpPr>
        <p:spPr>
          <a:xfrm>
            <a:off x="1257300" y="5404104"/>
            <a:ext cx="685800" cy="137160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FFFFFF"/>
                </a:solidFill>
                <a:latin typeface="Arial" pitchFamily="34" charset="0"/>
              </a:rPr>
              <a:t>Partial</a:t>
            </a:r>
          </a:p>
        </p:txBody>
      </p:sp>
      <p:sp>
        <p:nvSpPr>
          <p:cNvPr id="150" name="rect150"/>
          <p:cNvSpPr/>
          <p:nvPr/>
        </p:nvSpPr>
        <p:spPr>
          <a:xfrm>
            <a:off x="2057400" y="5422392"/>
            <a:ext cx="91440" cy="10058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1" name="sp151"/>
          <p:cNvSpPr/>
          <p:nvPr/>
        </p:nvSpPr>
        <p:spPr>
          <a:xfrm>
            <a:off x="2171700" y="5404104"/>
            <a:ext cx="685800" cy="137160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l">
              <a:buNone/>
            </a:pPr>
            <a:r>
              <a:rPr lang="en-US" sz="650" b="0" dirty="0">
                <a:solidFill>
                  <a:srgbClr val="FFFFFF"/>
                </a:solidFill>
                <a:latin typeface="Arial" pitchFamily="34" charset="0"/>
              </a:rPr>
              <a:t>Planned</a:t>
            </a:r>
          </a:p>
        </p:txBody>
      </p:sp>
      <p:sp>
        <p:nvSpPr>
          <p:cNvPr id="152" name="sp152"/>
          <p:cNvSpPr/>
          <p:nvPr/>
        </p:nvSpPr>
        <p:spPr>
          <a:xfrm>
            <a:off x="6858000" y="5404104"/>
            <a:ext cx="2194560" cy="137160"/>
          </a:xfrm>
          <a:prstGeom prst="rect">
            <a:avLst/>
          </a:prstGeom>
          <a:noFill/>
          <a:ln/>
        </p:spPr>
        <p:txBody>
          <a:bodyPr wrap="square" lIns="22860" tIns="0" rIns="2286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FC107"/>
                </a:solidFill>
                <a:latin typeface="Arial" pitchFamily="34" charset="0"/>
              </a:rPr>
              <a:t>Total: 37 Requirements</a:t>
            </a:r>
          </a:p>
        </p:txBody>
      </p:sp>
      <p:sp>
        <p:nvSpPr>
          <p:cNvPr id="153" name="rect153"/>
          <p:cNvSpPr/>
          <p:nvPr/>
        </p:nvSpPr>
        <p:spPr>
          <a:xfrm>
            <a:off x="630936" y="667512"/>
            <a:ext cx="9144" cy="469087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4" name="rect154"/>
          <p:cNvSpPr/>
          <p:nvPr/>
        </p:nvSpPr>
        <p:spPr>
          <a:xfrm>
            <a:off x="2590856" y="667512"/>
            <a:ext cx="9144" cy="469087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5" name="rect155"/>
          <p:cNvSpPr/>
          <p:nvPr/>
        </p:nvSpPr>
        <p:spPr>
          <a:xfrm>
            <a:off x="5190856" y="667512"/>
            <a:ext cx="9144" cy="469087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6" name="rect156"/>
          <p:cNvSpPr/>
          <p:nvPr/>
        </p:nvSpPr>
        <p:spPr>
          <a:xfrm>
            <a:off x="6590856" y="667512"/>
            <a:ext cx="9144" cy="4690872"/>
          </a:xfrm>
          <a:prstGeom prst="rect">
            <a:avLst/>
          </a:prstGeom>
          <a:solidFill>
            <a:srgbClr val="DDDDDD"/>
          </a:solidFill>
          <a:ln/>
        </p:spPr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2"/>
          <p:cNvSpPr/>
          <p:nvPr/>
        </p:nvSpPr>
        <p:spPr>
          <a:xfrm>
            <a:off x="-1371600" y="-914400"/>
            <a:ext cx="5029200" cy="5029200"/>
          </a:xfrm>
          <a:prstGeom prst="ellipse">
            <a:avLst/>
          </a:prstGeom>
          <a:solidFill>
            <a:srgbClr val="B71C1C">
              <a:alpha val="30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ell3"/>
          <p:cNvSpPr/>
          <p:nvPr/>
        </p:nvSpPr>
        <p:spPr>
          <a:xfrm>
            <a:off x="6858000" y="3200000"/>
            <a:ext cx="3200000" cy="3200000"/>
          </a:xfrm>
          <a:prstGeom prst="ellipse">
            <a:avLst/>
          </a:prstGeom>
          <a:solidFill>
            <a:srgbClr val="E53935">
              <a:alpha val="20000"/>
            </a:srgbClr>
          </a:solidFill>
          <a:ln/>
        </p:spPr>
      </p:sp>
      <p:sp>
        <p:nvSpPr>
          <p:cNvPr id="4" name="ell4"/>
          <p:cNvSpPr/>
          <p:nvPr/>
        </p:nvSpPr>
        <p:spPr>
          <a:xfrm>
            <a:off x="3500000" y="4500000"/>
            <a:ext cx="2500000" cy="2500000"/>
          </a:xfrm>
          <a:prstGeom prst="ellipse">
            <a:avLst/>
          </a:prstGeom>
          <a:solidFill>
            <a:srgbClr val="FF5252">
              <a:alpha val="15000"/>
            </a:srgbClr>
          </a:solidFill>
          <a:ln/>
        </p:spPr>
      </p:sp>
      <p:sp>
        <p:nvSpPr>
          <p:cNvPr id="5" name="rect5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" name="rect6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7" name="txt7"/>
          <p:cNvSpPr/>
          <p:nvPr/>
        </p:nvSpPr>
        <p:spPr>
          <a:xfrm>
            <a:off x="228600" y="0"/>
            <a:ext cx="7000000" cy="6858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l">
              <a:buNone/>
            </a:pPr>
            <a:r>
              <a:rPr lang="en-US" sz="1600" b="1" i="0" dirty="0">
                <a:solidFill>
                  <a:srgbClr val="FFFFFF"/>
                </a:solidFill>
                <a:latin typeface="Arial" pitchFamily="34" charset="0"/>
              </a:rPr>
              <a:t>REFERENCES</a:t>
            </a:r>
          </a:p>
        </p:txBody>
      </p:sp>
      <p:sp>
        <p:nvSpPr>
          <p:cNvPr id="8" name="txt8"/>
          <p:cNvSpPr/>
          <p:nvPr/>
        </p:nvSpPr>
        <p:spPr>
          <a:xfrm>
            <a:off x="6500000" y="0"/>
            <a:ext cx="2500000" cy="6858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r">
              <a:buNone/>
            </a:pPr>
            <a:r>
              <a:rPr lang="en-US" sz="750" b="0" i="0" dirty="0">
                <a:solidFill>
                  <a:srgbClr val="FFC107"/>
                </a:solidFill>
                <a:latin typeface="Arial" pitchFamily="34" charset="0"/>
              </a:rPr>
              <a:t>FOODIE  ·  SRS v1.1</a:t>
            </a:r>
          </a:p>
        </p:txBody>
      </p:sp>
      <p:sp>
        <p:nvSpPr>
          <p:cNvPr id="9" name="rrect9"/>
          <p:cNvSpPr/>
          <p:nvPr/>
        </p:nvSpPr>
        <p:spPr>
          <a:xfrm>
            <a:off x="228600" y="800000"/>
            <a:ext cx="2200000" cy="274320"/>
          </a:xfrm>
          <a:prstGeom prst="roundRect">
            <a:avLst>
              <a:gd name="adj" fmla="val 50000"/>
            </a:avLst>
          </a:prstGeom>
          <a:solidFill>
            <a:srgbClr val="B71C1C"/>
          </a:solidFill>
          <a:ln/>
        </p:spPr>
      </p:sp>
      <p:sp>
        <p:nvSpPr>
          <p:cNvPr id="10" name="txt10"/>
          <p:cNvSpPr/>
          <p:nvPr/>
        </p:nvSpPr>
        <p:spPr>
          <a:xfrm>
            <a:off x="228600" y="800000"/>
            <a:ext cx="2200000" cy="27432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l">
              <a:buNone/>
            </a:pPr>
            <a:r>
              <a:rPr lang="en-US" sz="850" b="1" i="0" dirty="0">
                <a:solidFill>
                  <a:srgbClr val="FFFFFF"/>
                </a:solidFill>
                <a:latin typeface="Arial" pitchFamily="34" charset="0"/>
              </a:rPr>
              <a:t>  AI TOOLS USED</a:t>
            </a:r>
          </a:p>
        </p:txBody>
      </p:sp>
      <p:sp>
        <p:nvSpPr>
          <p:cNvPr id="11" name="txt11"/>
          <p:cNvSpPr/>
          <p:nvPr/>
        </p:nvSpPr>
        <p:spPr>
          <a:xfrm>
            <a:off x="228600" y="1150000"/>
            <a:ext cx="8600000" cy="2286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l">
              <a:buNone/>
            </a:pPr>
            <a:r>
              <a:rPr lang="en-US" sz="780" b="0" i="0" dirty="0">
                <a:solidFill>
                  <a:srgbClr val="CCCCCC"/>
                </a:solidFill>
                <a:latin typeface="Arial" pitchFamily="34" charset="0"/>
              </a:rPr>
              <a:t>The following AI tools assisted in content generation, code development, and diagram creation for this project.</a:t>
            </a:r>
          </a:p>
        </p:txBody>
      </p:sp>
      <p:sp>
        <p:nvSpPr>
          <p:cNvPr id="12" name="rrect12"/>
          <p:cNvSpPr/>
          <p:nvPr/>
        </p:nvSpPr>
        <p:spPr>
          <a:xfrm>
            <a:off x="228600" y="1480000"/>
            <a:ext cx="2743200" cy="1028700"/>
          </a:xfrm>
          <a:prstGeom prst="roundRect">
            <a:avLst>
              <a:gd name="adj" fmla="val 8000"/>
            </a:avLst>
          </a:prstGeom>
          <a:solidFill>
            <a:srgbClr val="2A2A2A"/>
          </a:solidFill>
          <a:ln/>
        </p:spPr>
      </p:sp>
      <p:sp>
        <p:nvSpPr>
          <p:cNvPr id="13" name="rrect13"/>
          <p:cNvSpPr/>
          <p:nvPr/>
        </p:nvSpPr>
        <p:spPr>
          <a:xfrm>
            <a:off x="228600" y="1480000"/>
            <a:ext cx="54864" cy="1028700"/>
          </a:xfrm>
          <a:prstGeom prst="roundRect">
            <a:avLst>
              <a:gd name="adj" fmla="val 8000"/>
            </a:avLst>
          </a:prstGeom>
          <a:solidFill>
            <a:srgbClr val="10A37F"/>
          </a:solidFill>
          <a:ln/>
        </p:spPr>
      </p:sp>
      <p:sp>
        <p:nvSpPr>
          <p:cNvPr id="14" name="ell14"/>
          <p:cNvSpPr/>
          <p:nvPr/>
        </p:nvSpPr>
        <p:spPr>
          <a:xfrm>
            <a:off x="297180" y="1548580"/>
            <a:ext cx="228600" cy="228600"/>
          </a:xfrm>
          <a:prstGeom prst="ellipse">
            <a:avLst/>
          </a:prstGeom>
          <a:solidFill>
            <a:srgbClr val="10A37F">
              <a:alpha val="40000"/>
            </a:srgbClr>
          </a:solidFill>
          <a:ln/>
        </p:spPr>
      </p:sp>
      <p:sp>
        <p:nvSpPr>
          <p:cNvPr id="15" name="txt15"/>
          <p:cNvSpPr/>
          <p:nvPr/>
        </p:nvSpPr>
        <p:spPr>
          <a:xfrm>
            <a:off x="297180" y="1548580"/>
            <a:ext cx="228600" cy="2286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l">
              <a:buNone/>
            </a:pPr>
            <a:r>
              <a:rPr lang="en-US" sz="650" b="1" i="0" dirty="0">
                <a:solidFill>
                  <a:srgbClr val="10A37F"/>
                </a:solidFill>
                <a:latin typeface="Arial" pitchFamily="34" charset="0"/>
              </a:rPr>
              <a:t>01</a:t>
            </a:r>
          </a:p>
        </p:txBody>
      </p:sp>
      <p:sp>
        <p:nvSpPr>
          <p:cNvPr id="16" name="txt16"/>
          <p:cNvSpPr/>
          <p:nvPr/>
        </p:nvSpPr>
        <p:spPr>
          <a:xfrm>
            <a:off x="548640" y="1540960"/>
            <a:ext cx="2363200" cy="28575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l">
              <a:buNone/>
            </a:pPr>
            <a:r>
              <a:rPr lang="en-US" sz="950" b="1" i="0" dirty="0">
                <a:solidFill>
                  <a:srgbClr val="FFFFFF"/>
                </a:solidFill>
                <a:latin typeface="Arial" pitchFamily="34" charset="0"/>
              </a:rPr>
              <a:t>ChatGPT</a:t>
            </a:r>
          </a:p>
        </p:txBody>
      </p:sp>
      <p:sp>
        <p:nvSpPr>
          <p:cNvPr id="17" name="txt17"/>
          <p:cNvSpPr/>
          <p:nvPr/>
        </p:nvSpPr>
        <p:spPr>
          <a:xfrm>
            <a:off x="548640" y="1800040"/>
            <a:ext cx="2363200" cy="1940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l">
              <a:buNone/>
            </a:pPr>
            <a:r>
              <a:rPr lang="en-US" sz="680" b="0" i="1" dirty="0">
                <a:solidFill>
                  <a:srgbClr val="10A37F"/>
                </a:solidFill>
                <a:latin typeface="Arial" pitchFamily="34" charset="0"/>
              </a:rPr>
              <a:t>GPT-4o  ·  OpenAI</a:t>
            </a:r>
          </a:p>
        </p:txBody>
      </p:sp>
      <p:sp>
        <p:nvSpPr>
          <p:cNvPr id="18" name="txt18"/>
          <p:cNvSpPr/>
          <p:nvPr/>
        </p:nvSpPr>
        <p:spPr>
          <a:xfrm>
            <a:off x="297180" y="2005780"/>
            <a:ext cx="2606040" cy="4572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t"/>
          <a:lstStyle/>
          <a:p>
            <a:pPr marL="0" indent="0" algn="l">
              <a:buNone/>
            </a:pPr>
            <a:r>
              <a:rPr lang="en-US" sz="680" b="0" i="0" dirty="0">
                <a:solidFill>
                  <a:srgbClr val="AAAAAA"/>
                </a:solidFill>
                <a:latin typeface="Arial" pitchFamily="34" charset="0"/>
              </a:rPr>
              <a:t>Generated SRS documentation, requirement descriptions, use case narratives, RTM content, and Q&amp;A material throughout the project.</a:t>
            </a:r>
          </a:p>
        </p:txBody>
      </p:sp>
      <p:sp>
        <p:nvSpPr>
          <p:cNvPr id="19" name="rrect19"/>
          <p:cNvSpPr/>
          <p:nvPr/>
        </p:nvSpPr>
        <p:spPr>
          <a:xfrm>
            <a:off x="3091200" y="1480000"/>
            <a:ext cx="2743200" cy="1028700"/>
          </a:xfrm>
          <a:prstGeom prst="roundRect">
            <a:avLst>
              <a:gd name="adj" fmla="val 8000"/>
            </a:avLst>
          </a:prstGeom>
          <a:solidFill>
            <a:srgbClr val="2A2A2A"/>
          </a:solidFill>
          <a:ln/>
        </p:spPr>
      </p:sp>
      <p:sp>
        <p:nvSpPr>
          <p:cNvPr id="20" name="rrect20"/>
          <p:cNvSpPr/>
          <p:nvPr/>
        </p:nvSpPr>
        <p:spPr>
          <a:xfrm>
            <a:off x="3091200" y="1480000"/>
            <a:ext cx="54864" cy="1028700"/>
          </a:xfrm>
          <a:prstGeom prst="roundRect">
            <a:avLst>
              <a:gd name="adj" fmla="val 8000"/>
            </a:avLst>
          </a:prstGeom>
          <a:solidFill>
            <a:srgbClr val="CC785C"/>
          </a:solidFill>
          <a:ln/>
        </p:spPr>
      </p:sp>
      <p:sp>
        <p:nvSpPr>
          <p:cNvPr id="21" name="ell21"/>
          <p:cNvSpPr/>
          <p:nvPr/>
        </p:nvSpPr>
        <p:spPr>
          <a:xfrm>
            <a:off x="3159780" y="1548580"/>
            <a:ext cx="228600" cy="228600"/>
          </a:xfrm>
          <a:prstGeom prst="ellipse">
            <a:avLst/>
          </a:prstGeom>
          <a:solidFill>
            <a:srgbClr val="CC785C">
              <a:alpha val="40000"/>
            </a:srgbClr>
          </a:solidFill>
          <a:ln/>
        </p:spPr>
      </p:sp>
      <p:sp>
        <p:nvSpPr>
          <p:cNvPr id="22" name="txt22"/>
          <p:cNvSpPr/>
          <p:nvPr/>
        </p:nvSpPr>
        <p:spPr>
          <a:xfrm>
            <a:off x="3159780" y="1548580"/>
            <a:ext cx="228600" cy="2286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l">
              <a:buNone/>
            </a:pPr>
            <a:r>
              <a:rPr lang="en-US" sz="650" b="1" i="0" dirty="0">
                <a:solidFill>
                  <a:srgbClr val="CC785C"/>
                </a:solidFill>
                <a:latin typeface="Arial" pitchFamily="34" charset="0"/>
              </a:rPr>
              <a:t>02</a:t>
            </a:r>
          </a:p>
        </p:txBody>
      </p:sp>
      <p:sp>
        <p:nvSpPr>
          <p:cNvPr id="23" name="txt23"/>
          <p:cNvSpPr/>
          <p:nvPr/>
        </p:nvSpPr>
        <p:spPr>
          <a:xfrm>
            <a:off x="3411240" y="1540960"/>
            <a:ext cx="2363200" cy="28575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l">
              <a:buNone/>
            </a:pPr>
            <a:r>
              <a:rPr lang="en-US" sz="950" b="1" i="0" dirty="0">
                <a:solidFill>
                  <a:srgbClr val="FFFFFF"/>
                </a:solidFill>
                <a:latin typeface="Arial" pitchFamily="34" charset="0"/>
              </a:rPr>
              <a:t>Claude (Anthropic)</a:t>
            </a:r>
          </a:p>
        </p:txBody>
      </p:sp>
      <p:sp>
        <p:nvSpPr>
          <p:cNvPr id="24" name="txt24"/>
          <p:cNvSpPr/>
          <p:nvPr/>
        </p:nvSpPr>
        <p:spPr>
          <a:xfrm>
            <a:off x="3411240" y="1800040"/>
            <a:ext cx="2363200" cy="1940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l">
              <a:buNone/>
            </a:pPr>
            <a:r>
              <a:rPr lang="en-US" sz="680" b="0" i="1" dirty="0">
                <a:solidFill>
                  <a:srgbClr val="CC785C"/>
                </a:solidFill>
                <a:latin typeface="Arial" pitchFamily="34" charset="0"/>
              </a:rPr>
              <a:t>Claude Sonnet  ·  Anthropic</a:t>
            </a:r>
          </a:p>
        </p:txBody>
      </p:sp>
      <p:sp>
        <p:nvSpPr>
          <p:cNvPr id="25" name="txt25"/>
          <p:cNvSpPr/>
          <p:nvPr/>
        </p:nvSpPr>
        <p:spPr>
          <a:xfrm>
            <a:off x="3159780" y="2005780"/>
            <a:ext cx="2606040" cy="4572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t"/>
          <a:lstStyle/>
          <a:p>
            <a:pPr marL="0" indent="0" algn="l">
              <a:buNone/>
            </a:pPr>
            <a:r>
              <a:rPr lang="en-US" sz="680" b="0" i="0" dirty="0">
                <a:solidFill>
                  <a:srgbClr val="AAAAAA"/>
                </a:solidFill>
                <a:latin typeface="Arial" pitchFamily="34" charset="0"/>
              </a:rPr>
              <a:t>Built the PPTX presentation, generated slide layouts, created the RTM slides, and produced structured technical content for diagrams.</a:t>
            </a:r>
          </a:p>
        </p:txBody>
      </p:sp>
      <p:sp>
        <p:nvSpPr>
          <p:cNvPr id="26" name="rrect26"/>
          <p:cNvSpPr/>
          <p:nvPr/>
        </p:nvSpPr>
        <p:spPr>
          <a:xfrm>
            <a:off x="5953800" y="1480000"/>
            <a:ext cx="2743200" cy="1028700"/>
          </a:xfrm>
          <a:prstGeom prst="roundRect">
            <a:avLst>
              <a:gd name="adj" fmla="val 8000"/>
            </a:avLst>
          </a:prstGeom>
          <a:solidFill>
            <a:srgbClr val="2A2A2A"/>
          </a:solidFill>
          <a:ln/>
        </p:spPr>
      </p:sp>
      <p:sp>
        <p:nvSpPr>
          <p:cNvPr id="27" name="rrect27"/>
          <p:cNvSpPr/>
          <p:nvPr/>
        </p:nvSpPr>
        <p:spPr>
          <a:xfrm>
            <a:off x="5953800" y="1480000"/>
            <a:ext cx="54864" cy="1028700"/>
          </a:xfrm>
          <a:prstGeom prst="roundRect">
            <a:avLst>
              <a:gd name="adj" fmla="val 8000"/>
            </a:avLst>
          </a:prstGeom>
          <a:solidFill>
            <a:srgbClr val="6E40C9"/>
          </a:solidFill>
          <a:ln/>
        </p:spPr>
      </p:sp>
      <p:sp>
        <p:nvSpPr>
          <p:cNvPr id="28" name="ell28"/>
          <p:cNvSpPr/>
          <p:nvPr/>
        </p:nvSpPr>
        <p:spPr>
          <a:xfrm>
            <a:off x="6022380" y="1548580"/>
            <a:ext cx="228600" cy="228600"/>
          </a:xfrm>
          <a:prstGeom prst="ellipse">
            <a:avLst/>
          </a:prstGeom>
          <a:solidFill>
            <a:srgbClr val="6E40C9">
              <a:alpha val="40000"/>
            </a:srgbClr>
          </a:solidFill>
          <a:ln/>
        </p:spPr>
      </p:sp>
      <p:sp>
        <p:nvSpPr>
          <p:cNvPr id="29" name="txt29"/>
          <p:cNvSpPr/>
          <p:nvPr/>
        </p:nvSpPr>
        <p:spPr>
          <a:xfrm>
            <a:off x="6022380" y="1548580"/>
            <a:ext cx="228600" cy="2286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l">
              <a:buNone/>
            </a:pPr>
            <a:r>
              <a:rPr lang="en-US" sz="650" b="1" i="0" dirty="0">
                <a:solidFill>
                  <a:srgbClr val="6E40C9"/>
                </a:solidFill>
                <a:latin typeface="Arial" pitchFamily="34" charset="0"/>
              </a:rPr>
              <a:t>03</a:t>
            </a:r>
          </a:p>
        </p:txBody>
      </p:sp>
      <p:sp>
        <p:nvSpPr>
          <p:cNvPr id="30" name="txt30"/>
          <p:cNvSpPr/>
          <p:nvPr/>
        </p:nvSpPr>
        <p:spPr>
          <a:xfrm>
            <a:off x="6273840" y="1540960"/>
            <a:ext cx="2363200" cy="28575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l">
              <a:buNone/>
            </a:pPr>
            <a:r>
              <a:rPr lang="en-US" sz="950" b="1" i="0" dirty="0">
                <a:solidFill>
                  <a:srgbClr val="FFFFFF"/>
                </a:solidFill>
                <a:latin typeface="Arial" pitchFamily="34" charset="0"/>
              </a:rPr>
              <a:t>GitHub Copilot</a:t>
            </a:r>
          </a:p>
        </p:txBody>
      </p:sp>
      <p:sp>
        <p:nvSpPr>
          <p:cNvPr id="31" name="txt31"/>
          <p:cNvSpPr/>
          <p:nvPr/>
        </p:nvSpPr>
        <p:spPr>
          <a:xfrm>
            <a:off x="6273840" y="1800040"/>
            <a:ext cx="2363200" cy="1940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l">
              <a:buNone/>
            </a:pPr>
            <a:r>
              <a:rPr lang="en-US" sz="680" b="0" i="1" dirty="0">
                <a:solidFill>
                  <a:srgbClr val="6E40C9"/>
                </a:solidFill>
                <a:latin typeface="Arial" pitchFamily="34" charset="0"/>
              </a:rPr>
              <a:t>AI Code Assistant  ·  GitHub</a:t>
            </a:r>
          </a:p>
        </p:txBody>
      </p:sp>
      <p:sp>
        <p:nvSpPr>
          <p:cNvPr id="32" name="txt32"/>
          <p:cNvSpPr/>
          <p:nvPr/>
        </p:nvSpPr>
        <p:spPr>
          <a:xfrm>
            <a:off x="6022380" y="2005780"/>
            <a:ext cx="2606040" cy="4572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t"/>
          <a:lstStyle/>
          <a:p>
            <a:pPr marL="0" indent="0" algn="l">
              <a:buNone/>
            </a:pPr>
            <a:r>
              <a:rPr lang="en-US" sz="680" b="0" i="0" dirty="0">
                <a:solidFill>
                  <a:srgbClr val="AAAAAA"/>
                </a:solidFill>
                <a:latin typeface="Arial" pitchFamily="34" charset="0"/>
              </a:rPr>
              <a:t>Assisted with React component code, JavaScript logic for the FOODIE web app, and auto-completing backend module scaffolding.</a:t>
            </a:r>
          </a:p>
        </p:txBody>
      </p:sp>
      <p:sp>
        <p:nvSpPr>
          <p:cNvPr id="36" name="txt36"/>
          <p:cNvSpPr/>
          <p:nvPr/>
        </p:nvSpPr>
        <p:spPr>
          <a:xfrm>
            <a:off x="297180" y="2668720"/>
            <a:ext cx="228600" cy="2286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l">
              <a:buNone/>
            </a:pPr>
            <a:endParaRPr lang="en-US" sz="650" b="1" i="0" dirty="0">
              <a:solidFill>
                <a:srgbClr val="00C4CC"/>
              </a:solidFill>
              <a:latin typeface="Arial" pitchFamily="34" charset="0"/>
            </a:endParaRPr>
          </a:p>
        </p:txBody>
      </p:sp>
      <p:sp>
        <p:nvSpPr>
          <p:cNvPr id="39" name="txt39"/>
          <p:cNvSpPr/>
          <p:nvPr/>
        </p:nvSpPr>
        <p:spPr>
          <a:xfrm>
            <a:off x="297180" y="3125920"/>
            <a:ext cx="2606040" cy="4572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t"/>
          <a:lstStyle/>
          <a:p>
            <a:pPr marL="0" indent="0" algn="l">
              <a:buNone/>
            </a:pPr>
            <a:endParaRPr lang="en-US" sz="680" b="0" i="0" dirty="0">
              <a:solidFill>
                <a:srgbClr val="AAAAAA"/>
              </a:solidFill>
              <a:latin typeface="Arial" pitchFamily="34" charset="0"/>
            </a:endParaRPr>
          </a:p>
        </p:txBody>
      </p:sp>
      <p:sp>
        <p:nvSpPr>
          <p:cNvPr id="47" name="rrect47"/>
          <p:cNvSpPr/>
          <p:nvPr/>
        </p:nvSpPr>
        <p:spPr>
          <a:xfrm>
            <a:off x="262140" y="2600140"/>
            <a:ext cx="2743200" cy="1028700"/>
          </a:xfrm>
          <a:prstGeom prst="roundRect">
            <a:avLst>
              <a:gd name="adj" fmla="val 8000"/>
            </a:avLst>
          </a:prstGeom>
          <a:solidFill>
            <a:srgbClr val="2A2A2A"/>
          </a:solidFill>
          <a:ln/>
        </p:spPr>
      </p:sp>
      <p:sp>
        <p:nvSpPr>
          <p:cNvPr id="50" name="txt50"/>
          <p:cNvSpPr/>
          <p:nvPr/>
        </p:nvSpPr>
        <p:spPr>
          <a:xfrm>
            <a:off x="316056" y="2676100"/>
            <a:ext cx="228600" cy="2286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l">
              <a:buNone/>
            </a:pPr>
            <a:r>
              <a:rPr lang="en-US" sz="650" b="1" i="0" dirty="0">
                <a:solidFill>
                  <a:srgbClr val="4285F4"/>
                </a:solidFill>
                <a:latin typeface="Arial" pitchFamily="34" charset="0"/>
              </a:rPr>
              <a:t>04</a:t>
            </a:r>
          </a:p>
        </p:txBody>
      </p:sp>
      <p:sp>
        <p:nvSpPr>
          <p:cNvPr id="52" name="txt52"/>
          <p:cNvSpPr/>
          <p:nvPr/>
        </p:nvSpPr>
        <p:spPr>
          <a:xfrm>
            <a:off x="476572" y="2908720"/>
            <a:ext cx="2363200" cy="1940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l">
              <a:buNone/>
            </a:pPr>
            <a:r>
              <a:rPr lang="en-US" sz="680" b="0" i="1" dirty="0">
                <a:solidFill>
                  <a:srgbClr val="4285F4"/>
                </a:solidFill>
                <a:latin typeface="Arial" pitchFamily="34" charset="0"/>
              </a:rPr>
              <a:t>Gemini Pro  ·  Google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CFA4C87A-87E3-4D6D-6C16-C800E45766EB}"/>
              </a:ext>
            </a:extLst>
          </p:cNvPr>
          <p:cNvGrpSpPr/>
          <p:nvPr/>
        </p:nvGrpSpPr>
        <p:grpSpPr>
          <a:xfrm>
            <a:off x="261660" y="2600140"/>
            <a:ext cx="2683240" cy="1028700"/>
            <a:chOff x="5953800" y="2600140"/>
            <a:chExt cx="2683240" cy="1028700"/>
          </a:xfrm>
        </p:grpSpPr>
        <p:sp>
          <p:nvSpPr>
            <p:cNvPr id="48" name="rrect48"/>
            <p:cNvSpPr/>
            <p:nvPr/>
          </p:nvSpPr>
          <p:spPr>
            <a:xfrm>
              <a:off x="5953800" y="2600140"/>
              <a:ext cx="54864" cy="1028700"/>
            </a:xfrm>
            <a:prstGeom prst="roundRect">
              <a:avLst>
                <a:gd name="adj" fmla="val 8000"/>
              </a:avLst>
            </a:prstGeom>
            <a:solidFill>
              <a:srgbClr val="4285F4"/>
            </a:solidFill>
            <a:ln/>
          </p:spPr>
        </p:sp>
        <p:sp>
          <p:nvSpPr>
            <p:cNvPr id="49" name="ell49"/>
            <p:cNvSpPr/>
            <p:nvPr/>
          </p:nvSpPr>
          <p:spPr>
            <a:xfrm>
              <a:off x="6022380" y="2668720"/>
              <a:ext cx="228600" cy="228600"/>
            </a:xfrm>
            <a:prstGeom prst="ellipse">
              <a:avLst/>
            </a:prstGeom>
            <a:solidFill>
              <a:srgbClr val="4285F4">
                <a:alpha val="40000"/>
              </a:srgbClr>
            </a:solidFill>
            <a:ln/>
          </p:spPr>
        </p:sp>
        <p:sp>
          <p:nvSpPr>
            <p:cNvPr id="51" name="txt51"/>
            <p:cNvSpPr/>
            <p:nvPr/>
          </p:nvSpPr>
          <p:spPr>
            <a:xfrm>
              <a:off x="6273840" y="2661100"/>
              <a:ext cx="2363200" cy="285750"/>
            </a:xfrm>
            <a:prstGeom prst="rect">
              <a:avLst/>
            </a:prstGeom>
            <a:noFill/>
            <a:ln/>
          </p:spPr>
          <p:txBody>
            <a:bodyPr wrap="square" lIns="45720" tIns="0" rIns="45720" bIns="0" rtlCol="0" anchor="ctr"/>
            <a:lstStyle/>
            <a:p>
              <a:pPr marL="0" indent="0" algn="l">
                <a:buNone/>
              </a:pPr>
              <a:r>
                <a:rPr lang="en-US" sz="950" b="1" i="0" dirty="0">
                  <a:solidFill>
                    <a:srgbClr val="FFFFFF"/>
                  </a:solidFill>
                  <a:latin typeface="Arial" pitchFamily="34" charset="0"/>
                </a:rPr>
                <a:t>Gemini</a:t>
              </a:r>
            </a:p>
          </p:txBody>
        </p:sp>
        <p:sp>
          <p:nvSpPr>
            <p:cNvPr id="53" name="txt53"/>
            <p:cNvSpPr/>
            <p:nvPr/>
          </p:nvSpPr>
          <p:spPr>
            <a:xfrm>
              <a:off x="6022380" y="3125920"/>
              <a:ext cx="2606040" cy="457200"/>
            </a:xfrm>
            <a:prstGeom prst="rect">
              <a:avLst/>
            </a:prstGeom>
            <a:noFill/>
            <a:ln/>
          </p:spPr>
          <p:txBody>
            <a:bodyPr wrap="square" lIns="45720" tIns="0" rIns="45720" bIns="0" rtlCol="0" anchor="t"/>
            <a:lstStyle/>
            <a:p>
              <a:pPr marL="0" indent="0" algn="l">
                <a:buNone/>
              </a:pPr>
              <a:r>
                <a:rPr lang="en-US" sz="680" b="0" i="0" dirty="0">
                  <a:solidFill>
                    <a:srgbClr val="AAAAAA"/>
                  </a:solidFill>
                  <a:latin typeface="Arial" pitchFamily="34" charset="0"/>
                </a:rPr>
                <a:t>Supported brainstorming of system features, activity diagram flow logic, and cross-checking of SRS section content and terminology.</a:t>
              </a:r>
            </a:p>
          </p:txBody>
        </p:sp>
      </p:grpSp>
      <p:sp>
        <p:nvSpPr>
          <p:cNvPr id="54" name="rect54"/>
          <p:cNvSpPr/>
          <p:nvPr/>
        </p:nvSpPr>
        <p:spPr>
          <a:xfrm>
            <a:off x="0" y="5258880"/>
            <a:ext cx="9144000" cy="2286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55" name="txt55"/>
          <p:cNvSpPr/>
          <p:nvPr/>
        </p:nvSpPr>
        <p:spPr>
          <a:xfrm>
            <a:off x="228600" y="5258880"/>
            <a:ext cx="8686800" cy="2286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l">
              <a:buNone/>
            </a:pPr>
            <a:r>
              <a:rPr lang="en-US" sz="650" b="0" i="0" dirty="0">
                <a:solidFill>
                  <a:srgbClr val="888888"/>
                </a:solidFill>
                <a:latin typeface="Arial" pitchFamily="34" charset="0"/>
              </a:rPr>
              <a:t>AI tools were used as assistive aids. All final decisions, design choices, and technical specifications were reviewed and approved by the team.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2"/>
          <p:cNvSpPr/>
          <p:nvPr/>
        </p:nvSpPr>
        <p:spPr>
          <a:xfrm>
            <a:off x="-1574060" y="-800200"/>
            <a:ext cx="5029200" cy="5029200"/>
          </a:xfrm>
          <a:prstGeom prst="ellipse">
            <a:avLst/>
          </a:prstGeom>
          <a:solidFill>
            <a:srgbClr val="B71C1C">
              <a:alpha val="30000"/>
            </a:srgbClr>
          </a:solidFill>
          <a:ln/>
        </p:spPr>
      </p:sp>
      <p:sp>
        <p:nvSpPr>
          <p:cNvPr id="3" name="ell3"/>
          <p:cNvSpPr/>
          <p:nvPr/>
        </p:nvSpPr>
        <p:spPr>
          <a:xfrm>
            <a:off x="6858000" y="3200000"/>
            <a:ext cx="3200000" cy="3200000"/>
          </a:xfrm>
          <a:prstGeom prst="ellipse">
            <a:avLst/>
          </a:prstGeom>
          <a:solidFill>
            <a:srgbClr val="E53935">
              <a:alpha val="20000"/>
            </a:srgbClr>
          </a:solidFill>
          <a:ln/>
        </p:spPr>
      </p:sp>
      <p:sp>
        <p:nvSpPr>
          <p:cNvPr id="4" name="ell4"/>
          <p:cNvSpPr/>
          <p:nvPr/>
        </p:nvSpPr>
        <p:spPr>
          <a:xfrm>
            <a:off x="3500000" y="4500000"/>
            <a:ext cx="2500000" cy="2500000"/>
          </a:xfrm>
          <a:prstGeom prst="ellipse">
            <a:avLst/>
          </a:prstGeom>
          <a:solidFill>
            <a:srgbClr val="FF5252">
              <a:alpha val="15000"/>
            </a:srgbClr>
          </a:solidFill>
          <a:ln/>
        </p:spPr>
      </p:sp>
      <p:sp>
        <p:nvSpPr>
          <p:cNvPr id="5" name="rect5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" name="rect6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7" name="txt7"/>
          <p:cNvSpPr/>
          <p:nvPr/>
        </p:nvSpPr>
        <p:spPr>
          <a:xfrm>
            <a:off x="228600" y="0"/>
            <a:ext cx="7000000" cy="6858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l">
              <a:buNone/>
            </a:pPr>
            <a:r>
              <a:rPr lang="en-US" sz="1600" b="1" i="0" dirty="0">
                <a:solidFill>
                  <a:srgbClr val="FFFFFF"/>
                </a:solidFill>
                <a:latin typeface="Arial" pitchFamily="34" charset="0"/>
              </a:rPr>
              <a:t>REFERENCES</a:t>
            </a:r>
          </a:p>
        </p:txBody>
      </p:sp>
      <p:sp>
        <p:nvSpPr>
          <p:cNvPr id="8" name="txt8"/>
          <p:cNvSpPr/>
          <p:nvPr/>
        </p:nvSpPr>
        <p:spPr>
          <a:xfrm>
            <a:off x="6500000" y="0"/>
            <a:ext cx="2500000" cy="6858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r">
              <a:buNone/>
            </a:pPr>
            <a:r>
              <a:rPr lang="en-US" sz="750" b="0" i="0" dirty="0">
                <a:solidFill>
                  <a:srgbClr val="FFC107"/>
                </a:solidFill>
                <a:latin typeface="Arial" pitchFamily="34" charset="0"/>
              </a:rPr>
              <a:t>FOODIE  ·  SRS v1.1</a:t>
            </a:r>
          </a:p>
        </p:txBody>
      </p:sp>
      <p:sp>
        <p:nvSpPr>
          <p:cNvPr id="9" name="rrect9"/>
          <p:cNvSpPr/>
          <p:nvPr/>
        </p:nvSpPr>
        <p:spPr>
          <a:xfrm>
            <a:off x="228600" y="800000"/>
            <a:ext cx="2800000" cy="274320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/>
        </p:spPr>
      </p:sp>
      <p:sp>
        <p:nvSpPr>
          <p:cNvPr id="10" name="txt10"/>
          <p:cNvSpPr/>
          <p:nvPr/>
        </p:nvSpPr>
        <p:spPr>
          <a:xfrm>
            <a:off x="228600" y="800000"/>
            <a:ext cx="2800000" cy="27432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l">
              <a:buNone/>
            </a:pPr>
            <a:r>
              <a:rPr lang="en-US" sz="850" b="1" i="0" dirty="0">
                <a:solidFill>
                  <a:srgbClr val="FFFFFF"/>
                </a:solidFill>
                <a:latin typeface="Arial" pitchFamily="34" charset="0"/>
              </a:rPr>
              <a:t>  SOFTWARE &amp; DIAGRAM TOOLS</a:t>
            </a:r>
          </a:p>
        </p:txBody>
      </p:sp>
      <p:sp>
        <p:nvSpPr>
          <p:cNvPr id="11" name="txt11"/>
          <p:cNvSpPr/>
          <p:nvPr/>
        </p:nvSpPr>
        <p:spPr>
          <a:xfrm>
            <a:off x="228600" y="1150000"/>
            <a:ext cx="8600000" cy="2286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l">
              <a:buNone/>
            </a:pPr>
            <a:r>
              <a:rPr lang="en-US" sz="780" b="0" i="0" dirty="0">
                <a:solidFill>
                  <a:srgbClr val="CCCCCC"/>
                </a:solidFill>
                <a:latin typeface="Arial" pitchFamily="34" charset="0"/>
              </a:rPr>
              <a:t>The following software, platforms, and tools were used to build, diagram, design, and document the FOODIE system.</a:t>
            </a:r>
          </a:p>
        </p:txBody>
      </p:sp>
      <p:sp>
        <p:nvSpPr>
          <p:cNvPr id="12" name="rrect12"/>
          <p:cNvSpPr/>
          <p:nvPr/>
        </p:nvSpPr>
        <p:spPr>
          <a:xfrm>
            <a:off x="228600" y="1394360"/>
            <a:ext cx="4343400" cy="685800"/>
          </a:xfrm>
          <a:prstGeom prst="roundRect">
            <a:avLst>
              <a:gd name="adj" fmla="val 8000"/>
            </a:avLst>
          </a:prstGeom>
          <a:solidFill>
            <a:srgbClr val="2A2A2A"/>
          </a:solidFill>
          <a:ln/>
        </p:spPr>
      </p:sp>
      <p:sp>
        <p:nvSpPr>
          <p:cNvPr id="13" name="rrect13"/>
          <p:cNvSpPr/>
          <p:nvPr/>
        </p:nvSpPr>
        <p:spPr>
          <a:xfrm>
            <a:off x="228600" y="1394360"/>
            <a:ext cx="45720" cy="685800"/>
          </a:xfrm>
          <a:prstGeom prst="roundRect">
            <a:avLst>
              <a:gd name="adj" fmla="val 8000"/>
            </a:avLst>
          </a:prstGeom>
          <a:solidFill>
            <a:srgbClr val="D83B01"/>
          </a:solidFill>
          <a:ln/>
        </p:spPr>
      </p:sp>
      <p:sp>
        <p:nvSpPr>
          <p:cNvPr id="14" name="ell14"/>
          <p:cNvSpPr/>
          <p:nvPr/>
        </p:nvSpPr>
        <p:spPr>
          <a:xfrm>
            <a:off x="289560" y="1531520"/>
            <a:ext cx="182880" cy="182880"/>
          </a:xfrm>
          <a:prstGeom prst="ellipse">
            <a:avLst/>
          </a:prstGeom>
          <a:solidFill>
            <a:srgbClr val="D83B01">
              <a:alpha val="35000"/>
            </a:srgbClr>
          </a:solidFill>
          <a:ln/>
        </p:spPr>
      </p:sp>
      <p:sp>
        <p:nvSpPr>
          <p:cNvPr id="15" name="txt15"/>
          <p:cNvSpPr/>
          <p:nvPr/>
        </p:nvSpPr>
        <p:spPr>
          <a:xfrm>
            <a:off x="289560" y="1531520"/>
            <a:ext cx="182880" cy="18288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l">
              <a:buNone/>
            </a:pPr>
            <a:r>
              <a:rPr lang="en-US" sz="600" b="1" i="0" dirty="0">
                <a:solidFill>
                  <a:srgbClr val="D83B01"/>
                </a:solidFill>
                <a:latin typeface="Arial" pitchFamily="34" charset="0"/>
              </a:rPr>
              <a:t>01</a:t>
            </a:r>
          </a:p>
        </p:txBody>
      </p:sp>
      <p:sp>
        <p:nvSpPr>
          <p:cNvPr id="16" name="txt16"/>
          <p:cNvSpPr/>
          <p:nvPr/>
        </p:nvSpPr>
        <p:spPr>
          <a:xfrm>
            <a:off x="502920" y="1440080"/>
            <a:ext cx="4023360" cy="2286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l">
              <a:buNone/>
            </a:pPr>
            <a:r>
              <a:rPr lang="en-US" sz="850" b="1" i="0" dirty="0">
                <a:solidFill>
                  <a:srgbClr val="FFFFFF"/>
                </a:solidFill>
                <a:latin typeface="Arial" pitchFamily="34" charset="0"/>
              </a:rPr>
              <a:t>Microsoft PowerPoint</a:t>
            </a:r>
          </a:p>
        </p:txBody>
      </p:sp>
      <p:sp>
        <p:nvSpPr>
          <p:cNvPr id="17" name="txt17"/>
          <p:cNvSpPr/>
          <p:nvPr/>
        </p:nvSpPr>
        <p:spPr>
          <a:xfrm>
            <a:off x="502920" y="1654360"/>
            <a:ext cx="4023360" cy="1600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l">
              <a:buNone/>
            </a:pPr>
            <a:r>
              <a:rPr lang="en-US" sz="650" b="0" i="1" dirty="0">
                <a:solidFill>
                  <a:srgbClr val="D83B01"/>
                </a:solidFill>
                <a:latin typeface="Arial" pitchFamily="34" charset="0"/>
              </a:rPr>
              <a:t>Presentation  ·  Microsoft 365</a:t>
            </a:r>
          </a:p>
        </p:txBody>
      </p:sp>
      <p:sp>
        <p:nvSpPr>
          <p:cNvPr id="18" name="txt18"/>
          <p:cNvSpPr/>
          <p:nvPr/>
        </p:nvSpPr>
        <p:spPr>
          <a:xfrm>
            <a:off x="289560" y="1794360"/>
            <a:ext cx="4229400" cy="2600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t"/>
          <a:lstStyle/>
          <a:p>
            <a:pPr marL="0" indent="0" algn="l">
              <a:buNone/>
            </a:pPr>
            <a:r>
              <a:rPr lang="en-US" sz="640" b="0" i="0" dirty="0">
                <a:solidFill>
                  <a:srgbClr val="AAAAAA"/>
                </a:solidFill>
                <a:latin typeface="Arial" pitchFamily="34" charset="0"/>
              </a:rPr>
              <a:t>Used as the target output format for all slides. Presentation structure, slide layouts, and formatting were planned around PPTX compatibility.</a:t>
            </a:r>
          </a:p>
        </p:txBody>
      </p:sp>
      <p:sp>
        <p:nvSpPr>
          <p:cNvPr id="19" name="rrect19"/>
          <p:cNvSpPr/>
          <p:nvPr/>
        </p:nvSpPr>
        <p:spPr>
          <a:xfrm>
            <a:off x="4617600" y="1394360"/>
            <a:ext cx="4343400" cy="685800"/>
          </a:xfrm>
          <a:prstGeom prst="roundRect">
            <a:avLst>
              <a:gd name="adj" fmla="val 8000"/>
            </a:avLst>
          </a:prstGeom>
          <a:solidFill>
            <a:srgbClr val="2A2A2A"/>
          </a:solidFill>
          <a:ln/>
        </p:spPr>
      </p:sp>
      <p:sp>
        <p:nvSpPr>
          <p:cNvPr id="20" name="rrect20"/>
          <p:cNvSpPr/>
          <p:nvPr/>
        </p:nvSpPr>
        <p:spPr>
          <a:xfrm>
            <a:off x="4617600" y="1394360"/>
            <a:ext cx="45720" cy="685800"/>
          </a:xfrm>
          <a:prstGeom prst="roundRect">
            <a:avLst>
              <a:gd name="adj" fmla="val 8000"/>
            </a:avLst>
          </a:prstGeom>
          <a:solidFill>
            <a:srgbClr val="F08705"/>
          </a:solidFill>
          <a:ln/>
        </p:spPr>
      </p:sp>
      <p:sp>
        <p:nvSpPr>
          <p:cNvPr id="21" name="ell21"/>
          <p:cNvSpPr/>
          <p:nvPr/>
        </p:nvSpPr>
        <p:spPr>
          <a:xfrm>
            <a:off x="4678560" y="1531520"/>
            <a:ext cx="182880" cy="182880"/>
          </a:xfrm>
          <a:prstGeom prst="ellipse">
            <a:avLst/>
          </a:prstGeom>
          <a:solidFill>
            <a:srgbClr val="F08705">
              <a:alpha val="35000"/>
            </a:srgbClr>
          </a:solidFill>
          <a:ln/>
        </p:spPr>
      </p:sp>
      <p:sp>
        <p:nvSpPr>
          <p:cNvPr id="22" name="txt22"/>
          <p:cNvSpPr/>
          <p:nvPr/>
        </p:nvSpPr>
        <p:spPr>
          <a:xfrm>
            <a:off x="4678560" y="1531520"/>
            <a:ext cx="182880" cy="18288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l">
              <a:buNone/>
            </a:pPr>
            <a:r>
              <a:rPr lang="en-US" sz="600" b="1" i="0" dirty="0">
                <a:solidFill>
                  <a:srgbClr val="F08705"/>
                </a:solidFill>
                <a:latin typeface="Arial" pitchFamily="34" charset="0"/>
              </a:rPr>
              <a:t>02</a:t>
            </a:r>
          </a:p>
        </p:txBody>
      </p:sp>
      <p:sp>
        <p:nvSpPr>
          <p:cNvPr id="23" name="txt23"/>
          <p:cNvSpPr/>
          <p:nvPr/>
        </p:nvSpPr>
        <p:spPr>
          <a:xfrm>
            <a:off x="4891920" y="1440080"/>
            <a:ext cx="4023360" cy="2286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l">
              <a:buNone/>
            </a:pPr>
            <a:r>
              <a:rPr lang="en-US" sz="850" b="1" i="0" dirty="0">
                <a:solidFill>
                  <a:srgbClr val="FFFFFF"/>
                </a:solidFill>
                <a:latin typeface="Arial" pitchFamily="34" charset="0"/>
              </a:rPr>
              <a:t>draw.io / diagrams.net</a:t>
            </a:r>
          </a:p>
        </p:txBody>
      </p:sp>
      <p:sp>
        <p:nvSpPr>
          <p:cNvPr id="24" name="txt24"/>
          <p:cNvSpPr/>
          <p:nvPr/>
        </p:nvSpPr>
        <p:spPr>
          <a:xfrm>
            <a:off x="4891920" y="1654360"/>
            <a:ext cx="4023360" cy="1600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l">
              <a:buNone/>
            </a:pPr>
            <a:r>
              <a:rPr lang="en-US" sz="650" b="0" i="1" dirty="0">
                <a:solidFill>
                  <a:srgbClr val="F08705"/>
                </a:solidFill>
                <a:latin typeface="Arial" pitchFamily="34" charset="0"/>
              </a:rPr>
              <a:t>Diagramming  ·  JGraph Ltd</a:t>
            </a:r>
          </a:p>
        </p:txBody>
      </p:sp>
      <p:sp>
        <p:nvSpPr>
          <p:cNvPr id="25" name="txt25"/>
          <p:cNvSpPr/>
          <p:nvPr/>
        </p:nvSpPr>
        <p:spPr>
          <a:xfrm>
            <a:off x="4678560" y="1794360"/>
            <a:ext cx="4229400" cy="2600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t"/>
          <a:lstStyle/>
          <a:p>
            <a:pPr marL="0" indent="0" algn="l">
              <a:buNone/>
            </a:pPr>
            <a:r>
              <a:rPr lang="en-US" sz="640" b="0" i="0" dirty="0">
                <a:solidFill>
                  <a:srgbClr val="AAAAAA"/>
                </a:solidFill>
                <a:latin typeface="Arial" pitchFamily="34" charset="0"/>
              </a:rPr>
              <a:t>Primary tool for creating Context, Use Case, Architecture, Sequence, Activity, ER, and Implementation diagrams used in the SRS appendix.</a:t>
            </a:r>
          </a:p>
        </p:txBody>
      </p:sp>
      <p:sp>
        <p:nvSpPr>
          <p:cNvPr id="28" name="ell28"/>
          <p:cNvSpPr/>
          <p:nvPr/>
        </p:nvSpPr>
        <p:spPr>
          <a:xfrm>
            <a:off x="4716800" y="2201890"/>
            <a:ext cx="182880" cy="182880"/>
          </a:xfrm>
          <a:prstGeom prst="ellipse">
            <a:avLst/>
          </a:prstGeom>
          <a:solidFill>
            <a:srgbClr val="A259FF">
              <a:alpha val="35000"/>
            </a:srgbClr>
          </a:solidFill>
          <a:ln/>
        </p:spPr>
      </p:sp>
      <p:sp>
        <p:nvSpPr>
          <p:cNvPr id="33" name="rrect33"/>
          <p:cNvSpPr/>
          <p:nvPr/>
        </p:nvSpPr>
        <p:spPr>
          <a:xfrm>
            <a:off x="297200" y="2142900"/>
            <a:ext cx="4343400" cy="685800"/>
          </a:xfrm>
          <a:prstGeom prst="roundRect">
            <a:avLst>
              <a:gd name="adj" fmla="val 8000"/>
            </a:avLst>
          </a:prstGeom>
          <a:solidFill>
            <a:srgbClr val="2A2A2A"/>
          </a:solidFill>
          <a:ln/>
        </p:spPr>
        <p:txBody>
          <a:bodyPr/>
          <a:lstStyle/>
          <a:p>
            <a:r>
              <a:rPr lang="en-US" sz="900" dirty="0"/>
              <a:t>03</a:t>
            </a:r>
          </a:p>
        </p:txBody>
      </p:sp>
      <p:sp>
        <p:nvSpPr>
          <p:cNvPr id="34" name="rrect34"/>
          <p:cNvSpPr/>
          <p:nvPr/>
        </p:nvSpPr>
        <p:spPr>
          <a:xfrm>
            <a:off x="258980" y="2148740"/>
            <a:ext cx="45720" cy="685800"/>
          </a:xfrm>
          <a:prstGeom prst="roundRect">
            <a:avLst>
              <a:gd name="adj" fmla="val 8000"/>
            </a:avLst>
          </a:prstGeom>
          <a:solidFill>
            <a:srgbClr val="007ACC"/>
          </a:solidFill>
          <a:ln/>
        </p:spPr>
      </p:sp>
      <p:sp>
        <p:nvSpPr>
          <p:cNvPr id="35" name="ell35"/>
          <p:cNvSpPr/>
          <p:nvPr/>
        </p:nvSpPr>
        <p:spPr>
          <a:xfrm>
            <a:off x="335180" y="2164840"/>
            <a:ext cx="241900" cy="219930"/>
          </a:xfrm>
          <a:prstGeom prst="ellipse">
            <a:avLst/>
          </a:prstGeom>
          <a:solidFill>
            <a:srgbClr val="007ACC">
              <a:alpha val="35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7" name="txt37"/>
          <p:cNvSpPr/>
          <p:nvPr/>
        </p:nvSpPr>
        <p:spPr>
          <a:xfrm>
            <a:off x="632480" y="2201560"/>
            <a:ext cx="4023360" cy="2286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l">
              <a:buNone/>
            </a:pPr>
            <a:r>
              <a:rPr lang="en-US" sz="850" b="1" i="0" dirty="0">
                <a:solidFill>
                  <a:srgbClr val="FFFFFF"/>
                </a:solidFill>
                <a:latin typeface="Arial" pitchFamily="34" charset="0"/>
              </a:rPr>
              <a:t>Visual Studio Code</a:t>
            </a:r>
          </a:p>
        </p:txBody>
      </p:sp>
      <p:sp>
        <p:nvSpPr>
          <p:cNvPr id="38" name="txt38"/>
          <p:cNvSpPr/>
          <p:nvPr/>
        </p:nvSpPr>
        <p:spPr>
          <a:xfrm>
            <a:off x="571520" y="2349900"/>
            <a:ext cx="4023360" cy="1600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l">
              <a:buNone/>
            </a:pPr>
            <a:r>
              <a:rPr lang="en-US" sz="650" b="0" i="1" dirty="0">
                <a:solidFill>
                  <a:srgbClr val="007ACC"/>
                </a:solidFill>
                <a:latin typeface="Arial" pitchFamily="34" charset="0"/>
              </a:rPr>
              <a:t>Code Editor  ·  Microsoft</a:t>
            </a:r>
          </a:p>
        </p:txBody>
      </p:sp>
      <p:sp>
        <p:nvSpPr>
          <p:cNvPr id="39" name="txt39"/>
          <p:cNvSpPr/>
          <p:nvPr/>
        </p:nvSpPr>
        <p:spPr>
          <a:xfrm>
            <a:off x="502920" y="2540410"/>
            <a:ext cx="4229400" cy="2600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t"/>
          <a:lstStyle/>
          <a:p>
            <a:pPr marL="0" indent="0" algn="l">
              <a:buNone/>
            </a:pPr>
            <a:r>
              <a:rPr lang="en-US" sz="640" b="0" i="0" dirty="0">
                <a:solidFill>
                  <a:srgbClr val="AAAAAA"/>
                </a:solidFill>
                <a:latin typeface="Arial" pitchFamily="34" charset="0"/>
              </a:rPr>
              <a:t>Development environment used for writing the FOODIE React web application, component code, and all JavaScript/HTML/CSS implementation.</a:t>
            </a:r>
          </a:p>
        </p:txBody>
      </p:sp>
      <p:sp>
        <p:nvSpPr>
          <p:cNvPr id="40" name="rrect40"/>
          <p:cNvSpPr/>
          <p:nvPr/>
        </p:nvSpPr>
        <p:spPr>
          <a:xfrm>
            <a:off x="228600" y="2903120"/>
            <a:ext cx="4343400" cy="685800"/>
          </a:xfrm>
          <a:prstGeom prst="roundRect">
            <a:avLst>
              <a:gd name="adj" fmla="val 8000"/>
            </a:avLst>
          </a:prstGeom>
          <a:solidFill>
            <a:srgbClr val="2A2A2A"/>
          </a:solidFill>
          <a:ln/>
        </p:spPr>
      </p:sp>
      <p:sp>
        <p:nvSpPr>
          <p:cNvPr id="41" name="rrect41"/>
          <p:cNvSpPr/>
          <p:nvPr/>
        </p:nvSpPr>
        <p:spPr>
          <a:xfrm>
            <a:off x="228600" y="2903120"/>
            <a:ext cx="45720" cy="685800"/>
          </a:xfrm>
          <a:prstGeom prst="roundRect">
            <a:avLst>
              <a:gd name="adj" fmla="val 8000"/>
            </a:avLst>
          </a:prstGeom>
          <a:solidFill>
            <a:srgbClr val="68A063"/>
          </a:solidFill>
          <a:ln/>
        </p:spPr>
      </p:sp>
      <p:sp>
        <p:nvSpPr>
          <p:cNvPr id="42" name="ell42"/>
          <p:cNvSpPr/>
          <p:nvPr/>
        </p:nvSpPr>
        <p:spPr>
          <a:xfrm>
            <a:off x="289560" y="3040280"/>
            <a:ext cx="182880" cy="182880"/>
          </a:xfrm>
          <a:prstGeom prst="ellipse">
            <a:avLst/>
          </a:prstGeom>
          <a:solidFill>
            <a:srgbClr val="68A063">
              <a:alpha val="35000"/>
            </a:srgbClr>
          </a:solidFill>
          <a:ln/>
        </p:spPr>
      </p:sp>
      <p:sp>
        <p:nvSpPr>
          <p:cNvPr id="43" name="txt43"/>
          <p:cNvSpPr/>
          <p:nvPr/>
        </p:nvSpPr>
        <p:spPr>
          <a:xfrm>
            <a:off x="289560" y="3040280"/>
            <a:ext cx="182880" cy="18288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l">
              <a:buNone/>
            </a:pPr>
            <a:r>
              <a:rPr lang="en-US" sz="600" b="1" i="0" dirty="0">
                <a:solidFill>
                  <a:srgbClr val="68A063"/>
                </a:solidFill>
                <a:latin typeface="Arial" pitchFamily="34" charset="0"/>
              </a:rPr>
              <a:t>05</a:t>
            </a:r>
          </a:p>
        </p:txBody>
      </p:sp>
      <p:sp>
        <p:nvSpPr>
          <p:cNvPr id="44" name="txt44"/>
          <p:cNvSpPr/>
          <p:nvPr/>
        </p:nvSpPr>
        <p:spPr>
          <a:xfrm>
            <a:off x="502920" y="2948840"/>
            <a:ext cx="4023360" cy="2286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l">
              <a:buNone/>
            </a:pPr>
            <a:r>
              <a:rPr lang="en-US" sz="850" b="1" i="0" dirty="0">
                <a:solidFill>
                  <a:srgbClr val="FFFFFF"/>
                </a:solidFill>
                <a:latin typeface="Arial" pitchFamily="34" charset="0"/>
              </a:rPr>
              <a:t>Node.js &amp; Express.js</a:t>
            </a:r>
          </a:p>
        </p:txBody>
      </p:sp>
      <p:sp>
        <p:nvSpPr>
          <p:cNvPr id="45" name="txt45"/>
          <p:cNvSpPr/>
          <p:nvPr/>
        </p:nvSpPr>
        <p:spPr>
          <a:xfrm>
            <a:off x="502920" y="3163120"/>
            <a:ext cx="4023360" cy="1600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l">
              <a:buNone/>
            </a:pPr>
            <a:r>
              <a:rPr lang="en-US" sz="650" b="0" i="1" dirty="0">
                <a:solidFill>
                  <a:srgbClr val="68A063"/>
                </a:solidFill>
                <a:latin typeface="Arial" pitchFamily="34" charset="0"/>
              </a:rPr>
              <a:t>Backend Runtime  ·  OpenJS Foundation</a:t>
            </a:r>
          </a:p>
        </p:txBody>
      </p:sp>
      <p:sp>
        <p:nvSpPr>
          <p:cNvPr id="46" name="txt46"/>
          <p:cNvSpPr/>
          <p:nvPr/>
        </p:nvSpPr>
        <p:spPr>
          <a:xfrm>
            <a:off x="289560" y="3303120"/>
            <a:ext cx="4229400" cy="2600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t"/>
          <a:lstStyle/>
          <a:p>
            <a:pPr marL="0" indent="0" algn="l">
              <a:buNone/>
            </a:pPr>
            <a:r>
              <a:rPr lang="en-US" sz="640" b="0" i="0" dirty="0">
                <a:solidFill>
                  <a:srgbClr val="AAAAAA"/>
                </a:solidFill>
                <a:latin typeface="Arial" pitchFamily="34" charset="0"/>
              </a:rPr>
              <a:t>Planned backend framework for FOODIE microservices. REST API structure, routing logic, and service scaffolding follow Express conventions.</a:t>
            </a:r>
          </a:p>
        </p:txBody>
      </p:sp>
      <p:sp>
        <p:nvSpPr>
          <p:cNvPr id="61" name="rrect61"/>
          <p:cNvSpPr/>
          <p:nvPr/>
        </p:nvSpPr>
        <p:spPr>
          <a:xfrm>
            <a:off x="4617600" y="2148740"/>
            <a:ext cx="4343400" cy="685800"/>
          </a:xfrm>
          <a:prstGeom prst="roundRect">
            <a:avLst>
              <a:gd name="adj" fmla="val 8000"/>
            </a:avLst>
          </a:prstGeom>
          <a:solidFill>
            <a:srgbClr val="2A2A2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2" name="rrect62"/>
          <p:cNvSpPr/>
          <p:nvPr/>
        </p:nvSpPr>
        <p:spPr>
          <a:xfrm>
            <a:off x="4617600" y="2156360"/>
            <a:ext cx="45720" cy="685800"/>
          </a:xfrm>
          <a:prstGeom prst="roundRect">
            <a:avLst>
              <a:gd name="adj" fmla="val 8000"/>
            </a:avLst>
          </a:prstGeom>
          <a:solidFill>
            <a:srgbClr val="333333"/>
          </a:solidFill>
          <a:ln/>
        </p:spPr>
      </p:sp>
      <p:sp>
        <p:nvSpPr>
          <p:cNvPr id="63" name="ell63"/>
          <p:cNvSpPr/>
          <p:nvPr/>
        </p:nvSpPr>
        <p:spPr>
          <a:xfrm>
            <a:off x="4678560" y="2202080"/>
            <a:ext cx="182880" cy="182880"/>
          </a:xfrm>
          <a:prstGeom prst="ellipse">
            <a:avLst/>
          </a:prstGeom>
          <a:solidFill>
            <a:srgbClr val="333333">
              <a:alpha val="35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4" name="txt64"/>
          <p:cNvSpPr/>
          <p:nvPr/>
        </p:nvSpPr>
        <p:spPr>
          <a:xfrm>
            <a:off x="4693800" y="2202080"/>
            <a:ext cx="236360" cy="21984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l">
              <a:buNone/>
            </a:pPr>
            <a:r>
              <a:rPr lang="en-US" sz="6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 pitchFamily="34" charset="0"/>
              </a:rPr>
              <a:t>04</a:t>
            </a:r>
            <a:endParaRPr lang="en-US" sz="600" b="1" i="0" dirty="0">
              <a:solidFill>
                <a:schemeClr val="accent1">
                  <a:lumMod val="40000"/>
                  <a:lumOff val="60000"/>
                </a:schemeClr>
              </a:solidFill>
              <a:latin typeface="Arial" pitchFamily="34" charset="0"/>
            </a:endParaRPr>
          </a:p>
        </p:txBody>
      </p:sp>
      <p:sp>
        <p:nvSpPr>
          <p:cNvPr id="65" name="txt65"/>
          <p:cNvSpPr/>
          <p:nvPr/>
        </p:nvSpPr>
        <p:spPr>
          <a:xfrm>
            <a:off x="4891920" y="2133500"/>
            <a:ext cx="4023360" cy="2286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l">
              <a:buNone/>
            </a:pPr>
            <a:r>
              <a:rPr lang="en-US" sz="850" b="1" i="0" dirty="0">
                <a:solidFill>
                  <a:srgbClr val="FFFFFF"/>
                </a:solidFill>
                <a:latin typeface="Arial" pitchFamily="34" charset="0"/>
              </a:rPr>
              <a:t>GitHub</a:t>
            </a:r>
          </a:p>
        </p:txBody>
      </p:sp>
      <p:sp>
        <p:nvSpPr>
          <p:cNvPr id="66" name="txt66"/>
          <p:cNvSpPr/>
          <p:nvPr/>
        </p:nvSpPr>
        <p:spPr>
          <a:xfrm>
            <a:off x="4853960" y="2362100"/>
            <a:ext cx="4023360" cy="1600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l">
              <a:buNone/>
            </a:pPr>
            <a:r>
              <a:rPr lang="en-US" sz="650" b="0" i="1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</a:rPr>
              <a:t>Version Control  ·  GitHub Inc</a:t>
            </a:r>
            <a:r>
              <a:rPr lang="en-US" sz="650" b="0" i="1" dirty="0">
                <a:solidFill>
                  <a:srgbClr val="333333"/>
                </a:solidFill>
                <a:latin typeface="Arial" pitchFamily="34" charset="0"/>
              </a:rPr>
              <a:t>.</a:t>
            </a:r>
          </a:p>
        </p:txBody>
      </p:sp>
      <p:sp>
        <p:nvSpPr>
          <p:cNvPr id="67" name="txt67"/>
          <p:cNvSpPr/>
          <p:nvPr/>
        </p:nvSpPr>
        <p:spPr>
          <a:xfrm>
            <a:off x="4697460" y="2555060"/>
            <a:ext cx="4229400" cy="2600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t"/>
          <a:lstStyle/>
          <a:p>
            <a:pPr marL="0" indent="0" algn="l">
              <a:buNone/>
            </a:pPr>
            <a:r>
              <a:rPr lang="en-US" sz="640" b="0" i="0" dirty="0">
                <a:solidFill>
                  <a:srgbClr val="AAAAAA"/>
                </a:solidFill>
                <a:latin typeface="Arial" pitchFamily="34" charset="0"/>
              </a:rPr>
              <a:t>Used for source code version control, team collaboration, branching strategy, and CI/CD pipeline integration for the FOODIE project.</a:t>
            </a:r>
          </a:p>
        </p:txBody>
      </p:sp>
      <p:sp>
        <p:nvSpPr>
          <p:cNvPr id="68" name="rect68"/>
          <p:cNvSpPr/>
          <p:nvPr/>
        </p:nvSpPr>
        <p:spPr>
          <a:xfrm>
            <a:off x="0" y="5258880"/>
            <a:ext cx="9144000" cy="2286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9" name="txt69"/>
          <p:cNvSpPr/>
          <p:nvPr/>
        </p:nvSpPr>
        <p:spPr>
          <a:xfrm>
            <a:off x="228600" y="5258880"/>
            <a:ext cx="8686800" cy="228600"/>
          </a:xfrm>
          <a:prstGeom prst="rect">
            <a:avLst/>
          </a:prstGeom>
          <a:noFill/>
          <a:ln/>
        </p:spPr>
        <p:txBody>
          <a:bodyPr wrap="square" lIns="45720" tIns="0" rIns="45720" bIns="0" rtlCol="0" anchor="ctr"/>
          <a:lstStyle/>
          <a:p>
            <a:pPr marL="0" indent="0" algn="l">
              <a:buNone/>
            </a:pPr>
            <a:r>
              <a:rPr lang="en-US" sz="650" b="0" i="0" dirty="0">
                <a:solidFill>
                  <a:srgbClr val="888888"/>
                </a:solidFill>
                <a:latin typeface="Arial" pitchFamily="34" charset="0"/>
              </a:rPr>
              <a:t>Tools listed reflect planned and implemented technologies as described in the FOODIE SRS v1.1 documentation.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B7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5029200" cy="5029200"/>
          </a:xfrm>
          <a:prstGeom prst="ellipse">
            <a:avLst/>
          </a:prstGeom>
          <a:solidFill>
            <a:srgbClr val="E53935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FF8F00">
              <a:alpha val="40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50292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50876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0" b="1" kern="0" spc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6200" dirty="0"/>
          </a:p>
        </p:txBody>
      </p:sp>
      <p:sp>
        <p:nvSpPr>
          <p:cNvPr id="6" name="Text 3"/>
          <p:cNvSpPr/>
          <p:nvPr/>
        </p:nvSpPr>
        <p:spPr>
          <a:xfrm>
            <a:off x="457200" y="257860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FOODIE — Online Food Delivery System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914400" y="3246120"/>
            <a:ext cx="7315200" cy="0"/>
          </a:xfrm>
          <a:prstGeom prst="line">
            <a:avLst/>
          </a:prstGeom>
          <a:noFill/>
          <a:ln w="10160">
            <a:solidFill>
              <a:srgbClr val="FFC107">
                <a:alpha val="4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383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2301480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3657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Bhat Hark Bahadur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514600" y="3383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2301497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514600" y="3657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Yadav Sunil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572000" y="3383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2301493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572000" y="3657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Singh Kushwaha Gyanendra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629400" y="3383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2301473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629400" y="3657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Yadav Bibek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57200" y="4315968"/>
            <a:ext cx="1188720" cy="329184"/>
          </a:xfrm>
          <a:prstGeom prst="roundRect">
            <a:avLst>
              <a:gd name="adj" fmla="val 22222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" y="43159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1874520" y="4315968"/>
            <a:ext cx="1188720" cy="329184"/>
          </a:xfrm>
          <a:prstGeom prst="roundRect">
            <a:avLst>
              <a:gd name="adj" fmla="val 22222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1874520" y="43159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291840" y="4315968"/>
            <a:ext cx="1188720" cy="329184"/>
          </a:xfrm>
          <a:prstGeom prst="roundRect">
            <a:avLst>
              <a:gd name="adj" fmla="val 22222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3291840" y="43159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709160" y="4315968"/>
            <a:ext cx="1188720" cy="329184"/>
          </a:xfrm>
          <a:prstGeom prst="roundRect">
            <a:avLst>
              <a:gd name="adj" fmla="val 22222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4709160" y="43159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126480" y="4315968"/>
            <a:ext cx="1188720" cy="329184"/>
          </a:xfrm>
          <a:prstGeom prst="roundRect">
            <a:avLst>
              <a:gd name="adj" fmla="val 22222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6126480" y="43159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7543800" y="4315968"/>
            <a:ext cx="1188720" cy="329184"/>
          </a:xfrm>
          <a:prstGeom prst="roundRect">
            <a:avLst>
              <a:gd name="adj" fmla="val 22222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7543800" y="43159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3680</Words>
  <Application>Microsoft Office PowerPoint</Application>
  <PresentationFormat>On-screen Show (16:9)</PresentationFormat>
  <Paragraphs>608</Paragraphs>
  <Slides>38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FOODIE – Online Food Delivery System</dc:title>
  <dc:subject>PptxGenJS Presentation</dc:subject>
  <dc:creator>PptxGenJS</dc:creator>
  <cp:lastModifiedBy>Harish Bhat</cp:lastModifiedBy>
  <cp:revision>4</cp:revision>
  <dcterms:created xsi:type="dcterms:W3CDTF">2026-06-10T21:46:43Z</dcterms:created>
  <dcterms:modified xsi:type="dcterms:W3CDTF">2026-06-11T05:13:12Z</dcterms:modified>
</cp:coreProperties>
</file>